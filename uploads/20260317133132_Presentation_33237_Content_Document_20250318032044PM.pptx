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61"/>
  </p:notesMasterIdLst>
  <p:sldIdLst>
    <p:sldId id="257" r:id="rId2"/>
    <p:sldId id="298" r:id="rId3"/>
    <p:sldId id="258" r:id="rId4"/>
    <p:sldId id="259" r:id="rId5"/>
    <p:sldId id="299" r:id="rId6"/>
    <p:sldId id="300" r:id="rId7"/>
    <p:sldId id="301" r:id="rId8"/>
    <p:sldId id="302" r:id="rId9"/>
    <p:sldId id="304" r:id="rId10"/>
    <p:sldId id="303" r:id="rId11"/>
    <p:sldId id="306" r:id="rId12"/>
    <p:sldId id="307" r:id="rId13"/>
    <p:sldId id="305" r:id="rId14"/>
    <p:sldId id="308" r:id="rId15"/>
    <p:sldId id="348" r:id="rId16"/>
    <p:sldId id="349" r:id="rId17"/>
    <p:sldId id="350" r:id="rId18"/>
    <p:sldId id="351" r:id="rId19"/>
    <p:sldId id="352" r:id="rId20"/>
    <p:sldId id="353" r:id="rId21"/>
    <p:sldId id="309" r:id="rId22"/>
    <p:sldId id="310" r:id="rId23"/>
    <p:sldId id="313" r:id="rId24"/>
    <p:sldId id="316" r:id="rId25"/>
    <p:sldId id="317" r:id="rId26"/>
    <p:sldId id="318" r:id="rId27"/>
    <p:sldId id="319" r:id="rId28"/>
    <p:sldId id="320" r:id="rId29"/>
    <p:sldId id="321" r:id="rId30"/>
    <p:sldId id="322" r:id="rId31"/>
    <p:sldId id="323" r:id="rId32"/>
    <p:sldId id="324" r:id="rId33"/>
    <p:sldId id="346" r:id="rId34"/>
    <p:sldId id="347" r:id="rId35"/>
    <p:sldId id="325" r:id="rId36"/>
    <p:sldId id="326" r:id="rId37"/>
    <p:sldId id="328" r:id="rId38"/>
    <p:sldId id="327" r:id="rId39"/>
    <p:sldId id="329" r:id="rId40"/>
    <p:sldId id="330" r:id="rId41"/>
    <p:sldId id="331" r:id="rId42"/>
    <p:sldId id="359" r:id="rId43"/>
    <p:sldId id="334" r:id="rId44"/>
    <p:sldId id="332" r:id="rId45"/>
    <p:sldId id="354" r:id="rId46"/>
    <p:sldId id="355" r:id="rId47"/>
    <p:sldId id="356" r:id="rId48"/>
    <p:sldId id="357" r:id="rId49"/>
    <p:sldId id="335" r:id="rId50"/>
    <p:sldId id="333" r:id="rId51"/>
    <p:sldId id="337" r:id="rId52"/>
    <p:sldId id="338" r:id="rId53"/>
    <p:sldId id="339" r:id="rId54"/>
    <p:sldId id="341" r:id="rId55"/>
    <p:sldId id="342" r:id="rId56"/>
    <p:sldId id="343" r:id="rId57"/>
    <p:sldId id="344" r:id="rId58"/>
    <p:sldId id="345" r:id="rId59"/>
    <p:sldId id="358"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92288" autoAdjust="0"/>
  </p:normalViewPr>
  <p:slideViewPr>
    <p:cSldViewPr snapToGrid="0">
      <p:cViewPr varScale="1">
        <p:scale>
          <a:sx n="68" d="100"/>
          <a:sy n="68" d="100"/>
        </p:scale>
        <p:origin x="1286" y="2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00F9E7-40BD-4AF3-891F-984F78C89EA4}" type="datetimeFigureOut">
              <a:rPr lang="en-IN" smtClean="0"/>
              <a:t>28-02-2025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81C8B2-C7A4-42D6-AB1C-8E502825436E}" type="slidenum">
              <a:rPr lang="en-IN" smtClean="0"/>
              <a:t>‹#›</a:t>
            </a:fld>
            <a:endParaRPr lang="en-IN"/>
          </a:p>
        </p:txBody>
      </p:sp>
    </p:spTree>
    <p:extLst>
      <p:ext uri="{BB962C8B-B14F-4D97-AF65-F5344CB8AC3E}">
        <p14:creationId xmlns:p14="http://schemas.microsoft.com/office/powerpoint/2010/main" val="133646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53692A-A873-42A7-9601-47AAD089B5AB}"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1221690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53692A-A873-42A7-9601-47AAD089B5AB}"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1669922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53692A-A873-42A7-9601-47AAD089B5AB}"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1698731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53692A-A873-42A7-9601-47AAD089B5AB}"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4001222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53692A-A873-42A7-9601-47AAD089B5AB}" type="datetimeFigureOut">
              <a:rPr lang="en-IN" smtClean="0"/>
              <a:t>28-02-2025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3420462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53692A-A873-42A7-9601-47AAD089B5AB}" type="datetimeFigureOut">
              <a:rPr lang="en-IN" smtClean="0"/>
              <a:t>28-02-2025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2651907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53692A-A873-42A7-9601-47AAD089B5AB}" type="datetimeFigureOut">
              <a:rPr lang="en-IN" smtClean="0"/>
              <a:t>28-02-2025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3484962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53692A-A873-42A7-9601-47AAD089B5AB}"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2167336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53692A-A873-42A7-9601-47AAD089B5AB}"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2547845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53692A-A873-42A7-9601-47AAD089B5AB}"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1211858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53692A-A873-42A7-9601-47AAD089B5AB}"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2241980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68A3-DE26-D734-B836-EC066060D5C5}"/>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880391-E061-7069-3A57-57496E702860}"/>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E6728B-820D-B7BE-C7F6-5FC5F4F93EBC}"/>
              </a:ext>
            </a:extLst>
          </p:cNvPr>
          <p:cNvSpPr>
            <a:spLocks noGrp="1"/>
          </p:cNvSpPr>
          <p:nvPr>
            <p:ph type="dt" sz="half" idx="10"/>
          </p:nvPr>
        </p:nvSpPr>
        <p:spPr/>
        <p:txBody>
          <a:bodyPr/>
          <a:lstStyle/>
          <a:p>
            <a:fld id="{EA53692A-A873-42A7-9601-47AAD089B5AB}" type="datetimeFigureOut">
              <a:rPr lang="en-IN" smtClean="0"/>
              <a:t>28-02-2025</a:t>
            </a:fld>
            <a:endParaRPr lang="en-IN"/>
          </a:p>
        </p:txBody>
      </p:sp>
      <p:sp>
        <p:nvSpPr>
          <p:cNvPr id="5" name="Footer Placeholder 4">
            <a:extLst>
              <a:ext uri="{FF2B5EF4-FFF2-40B4-BE49-F238E27FC236}">
                <a16:creationId xmlns:a16="http://schemas.microsoft.com/office/drawing/2014/main" id="{C8F885B1-EE17-434E-3359-FE4E0C68AE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209F2-F154-0BA7-1689-82C198F00D9B}"/>
              </a:ext>
            </a:extLst>
          </p:cNvPr>
          <p:cNvSpPr>
            <a:spLocks noGrp="1"/>
          </p:cNvSpPr>
          <p:nvPr>
            <p:ph type="sldNum" sz="quarter" idx="12"/>
          </p:nvPr>
        </p:nvSpPr>
        <p:spPr/>
        <p:txBody>
          <a:bodyPr/>
          <a:lstStyle/>
          <a:p>
            <a:fld id="{4A70E2CA-5118-494C-AD00-3839ADAC668B}" type="slidenum">
              <a:rPr lang="en-IN" smtClean="0"/>
              <a:t>‹#›</a:t>
            </a:fld>
            <a:endParaRPr lang="en-IN"/>
          </a:p>
        </p:txBody>
      </p:sp>
    </p:spTree>
    <p:extLst>
      <p:ext uri="{BB962C8B-B14F-4D97-AF65-F5344CB8AC3E}">
        <p14:creationId xmlns:p14="http://schemas.microsoft.com/office/powerpoint/2010/main" val="159959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53692A-A873-42A7-9601-47AAD089B5AB}" type="datetimeFigureOut">
              <a:rPr lang="en-IN" smtClean="0"/>
              <a:t>28-02-2025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70E2CA-5118-494C-AD00-3839ADAC668B}" type="slidenum">
              <a:rPr lang="en-IN" smtClean="0"/>
              <a:t>‹#›</a:t>
            </a:fld>
            <a:endParaRPr lang="en-IN"/>
          </a:p>
        </p:txBody>
      </p:sp>
      <p:pic>
        <p:nvPicPr>
          <p:cNvPr id="7" name="Picture 6">
            <a:extLst>
              <a:ext uri="{FF2B5EF4-FFF2-40B4-BE49-F238E27FC236}">
                <a16:creationId xmlns:a16="http://schemas.microsoft.com/office/drawing/2014/main" id="{6683D968-5912-A62D-6AAF-4A8FF4245D44}"/>
              </a:ext>
            </a:extLst>
          </p:cNvPr>
          <p:cNvPicPr>
            <a:picLocks noChangeAspect="1"/>
          </p:cNvPicPr>
          <p:nvPr userDrawn="1"/>
        </p:nvPicPr>
        <p:blipFill>
          <a:blip r:embed="rId14"/>
          <a:stretch>
            <a:fillRect/>
          </a:stretch>
        </p:blipFill>
        <p:spPr>
          <a:xfrm>
            <a:off x="0" y="69087"/>
            <a:ext cx="2848663" cy="958819"/>
          </a:xfrm>
          <a:prstGeom prst="rect">
            <a:avLst/>
          </a:prstGeom>
        </p:spPr>
      </p:pic>
      <p:pic>
        <p:nvPicPr>
          <p:cNvPr id="8" name="Picture 7">
            <a:extLst>
              <a:ext uri="{FF2B5EF4-FFF2-40B4-BE49-F238E27FC236}">
                <a16:creationId xmlns:a16="http://schemas.microsoft.com/office/drawing/2014/main" id="{17245B66-6436-AF94-B965-A6462A510CAC}"/>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874963" y="21740"/>
            <a:ext cx="1317037" cy="1180112"/>
          </a:xfrm>
          <a:prstGeom prst="rect">
            <a:avLst/>
          </a:prstGeom>
        </p:spPr>
      </p:pic>
    </p:spTree>
    <p:extLst>
      <p:ext uri="{BB962C8B-B14F-4D97-AF65-F5344CB8AC3E}">
        <p14:creationId xmlns:p14="http://schemas.microsoft.com/office/powerpoint/2010/main" val="2489810486"/>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microsoft/generative-ai-for-beginners/tree/main/04-prompt-engineering-fundamental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BrightPool/prompt-engineering-for-generative-ai-examples/blob/main/images/OnePager-Text.png"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hyperlink" Target="https://github.com/BrightPool/prompt-engineering-for-generative-ai-examples/blob/main/images/OnePager-Images.png" TargetMode="Externa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www.linkedin.com/pulse/crafting-ai-prompt-templates-reusable-engineering-tk--e0w8c/"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https://www.linkedin.com/pulse/crafting-ai-prompt-templates-reusable-engineering-tk--e0w8c/"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promptengineering4u.com/learning/techniques/template-based-prompting#h.2n56pv37pv0c"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https://doi.org/10.48550/arXiv.2104.08691" TargetMode="External"/><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doi.org/10.48550/arXiv.2104.08691" TargetMode="External"/><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hyperlink" Target="https://help.openai.com/en/articles/6654000-best-practices-for-prompt-engineering-with-the-openai-api?form=MG0AV3" TargetMode="Externa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hyperlink" Target="https://help.openai.com/en/articles/6654000-best-practices-for-prompt-engineering-with-the-openai-api?form=MG0AV3" TargetMode="Externa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hyperlink" Target="https://help.openai.com/en/articles/6654000-best-practices-for-prompt-engineering-with-the-openai-api?form=MG0AV3" TargetMode="Externa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hyperlink" Target="https://help.openai.com/en/articles/6654000-best-practices-for-prompt-engineering-with-the-openai-api?form=MG0AV3" TargetMode="Externa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hyperlink" Target="https://help.openai.com/en/articles/6654000-best-practices-for-prompt-engineering-with-the-openai-api?form=MG0AV3" TargetMode="Externa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hyperlink" Target="https://techcommunity.microsoft.com/blog/azure-ai-services-blog/15-tips-to-become-a-better-prompt-engineer-for-generative-ai/3882935?form=MG0AV3" TargetMode="Externa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hyperlink" Target="https://techcommunity.microsoft.com/blog/azure-ai-services-blog/15-tips-to-become-a-better-prompt-engineer-for-generative-ai/3882935?form=MG0AV3" TargetMode="Externa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E3598-7038-DA28-C557-53B1E9882C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17633A-9322-5F65-CBBE-EF65E9E9F247}"/>
              </a:ext>
            </a:extLst>
          </p:cNvPr>
          <p:cNvSpPr txBox="1"/>
          <p:nvPr/>
        </p:nvSpPr>
        <p:spPr>
          <a:xfrm>
            <a:off x="4413738" y="1239633"/>
            <a:ext cx="6094324" cy="1323439"/>
          </a:xfrm>
          <a:prstGeom prst="rect">
            <a:avLst/>
          </a:prstGeom>
          <a:noFill/>
        </p:spPr>
        <p:txBody>
          <a:bodyPr wrap="square">
            <a:spAutoFit/>
          </a:bodyPr>
          <a:lstStyle/>
          <a:p>
            <a:pPr lvl="0">
              <a:buSzPts val="1000"/>
              <a:tabLst>
                <a:tab pos="457200" algn="l"/>
              </a:tabLst>
            </a:pPr>
            <a:r>
              <a:rPr lang="en-IN" sz="4400" b="1" dirty="0">
                <a:effectLst/>
                <a:ea typeface="Times New Roman" panose="02020603050405020304" pitchFamily="18" charset="0"/>
                <a:cs typeface="Times New Roman" panose="02020603050405020304" pitchFamily="18" charset="0"/>
              </a:rPr>
              <a:t>Generative AI</a:t>
            </a:r>
          </a:p>
          <a:p>
            <a:pPr marL="742950" lvl="1" indent="-285750">
              <a:buSzPts val="1000"/>
              <a:buFont typeface="Courier New" panose="02070309020205020404" pitchFamily="49" charset="0"/>
              <a:buChar char="o"/>
              <a:tabLst>
                <a:tab pos="914400" algn="l"/>
              </a:tabLst>
            </a:pPr>
            <a:endParaRPr lang="en-IN" sz="3600" dirty="0">
              <a:effectLst/>
              <a:ea typeface="Times New Roman" panose="02020603050405020304" pitchFamily="18" charset="0"/>
              <a:cs typeface="Times New Roman" panose="02020603050405020304" pitchFamily="18" charset="0"/>
            </a:endParaRPr>
          </a:p>
        </p:txBody>
      </p:sp>
      <p:sp>
        <p:nvSpPr>
          <p:cNvPr id="5" name="TextBox 3">
            <a:extLst>
              <a:ext uri="{FF2B5EF4-FFF2-40B4-BE49-F238E27FC236}">
                <a16:creationId xmlns:a16="http://schemas.microsoft.com/office/drawing/2014/main" id="{2A156582-A03D-08BC-2A81-6EE1DEF35A2F}"/>
              </a:ext>
            </a:extLst>
          </p:cNvPr>
          <p:cNvSpPr txBox="1"/>
          <p:nvPr/>
        </p:nvSpPr>
        <p:spPr>
          <a:xfrm>
            <a:off x="1324847" y="2302076"/>
            <a:ext cx="9432890" cy="35394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b="1" dirty="0">
                <a:solidFill>
                  <a:srgbClr val="00B0F0"/>
                </a:solidFill>
              </a:rPr>
              <a:t>Course Code: 21CS4807</a:t>
            </a:r>
          </a:p>
          <a:p>
            <a:r>
              <a:rPr lang="en-IN" sz="3200" b="1" i="0" u="none" strike="noStrike" baseline="0" dirty="0">
                <a:solidFill>
                  <a:srgbClr val="000000"/>
                </a:solidFill>
              </a:rPr>
              <a:t>Course Instructors:  </a:t>
            </a:r>
            <a:r>
              <a:rPr lang="en-IN" sz="3200" b="1" i="0" u="none" strike="noStrike" baseline="0" dirty="0" err="1">
                <a:solidFill>
                  <a:srgbClr val="000000"/>
                </a:solidFill>
              </a:rPr>
              <a:t>Dr.</a:t>
            </a:r>
            <a:r>
              <a:rPr lang="en-IN" sz="3200" b="1" i="0" u="none" strike="noStrike" baseline="0" dirty="0">
                <a:solidFill>
                  <a:srgbClr val="000000"/>
                </a:solidFill>
              </a:rPr>
              <a:t> Natarajan Venkateswaran,</a:t>
            </a:r>
          </a:p>
          <a:p>
            <a:r>
              <a:rPr lang="en-IN" sz="3200" b="1" dirty="0">
                <a:solidFill>
                  <a:srgbClr val="000000"/>
                </a:solidFill>
              </a:rPr>
              <a:t>							  Prof. </a:t>
            </a:r>
            <a:r>
              <a:rPr lang="en-IN" sz="3200" b="1" dirty="0" err="1">
                <a:solidFill>
                  <a:srgbClr val="000000"/>
                </a:solidFill>
              </a:rPr>
              <a:t>Sasikala</a:t>
            </a:r>
            <a:r>
              <a:rPr lang="en-IN" sz="3200" b="1" dirty="0">
                <a:solidFill>
                  <a:srgbClr val="000000"/>
                </a:solidFill>
              </a:rPr>
              <a:t> Nagarajan,</a:t>
            </a:r>
          </a:p>
          <a:p>
            <a:r>
              <a:rPr lang="en-IN" sz="3200" b="1" i="0" u="none" strike="noStrike" baseline="0" dirty="0">
                <a:solidFill>
                  <a:srgbClr val="000000"/>
                </a:solidFill>
              </a:rPr>
              <a:t>						       Prof. Arjun Krishnamurthy.</a:t>
            </a:r>
            <a:endParaRPr lang="en-IN" sz="3200" b="0" i="0" u="none" strike="noStrike" baseline="0" dirty="0">
              <a:solidFill>
                <a:srgbClr val="000000"/>
              </a:solidFill>
            </a:endParaRPr>
          </a:p>
          <a:p>
            <a:endParaRPr lang="en-IN" sz="3200" b="1" i="0" u="none" strike="noStrike" baseline="0" dirty="0">
              <a:solidFill>
                <a:srgbClr val="000000"/>
              </a:solidFill>
            </a:endParaRPr>
          </a:p>
          <a:p>
            <a:r>
              <a:rPr lang="en-IN" sz="3200" b="1" i="0" u="none" strike="noStrike" baseline="0" dirty="0">
                <a:solidFill>
                  <a:srgbClr val="000000"/>
                </a:solidFill>
              </a:rPr>
              <a:t>Academic Year: 2024–2025</a:t>
            </a:r>
            <a:endParaRPr lang="en-IN" sz="3200" b="0" i="0" u="none" strike="noStrike" baseline="0" dirty="0">
              <a:solidFill>
                <a:srgbClr val="000000"/>
              </a:solidFill>
            </a:endParaRPr>
          </a:p>
          <a:p>
            <a:r>
              <a:rPr lang="en-IN" sz="3200" b="0" i="0" u="none" strike="noStrike" baseline="0" dirty="0">
                <a:solidFill>
                  <a:srgbClr val="000000"/>
                </a:solidFill>
              </a:rPr>
              <a:t>Year -Semester : IV -VIII</a:t>
            </a:r>
          </a:p>
        </p:txBody>
      </p:sp>
    </p:spTree>
    <p:extLst>
      <p:ext uri="{BB962C8B-B14F-4D97-AF65-F5344CB8AC3E}">
        <p14:creationId xmlns:p14="http://schemas.microsoft.com/office/powerpoint/2010/main" val="38881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11F6E-F7A3-FA05-B6C6-9A65DAAAF72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B14F354-B761-2599-5415-DB3A7F88F9ED}"/>
              </a:ext>
            </a:extLst>
          </p:cNvPr>
          <p:cNvGraphicFramePr>
            <a:graphicFrameLocks noGrp="1"/>
          </p:cNvGraphicFramePr>
          <p:nvPr>
            <p:extLst>
              <p:ext uri="{D42A27DB-BD31-4B8C-83A1-F6EECF244321}">
                <p14:modId xmlns:p14="http://schemas.microsoft.com/office/powerpoint/2010/main" val="2757876145"/>
              </p:ext>
            </p:extLst>
          </p:nvPr>
        </p:nvGraphicFramePr>
        <p:xfrm>
          <a:off x="1433816" y="3037435"/>
          <a:ext cx="8985827" cy="2150434"/>
        </p:xfrm>
        <a:graphic>
          <a:graphicData uri="http://schemas.openxmlformats.org/drawingml/2006/table">
            <a:tbl>
              <a:tblPr bandRow="1">
                <a:tableStyleId>{5C22544A-7EE6-4342-B048-85BDC9FD1C3A}</a:tableStyleId>
              </a:tblPr>
              <a:tblGrid>
                <a:gridCol w="7699427">
                  <a:extLst>
                    <a:ext uri="{9D8B030D-6E8A-4147-A177-3AD203B41FA5}">
                      <a16:colId xmlns:a16="http://schemas.microsoft.com/office/drawing/2014/main" val="3097724557"/>
                    </a:ext>
                  </a:extLst>
                </a:gridCol>
                <a:gridCol w="1286400">
                  <a:extLst>
                    <a:ext uri="{9D8B030D-6E8A-4147-A177-3AD203B41FA5}">
                      <a16:colId xmlns:a16="http://schemas.microsoft.com/office/drawing/2014/main" val="2463424651"/>
                    </a:ext>
                  </a:extLst>
                </a:gridCol>
              </a:tblGrid>
              <a:tr h="346391">
                <a:tc>
                  <a:txBody>
                    <a:bodyPr/>
                    <a:lstStyle/>
                    <a:p>
                      <a:pPr>
                        <a:lnSpc>
                          <a:spcPct val="107000"/>
                        </a:lnSpc>
                      </a:pPr>
                      <a:r>
                        <a:rPr lang="en-US" sz="2000" kern="100" dirty="0">
                          <a:effectLst/>
                        </a:rPr>
                        <a:t>Module – II : </a:t>
                      </a:r>
                      <a:r>
                        <a:rPr lang="en-US" sz="2000" b="1" kern="100" dirty="0">
                          <a:effectLst/>
                        </a:rPr>
                        <a:t>Prompt Engineering</a:t>
                      </a:r>
                      <a:endPar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pPr>
                      <a:r>
                        <a:rPr lang="en-US" sz="2000" kern="100" dirty="0">
                          <a:effectLst/>
                        </a:rPr>
                        <a:t>08 Hours</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24118538"/>
                  </a:ext>
                </a:extLst>
              </a:tr>
              <a:tr h="1804043">
                <a:tc gridSpan="2">
                  <a:txBody>
                    <a:bodyPr/>
                    <a:lstStyle/>
                    <a:p>
                      <a:pPr algn="just">
                        <a:lnSpc>
                          <a:spcPct val="107000"/>
                        </a:lnSpc>
                      </a:pPr>
                      <a:r>
                        <a:rPr lang="en-US" sz="2000" kern="100" dirty="0">
                          <a:effectLst/>
                        </a:rPr>
                        <a:t>Understanding the concept and significance of prompt engineering, </a:t>
                      </a:r>
                      <a:r>
                        <a:rPr lang="en-US" sz="2000" u="none" strike="noStrike" kern="100" dirty="0">
                          <a:effectLst/>
                        </a:rPr>
                        <a:t> Principles of Prompting</a:t>
                      </a:r>
                      <a:r>
                        <a:rPr lang="en-US" sz="2000" kern="100" dirty="0">
                          <a:effectLst/>
                        </a:rPr>
                        <a:t>, Strategies for designing effective prompts, Techniques for Prompt Engineering (Template-based prompts, Rule-based prompts, and Fine-tuning prompts), Best practices for prompt engineering in generative AI, Enhancing Model Outputs. </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1783431177"/>
                  </a:ext>
                </a:extLst>
              </a:tr>
            </a:tbl>
          </a:graphicData>
        </a:graphic>
      </p:graphicFrame>
      <p:sp>
        <p:nvSpPr>
          <p:cNvPr id="6" name="TextBox 5">
            <a:extLst>
              <a:ext uri="{FF2B5EF4-FFF2-40B4-BE49-F238E27FC236}">
                <a16:creationId xmlns:a16="http://schemas.microsoft.com/office/drawing/2014/main" id="{AFCA7C14-BBB3-D86E-10CB-C5F80350E67B}"/>
              </a:ext>
            </a:extLst>
          </p:cNvPr>
          <p:cNvSpPr txBox="1"/>
          <p:nvPr/>
        </p:nvSpPr>
        <p:spPr>
          <a:xfrm>
            <a:off x="4654899" y="322777"/>
            <a:ext cx="6094324" cy="584775"/>
          </a:xfrm>
          <a:prstGeom prst="rect">
            <a:avLst/>
          </a:prstGeom>
          <a:noFill/>
        </p:spPr>
        <p:txBody>
          <a:bodyPr wrap="square">
            <a:spAutoFit/>
          </a:bodyPr>
          <a:lstStyle/>
          <a:p>
            <a:pPr algn="just"/>
            <a:r>
              <a:rPr lang="en-US" sz="3200" b="1" dirty="0">
                <a:solidFill>
                  <a:srgbClr val="000000"/>
                </a:solidFill>
                <a:ea typeface="Cambria" panose="02040503050406030204" pitchFamily="18" charset="0"/>
              </a:rPr>
              <a:t>Syllabus</a:t>
            </a:r>
            <a:endParaRPr lang="en-IN" sz="3200" dirty="0">
              <a:effectLst/>
              <a:ea typeface="Times New Roman" panose="02020603050405020304" pitchFamily="18" charset="0"/>
            </a:endParaRPr>
          </a:p>
        </p:txBody>
      </p:sp>
      <p:sp>
        <p:nvSpPr>
          <p:cNvPr id="2" name="TextBox 1">
            <a:extLst>
              <a:ext uri="{FF2B5EF4-FFF2-40B4-BE49-F238E27FC236}">
                <a16:creationId xmlns:a16="http://schemas.microsoft.com/office/drawing/2014/main" id="{516D3970-4CE2-E5A9-C6E7-7841E636F5F2}"/>
              </a:ext>
            </a:extLst>
          </p:cNvPr>
          <p:cNvSpPr txBox="1"/>
          <p:nvPr/>
        </p:nvSpPr>
        <p:spPr>
          <a:xfrm>
            <a:off x="2481045" y="1863771"/>
            <a:ext cx="6817636" cy="707886"/>
          </a:xfrm>
          <a:prstGeom prst="rect">
            <a:avLst/>
          </a:prstGeom>
          <a:noFill/>
        </p:spPr>
        <p:txBody>
          <a:bodyPr wrap="none" rtlCol="0">
            <a:spAutoFit/>
          </a:bodyPr>
          <a:lstStyle/>
          <a:p>
            <a:r>
              <a:rPr lang="en-IN" sz="4000" b="1" dirty="0"/>
              <a:t>Module 2:  Prompt Engineering</a:t>
            </a:r>
          </a:p>
        </p:txBody>
      </p:sp>
    </p:spTree>
    <p:extLst>
      <p:ext uri="{BB962C8B-B14F-4D97-AF65-F5344CB8AC3E}">
        <p14:creationId xmlns:p14="http://schemas.microsoft.com/office/powerpoint/2010/main" val="2333400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94F32AA-5760-D956-FB0F-170BDA0450A4}"/>
            </a:ext>
          </a:extLst>
        </p:cNvPr>
        <p:cNvGrpSpPr/>
        <p:nvPr/>
      </p:nvGrpSpPr>
      <p:grpSpPr>
        <a:xfrm>
          <a:off x="0" y="0"/>
          <a:ext cx="0" cy="0"/>
          <a:chOff x="0" y="0"/>
          <a:chExt cx="0" cy="0"/>
        </a:xfrm>
      </p:grpSpPr>
      <p:pic>
        <p:nvPicPr>
          <p:cNvPr id="3" name="Picture 2" descr="&quot;How To Kill Your Boss&quot; -- A Dilbert comic strip. : r/ChatGPT">
            <a:extLst>
              <a:ext uri="{FF2B5EF4-FFF2-40B4-BE49-F238E27FC236}">
                <a16:creationId xmlns:a16="http://schemas.microsoft.com/office/drawing/2014/main" id="{2BB3B534-D643-F7CB-11EB-54093BCDC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35" y="1720440"/>
            <a:ext cx="10989729" cy="34171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FA55618-F0AA-5BE7-2171-8876A33408B9}"/>
              </a:ext>
            </a:extLst>
          </p:cNvPr>
          <p:cNvSpPr txBox="1"/>
          <p:nvPr/>
        </p:nvSpPr>
        <p:spPr>
          <a:xfrm>
            <a:off x="3639077" y="5878285"/>
            <a:ext cx="5271315" cy="523220"/>
          </a:xfrm>
          <a:prstGeom prst="rect">
            <a:avLst/>
          </a:prstGeom>
          <a:noFill/>
        </p:spPr>
        <p:txBody>
          <a:bodyPr wrap="none" rtlCol="0">
            <a:spAutoFit/>
          </a:bodyPr>
          <a:lstStyle/>
          <a:p>
            <a:r>
              <a:rPr lang="en-IN" sz="2800" b="1" i="1" dirty="0">
                <a:solidFill>
                  <a:srgbClr val="00B0F0"/>
                </a:solidFill>
              </a:rPr>
              <a:t>Asking the right way is important!</a:t>
            </a:r>
          </a:p>
        </p:txBody>
      </p:sp>
    </p:spTree>
    <p:extLst>
      <p:ext uri="{BB962C8B-B14F-4D97-AF65-F5344CB8AC3E}">
        <p14:creationId xmlns:p14="http://schemas.microsoft.com/office/powerpoint/2010/main" val="111676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9B90A-BDAA-0781-AF4E-3A00BF0B39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5DB5228-5437-9306-E7C9-9FD19F9BD9F2}"/>
              </a:ext>
            </a:extLst>
          </p:cNvPr>
          <p:cNvSpPr txBox="1"/>
          <p:nvPr/>
        </p:nvSpPr>
        <p:spPr>
          <a:xfrm>
            <a:off x="3962397" y="180623"/>
            <a:ext cx="4409925" cy="707886"/>
          </a:xfrm>
          <a:prstGeom prst="rect">
            <a:avLst/>
          </a:prstGeom>
          <a:noFill/>
        </p:spPr>
        <p:txBody>
          <a:bodyPr wrap="none" rtlCol="0">
            <a:spAutoFit/>
          </a:bodyPr>
          <a:lstStyle/>
          <a:p>
            <a:r>
              <a:rPr lang="en-IN" sz="4000" b="1" dirty="0"/>
              <a:t>Prompt Engineering</a:t>
            </a:r>
          </a:p>
        </p:txBody>
      </p:sp>
      <p:sp>
        <p:nvSpPr>
          <p:cNvPr id="3" name="TextBox 2">
            <a:extLst>
              <a:ext uri="{FF2B5EF4-FFF2-40B4-BE49-F238E27FC236}">
                <a16:creationId xmlns:a16="http://schemas.microsoft.com/office/drawing/2014/main" id="{C8D5B115-9036-497B-1B44-CC860FC0D046}"/>
              </a:ext>
            </a:extLst>
          </p:cNvPr>
          <p:cNvSpPr txBox="1"/>
          <p:nvPr/>
        </p:nvSpPr>
        <p:spPr>
          <a:xfrm>
            <a:off x="620888" y="1415316"/>
            <a:ext cx="10641797" cy="2246769"/>
          </a:xfrm>
          <a:prstGeom prst="rect">
            <a:avLst/>
          </a:prstGeom>
          <a:noFill/>
        </p:spPr>
        <p:txBody>
          <a:bodyPr wrap="square">
            <a:spAutoFit/>
          </a:bodyPr>
          <a:lstStyle/>
          <a:p>
            <a:pPr marL="0" indent="0" algn="l" rtl="0" eaLnBrk="1" latinLnBrk="0" hangingPunct="1">
              <a:buNone/>
            </a:pPr>
            <a:r>
              <a:rPr lang="en-US" sz="2800" b="1" dirty="0">
                <a:solidFill>
                  <a:srgbClr val="000000"/>
                </a:solidFill>
                <a:effectLst/>
                <a:latin typeface="Calibri" panose="020F0502020204030204" pitchFamily="34" charset="0"/>
              </a:rPr>
              <a:t>Prompt</a:t>
            </a:r>
            <a:r>
              <a:rPr lang="en-US" sz="2800" dirty="0">
                <a:solidFill>
                  <a:srgbClr val="000000"/>
                </a:solidFill>
                <a:effectLst/>
                <a:latin typeface="Calibri" panose="020F0502020204030204" pitchFamily="34" charset="0"/>
              </a:rPr>
              <a:t>: A prompt refers to the input you give, usually in text form, when engaging with an AI model such as ChatGPT or Midjourney. This prompt acts as a guide, enabling the model to generate the expected output: text from large language models (LLMs) such as ChatGPT, or images from diffusion models like Midjourney.</a:t>
            </a:r>
            <a:endParaRPr lang="en-IN" sz="2800" dirty="0"/>
          </a:p>
        </p:txBody>
      </p:sp>
      <p:sp>
        <p:nvSpPr>
          <p:cNvPr id="8" name="TextBox 7">
            <a:extLst>
              <a:ext uri="{FF2B5EF4-FFF2-40B4-BE49-F238E27FC236}">
                <a16:creationId xmlns:a16="http://schemas.microsoft.com/office/drawing/2014/main" id="{CE3A1BAB-424C-8740-F665-A4F424D5C027}"/>
              </a:ext>
            </a:extLst>
          </p:cNvPr>
          <p:cNvSpPr txBox="1"/>
          <p:nvPr/>
        </p:nvSpPr>
        <p:spPr>
          <a:xfrm>
            <a:off x="127802" y="6308045"/>
            <a:ext cx="10641797" cy="369332"/>
          </a:xfrm>
          <a:prstGeom prst="rect">
            <a:avLst/>
          </a:prstGeom>
          <a:noFill/>
        </p:spPr>
        <p:txBody>
          <a:bodyPr wrap="square">
            <a:spAutoFit/>
          </a:bodyPr>
          <a:lstStyle/>
          <a:p>
            <a:r>
              <a:rPr lang="en-US" sz="1800" dirty="0">
                <a:solidFill>
                  <a:srgbClr val="000000"/>
                </a:solidFill>
                <a:effectLst/>
                <a:latin typeface="Calibri" panose="020F0502020204030204" pitchFamily="34" charset="0"/>
              </a:rPr>
              <a:t>Phoenix, James; Taylor, Mike. Prompt Engineering for Generative AI (p. 16). O'Reilly Media. Kindle Edition.</a:t>
            </a:r>
            <a:endParaRPr lang="en-IN" dirty="0"/>
          </a:p>
        </p:txBody>
      </p:sp>
      <p:sp>
        <p:nvSpPr>
          <p:cNvPr id="10" name="TextBox 9">
            <a:extLst>
              <a:ext uri="{FF2B5EF4-FFF2-40B4-BE49-F238E27FC236}">
                <a16:creationId xmlns:a16="http://schemas.microsoft.com/office/drawing/2014/main" id="{4BB58344-2F91-2733-3688-5680C0E348B5}"/>
              </a:ext>
            </a:extLst>
          </p:cNvPr>
          <p:cNvSpPr txBox="1"/>
          <p:nvPr/>
        </p:nvSpPr>
        <p:spPr>
          <a:xfrm>
            <a:off x="594477" y="4267073"/>
            <a:ext cx="10668208" cy="954107"/>
          </a:xfrm>
          <a:prstGeom prst="rect">
            <a:avLst/>
          </a:prstGeom>
          <a:noFill/>
        </p:spPr>
        <p:txBody>
          <a:bodyPr wrap="square">
            <a:spAutoFit/>
          </a:bodyPr>
          <a:lstStyle>
            <a:defPPr>
              <a:defRPr lang="en-US"/>
            </a:defPPr>
            <a:lvl1pPr indent="0">
              <a:buNone/>
              <a:defRPr sz="2400" b="1">
                <a:solidFill>
                  <a:srgbClr val="000000"/>
                </a:solidFill>
                <a:effectLst/>
                <a:latin typeface="Calibri" panose="020F0502020204030204" pitchFamily="34" charset="0"/>
              </a:defRPr>
            </a:lvl1pPr>
          </a:lstStyle>
          <a:p>
            <a:r>
              <a:rPr lang="en-IN" sz="2800" dirty="0"/>
              <a:t>Prompt engineering is the process of discovering prompts that reliably yield useful or desired results.</a:t>
            </a:r>
          </a:p>
        </p:txBody>
      </p:sp>
    </p:spTree>
    <p:extLst>
      <p:ext uri="{BB962C8B-B14F-4D97-AF65-F5344CB8AC3E}">
        <p14:creationId xmlns:p14="http://schemas.microsoft.com/office/powerpoint/2010/main" val="3334324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56504-1180-7DAF-9742-DE1A2E72D3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55CFCA-643E-5145-591F-9107B3F053C9}"/>
              </a:ext>
            </a:extLst>
          </p:cNvPr>
          <p:cNvSpPr txBox="1"/>
          <p:nvPr/>
        </p:nvSpPr>
        <p:spPr>
          <a:xfrm>
            <a:off x="3962397" y="180623"/>
            <a:ext cx="4409925" cy="707886"/>
          </a:xfrm>
          <a:prstGeom prst="rect">
            <a:avLst/>
          </a:prstGeom>
          <a:noFill/>
        </p:spPr>
        <p:txBody>
          <a:bodyPr wrap="none" rtlCol="0">
            <a:spAutoFit/>
          </a:bodyPr>
          <a:lstStyle/>
          <a:p>
            <a:r>
              <a:rPr lang="en-IN" sz="4000" b="1" dirty="0"/>
              <a:t>Prompt Engineering</a:t>
            </a:r>
          </a:p>
        </p:txBody>
      </p:sp>
      <p:sp>
        <p:nvSpPr>
          <p:cNvPr id="2" name="TextBox 1">
            <a:extLst>
              <a:ext uri="{FF2B5EF4-FFF2-40B4-BE49-F238E27FC236}">
                <a16:creationId xmlns:a16="http://schemas.microsoft.com/office/drawing/2014/main" id="{E4859526-B3C2-02B1-480A-11FE99A00722}"/>
              </a:ext>
            </a:extLst>
          </p:cNvPr>
          <p:cNvSpPr txBox="1"/>
          <p:nvPr/>
        </p:nvSpPr>
        <p:spPr>
          <a:xfrm>
            <a:off x="353054" y="1059975"/>
            <a:ext cx="11680496" cy="1384995"/>
          </a:xfrm>
          <a:prstGeom prst="rect">
            <a:avLst/>
          </a:prstGeom>
          <a:noFill/>
        </p:spPr>
        <p:txBody>
          <a:bodyPr wrap="square">
            <a:spAutoFit/>
          </a:bodyPr>
          <a:lstStyle/>
          <a:p>
            <a:r>
              <a:rPr lang="en-US" sz="2800" i="0" dirty="0">
                <a:solidFill>
                  <a:srgbClr val="181B1E"/>
                </a:solidFill>
                <a:effectLst/>
                <a:highlight>
                  <a:srgbClr val="FFFFFF"/>
                </a:highlight>
                <a:latin typeface="Inter Variablefont"/>
              </a:rPr>
              <a:t>Prompt engineering is the process of structuring the text sent to the generative AI so that it is correctly interpreted and </a:t>
            </a:r>
            <a:r>
              <a:rPr lang="en-US" sz="2800" i="0" dirty="0">
                <a:effectLst/>
                <a:highlight>
                  <a:srgbClr val="FFFFFF"/>
                </a:highlight>
                <a:latin typeface="Inter Variablefont"/>
              </a:rPr>
              <a:t>“understood” </a:t>
            </a:r>
            <a:r>
              <a:rPr lang="en-US" sz="2800" i="0" dirty="0">
                <a:solidFill>
                  <a:srgbClr val="181B1E"/>
                </a:solidFill>
                <a:effectLst/>
                <a:highlight>
                  <a:srgbClr val="FFFFFF"/>
                </a:highlight>
                <a:latin typeface="Inter Variablefont"/>
              </a:rPr>
              <a:t>and leads to the expected output.</a:t>
            </a:r>
            <a:endParaRPr lang="en-IN" sz="2800" dirty="0"/>
          </a:p>
        </p:txBody>
      </p:sp>
      <p:sp>
        <p:nvSpPr>
          <p:cNvPr id="5" name="TextBox 4">
            <a:extLst>
              <a:ext uri="{FF2B5EF4-FFF2-40B4-BE49-F238E27FC236}">
                <a16:creationId xmlns:a16="http://schemas.microsoft.com/office/drawing/2014/main" id="{652D8B2E-124D-6B20-9EEB-8BF31965075C}"/>
              </a:ext>
            </a:extLst>
          </p:cNvPr>
          <p:cNvSpPr txBox="1"/>
          <p:nvPr/>
        </p:nvSpPr>
        <p:spPr>
          <a:xfrm>
            <a:off x="7106856" y="6247383"/>
            <a:ext cx="5172123" cy="461665"/>
          </a:xfrm>
          <a:prstGeom prst="rect">
            <a:avLst/>
          </a:prstGeom>
          <a:noFill/>
        </p:spPr>
        <p:txBody>
          <a:bodyPr wrap="square">
            <a:spAutoFit/>
          </a:bodyPr>
          <a:lstStyle/>
          <a:p>
            <a:pPr algn="l"/>
            <a:r>
              <a:rPr lang="en-US" sz="1200" b="0" i="0" u="none" strike="noStrike" baseline="0" dirty="0">
                <a:latin typeface="NimbusRomNo9L-Medi"/>
              </a:rPr>
              <a:t>A Systematic Survey of Prompt Engineering in Large Language Models:</a:t>
            </a:r>
          </a:p>
          <a:p>
            <a:pPr algn="l"/>
            <a:r>
              <a:rPr lang="en-IN" sz="1200" b="0" i="0" u="none" strike="noStrike" baseline="0" dirty="0">
                <a:latin typeface="NimbusRomNo9L-Medi"/>
              </a:rPr>
              <a:t>Techniques and Applications: </a:t>
            </a:r>
            <a:r>
              <a:rPr lang="en-IN" sz="1200" b="0" i="0" u="none" strike="noStrike" baseline="0" dirty="0">
                <a:solidFill>
                  <a:srgbClr val="808080"/>
                </a:solidFill>
                <a:latin typeface="Times New Roman" panose="02020603050405020304" pitchFamily="18" charset="0"/>
              </a:rPr>
              <a:t>arXiv:2402.07927v1 [cs.AI] 5 Feb 2024</a:t>
            </a:r>
            <a:endParaRPr lang="en-IN" sz="1200" dirty="0"/>
          </a:p>
        </p:txBody>
      </p:sp>
      <p:grpSp>
        <p:nvGrpSpPr>
          <p:cNvPr id="6" name="Group 5">
            <a:extLst>
              <a:ext uri="{FF2B5EF4-FFF2-40B4-BE49-F238E27FC236}">
                <a16:creationId xmlns:a16="http://schemas.microsoft.com/office/drawing/2014/main" id="{A351350F-D75F-E5BD-1D80-C43A48492F5F}"/>
              </a:ext>
            </a:extLst>
          </p:cNvPr>
          <p:cNvGrpSpPr/>
          <p:nvPr/>
        </p:nvGrpSpPr>
        <p:grpSpPr>
          <a:xfrm>
            <a:off x="1463263" y="2666198"/>
            <a:ext cx="9178724" cy="3098407"/>
            <a:chOff x="1956122" y="3379808"/>
            <a:chExt cx="9178724" cy="3098407"/>
          </a:xfrm>
        </p:grpSpPr>
        <p:sp>
          <p:nvSpPr>
            <p:cNvPr id="7" name="Rounded Rectangle 12">
              <a:extLst>
                <a:ext uri="{FF2B5EF4-FFF2-40B4-BE49-F238E27FC236}">
                  <a16:creationId xmlns:a16="http://schemas.microsoft.com/office/drawing/2014/main" id="{0F74A229-B6EB-6AC9-EE07-48D41C58DC3E}"/>
                </a:ext>
              </a:extLst>
            </p:cNvPr>
            <p:cNvSpPr/>
            <p:nvPr/>
          </p:nvSpPr>
          <p:spPr>
            <a:xfrm>
              <a:off x="4896091" y="3379808"/>
              <a:ext cx="3333509" cy="275477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2">
              <a:extLst>
                <a:ext uri="{FF2B5EF4-FFF2-40B4-BE49-F238E27FC236}">
                  <a16:creationId xmlns:a16="http://schemas.microsoft.com/office/drawing/2014/main" id="{907EACEC-9FA5-A13D-2223-3BD524511BC0}"/>
                </a:ext>
              </a:extLst>
            </p:cNvPr>
            <p:cNvSpPr/>
            <p:nvPr/>
          </p:nvSpPr>
          <p:spPr>
            <a:xfrm>
              <a:off x="1956122" y="3472405"/>
              <a:ext cx="2025569" cy="2152891"/>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Prompt Engineering</a:t>
              </a:r>
            </a:p>
            <a:p>
              <a:pPr algn="ctr"/>
              <a:endParaRPr lang="en-GB" dirty="0"/>
            </a:p>
            <a:p>
              <a:pPr algn="ctr"/>
              <a:endParaRPr lang="en-GB" dirty="0"/>
            </a:p>
            <a:p>
              <a:pPr algn="ctr"/>
              <a:endParaRPr lang="en-GB" dirty="0"/>
            </a:p>
            <a:p>
              <a:pPr algn="ctr"/>
              <a:endParaRPr lang="en-GB" dirty="0"/>
            </a:p>
            <a:p>
              <a:pPr algn="ctr"/>
              <a:endParaRPr lang="en-GB" dirty="0"/>
            </a:p>
          </p:txBody>
        </p:sp>
        <p:sp>
          <p:nvSpPr>
            <p:cNvPr id="11" name="Rounded Rectangle 3">
              <a:extLst>
                <a:ext uri="{FF2B5EF4-FFF2-40B4-BE49-F238E27FC236}">
                  <a16:creationId xmlns:a16="http://schemas.microsoft.com/office/drawing/2014/main" id="{A05D419F-0DF9-B0E1-F16C-880510D1FF36}"/>
                </a:ext>
              </a:extLst>
            </p:cNvPr>
            <p:cNvSpPr/>
            <p:nvPr/>
          </p:nvSpPr>
          <p:spPr>
            <a:xfrm>
              <a:off x="2025570" y="5833641"/>
              <a:ext cx="2002420" cy="6445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 Input</a:t>
              </a:r>
              <a:endParaRPr lang="en-IN" dirty="0"/>
            </a:p>
          </p:txBody>
        </p:sp>
        <p:sp>
          <p:nvSpPr>
            <p:cNvPr id="12" name="Rounded Rectangle 5">
              <a:extLst>
                <a:ext uri="{FF2B5EF4-FFF2-40B4-BE49-F238E27FC236}">
                  <a16:creationId xmlns:a16="http://schemas.microsoft.com/office/drawing/2014/main" id="{84412D7C-1CA2-20A4-20CA-5740CE3D9B14}"/>
                </a:ext>
              </a:extLst>
            </p:cNvPr>
            <p:cNvSpPr/>
            <p:nvPr/>
          </p:nvSpPr>
          <p:spPr>
            <a:xfrm>
              <a:off x="5483393" y="3623356"/>
              <a:ext cx="2083443" cy="6667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LLM</a:t>
              </a:r>
              <a:endParaRPr lang="en-IN" dirty="0"/>
            </a:p>
          </p:txBody>
        </p:sp>
        <p:sp>
          <p:nvSpPr>
            <p:cNvPr id="13" name="Rounded Rectangle 8">
              <a:extLst>
                <a:ext uri="{FF2B5EF4-FFF2-40B4-BE49-F238E27FC236}">
                  <a16:creationId xmlns:a16="http://schemas.microsoft.com/office/drawing/2014/main" id="{855D63C6-4E81-14B8-3CFC-B61440EFC30E}"/>
                </a:ext>
              </a:extLst>
            </p:cNvPr>
            <p:cNvSpPr/>
            <p:nvPr/>
          </p:nvSpPr>
          <p:spPr>
            <a:xfrm>
              <a:off x="5544273" y="4953965"/>
              <a:ext cx="2083443" cy="8796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Pre-trained on billions of parameters</a:t>
              </a:r>
              <a:endParaRPr lang="en-IN" dirty="0"/>
            </a:p>
          </p:txBody>
        </p:sp>
        <p:sp>
          <p:nvSpPr>
            <p:cNvPr id="14" name="Rounded Rectangle 9">
              <a:extLst>
                <a:ext uri="{FF2B5EF4-FFF2-40B4-BE49-F238E27FC236}">
                  <a16:creationId xmlns:a16="http://schemas.microsoft.com/office/drawing/2014/main" id="{6C0811B5-B82D-E03E-FEE5-8689D3BDD585}"/>
                </a:ext>
              </a:extLst>
            </p:cNvPr>
            <p:cNvSpPr/>
            <p:nvPr/>
          </p:nvSpPr>
          <p:spPr>
            <a:xfrm>
              <a:off x="9144000" y="4290120"/>
              <a:ext cx="1990846" cy="77317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Output: Response generated by LLM</a:t>
              </a:r>
              <a:endParaRPr lang="en-IN" dirty="0"/>
            </a:p>
          </p:txBody>
        </p:sp>
        <p:sp>
          <p:nvSpPr>
            <p:cNvPr id="15" name="Rectangle 14">
              <a:extLst>
                <a:ext uri="{FF2B5EF4-FFF2-40B4-BE49-F238E27FC236}">
                  <a16:creationId xmlns:a16="http://schemas.microsoft.com/office/drawing/2014/main" id="{5FA5FA7F-BFAE-65DE-1ABA-5F6FBBAE42A6}"/>
                </a:ext>
              </a:extLst>
            </p:cNvPr>
            <p:cNvSpPr/>
            <p:nvPr/>
          </p:nvSpPr>
          <p:spPr>
            <a:xfrm>
              <a:off x="2343873" y="4247849"/>
              <a:ext cx="1250066" cy="4319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Instruction</a:t>
              </a:r>
              <a:endParaRPr lang="en-IN" dirty="0"/>
            </a:p>
          </p:txBody>
        </p:sp>
        <p:sp>
          <p:nvSpPr>
            <p:cNvPr id="16" name="Rectangle 15">
              <a:extLst>
                <a:ext uri="{FF2B5EF4-FFF2-40B4-BE49-F238E27FC236}">
                  <a16:creationId xmlns:a16="http://schemas.microsoft.com/office/drawing/2014/main" id="{974F728B-E05C-06F6-F941-B9844838A3DE}"/>
                </a:ext>
              </a:extLst>
            </p:cNvPr>
            <p:cNvSpPr/>
            <p:nvPr/>
          </p:nvSpPr>
          <p:spPr>
            <a:xfrm>
              <a:off x="2343873" y="4879667"/>
              <a:ext cx="1250066" cy="4319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Context</a:t>
              </a:r>
              <a:endParaRPr lang="en-IN" dirty="0"/>
            </a:p>
          </p:txBody>
        </p:sp>
        <p:grpSp>
          <p:nvGrpSpPr>
            <p:cNvPr id="17" name="Group 16">
              <a:extLst>
                <a:ext uri="{FF2B5EF4-FFF2-40B4-BE49-F238E27FC236}">
                  <a16:creationId xmlns:a16="http://schemas.microsoft.com/office/drawing/2014/main" id="{AF969D02-1AA6-D6B6-44E8-9A3CC9F1EF81}"/>
                </a:ext>
              </a:extLst>
            </p:cNvPr>
            <p:cNvGrpSpPr/>
            <p:nvPr/>
          </p:nvGrpSpPr>
          <p:grpSpPr>
            <a:xfrm>
              <a:off x="5220182" y="3958542"/>
              <a:ext cx="324091" cy="1481559"/>
              <a:chOff x="5220182" y="3958542"/>
              <a:chExt cx="324091" cy="1481559"/>
            </a:xfrm>
          </p:grpSpPr>
          <p:cxnSp>
            <p:nvCxnSpPr>
              <p:cNvPr id="24" name="Straight Arrow Connector 23">
                <a:extLst>
                  <a:ext uri="{FF2B5EF4-FFF2-40B4-BE49-F238E27FC236}">
                    <a16:creationId xmlns:a16="http://schemas.microsoft.com/office/drawing/2014/main" id="{141FE2F9-07F9-DF3D-B226-C629BB73F2F3}"/>
                  </a:ext>
                </a:extLst>
              </p:cNvPr>
              <p:cNvCxnSpPr/>
              <p:nvPr/>
            </p:nvCxnSpPr>
            <p:spPr>
              <a:xfrm>
                <a:off x="5231757" y="3958542"/>
                <a:ext cx="251636" cy="0"/>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DEC9AB6B-1DB4-130C-2889-2FBC0D20B171}"/>
                  </a:ext>
                </a:extLst>
              </p:cNvPr>
              <p:cNvCxnSpPr/>
              <p:nvPr/>
            </p:nvCxnSpPr>
            <p:spPr>
              <a:xfrm>
                <a:off x="5220182" y="3970116"/>
                <a:ext cx="11575" cy="1469985"/>
              </a:xfrm>
              <a:prstGeom prst="line">
                <a:avLst/>
              </a:prstGeom>
              <a:ln>
                <a:prstDash val="dash"/>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8641CAA8-9D1B-DD6F-0AAF-C01406F3C166}"/>
                  </a:ext>
                </a:extLst>
              </p:cNvPr>
              <p:cNvCxnSpPr/>
              <p:nvPr/>
            </p:nvCxnSpPr>
            <p:spPr>
              <a:xfrm>
                <a:off x="5254906" y="5440101"/>
                <a:ext cx="289367" cy="0"/>
              </a:xfrm>
              <a:prstGeom prst="line">
                <a:avLst/>
              </a:prstGeom>
              <a:ln>
                <a:prstDash val="dash"/>
              </a:ln>
            </p:spPr>
            <p:style>
              <a:lnRef idx="3">
                <a:schemeClr val="accent1"/>
              </a:lnRef>
              <a:fillRef idx="0">
                <a:schemeClr val="accent1"/>
              </a:fillRef>
              <a:effectRef idx="2">
                <a:schemeClr val="accent1"/>
              </a:effectRef>
              <a:fontRef idx="minor">
                <a:schemeClr val="tx1"/>
              </a:fontRef>
            </p:style>
          </p:cxnSp>
        </p:grpSp>
        <p:grpSp>
          <p:nvGrpSpPr>
            <p:cNvPr id="18" name="Group 17">
              <a:extLst>
                <a:ext uri="{FF2B5EF4-FFF2-40B4-BE49-F238E27FC236}">
                  <a16:creationId xmlns:a16="http://schemas.microsoft.com/office/drawing/2014/main" id="{85D21210-8977-1405-B0B7-024A7594BF91}"/>
                </a:ext>
              </a:extLst>
            </p:cNvPr>
            <p:cNvGrpSpPr/>
            <p:nvPr/>
          </p:nvGrpSpPr>
          <p:grpSpPr>
            <a:xfrm rot="10800000">
              <a:off x="7592992" y="3949624"/>
              <a:ext cx="324091" cy="1481559"/>
              <a:chOff x="5220182" y="3958542"/>
              <a:chExt cx="324091" cy="1481559"/>
            </a:xfrm>
          </p:grpSpPr>
          <p:cxnSp>
            <p:nvCxnSpPr>
              <p:cNvPr id="21" name="Straight Arrow Connector 20">
                <a:extLst>
                  <a:ext uri="{FF2B5EF4-FFF2-40B4-BE49-F238E27FC236}">
                    <a16:creationId xmlns:a16="http://schemas.microsoft.com/office/drawing/2014/main" id="{8BFEF642-5EB7-093A-7B1D-1B0DA7004A3C}"/>
                  </a:ext>
                </a:extLst>
              </p:cNvPr>
              <p:cNvCxnSpPr/>
              <p:nvPr/>
            </p:nvCxnSpPr>
            <p:spPr>
              <a:xfrm>
                <a:off x="5231757" y="3958542"/>
                <a:ext cx="251636" cy="0"/>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7045782A-85B6-51FE-BEAA-7ED61B644596}"/>
                  </a:ext>
                </a:extLst>
              </p:cNvPr>
              <p:cNvCxnSpPr/>
              <p:nvPr/>
            </p:nvCxnSpPr>
            <p:spPr>
              <a:xfrm>
                <a:off x="5220182" y="3970116"/>
                <a:ext cx="11575" cy="1469985"/>
              </a:xfrm>
              <a:prstGeom prst="line">
                <a:avLst/>
              </a:prstGeom>
              <a:ln>
                <a:prstDash val="dash"/>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736477B6-0AC6-6517-8C94-A088372E4E08}"/>
                  </a:ext>
                </a:extLst>
              </p:cNvPr>
              <p:cNvCxnSpPr/>
              <p:nvPr/>
            </p:nvCxnSpPr>
            <p:spPr>
              <a:xfrm>
                <a:off x="5254906" y="5440101"/>
                <a:ext cx="289367" cy="0"/>
              </a:xfrm>
              <a:prstGeom prst="line">
                <a:avLst/>
              </a:prstGeom>
              <a:ln>
                <a:prstDash val="dash"/>
              </a:ln>
            </p:spPr>
            <p:style>
              <a:lnRef idx="3">
                <a:schemeClr val="accent1"/>
              </a:lnRef>
              <a:fillRef idx="0">
                <a:schemeClr val="accent1"/>
              </a:fillRef>
              <a:effectRef idx="2">
                <a:schemeClr val="accent1"/>
              </a:effectRef>
              <a:fontRef idx="minor">
                <a:schemeClr val="tx1"/>
              </a:fontRef>
            </p:style>
          </p:cxnSp>
        </p:grpSp>
        <p:sp>
          <p:nvSpPr>
            <p:cNvPr id="19" name="Right Arrow 29">
              <a:extLst>
                <a:ext uri="{FF2B5EF4-FFF2-40B4-BE49-F238E27FC236}">
                  <a16:creationId xmlns:a16="http://schemas.microsoft.com/office/drawing/2014/main" id="{EF90BE53-C1BD-9F07-86A8-25D95C36D480}"/>
                </a:ext>
              </a:extLst>
            </p:cNvPr>
            <p:cNvSpPr/>
            <p:nvPr/>
          </p:nvSpPr>
          <p:spPr>
            <a:xfrm>
              <a:off x="4166886" y="4527269"/>
              <a:ext cx="625033" cy="3523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ight Arrow 30">
              <a:extLst>
                <a:ext uri="{FF2B5EF4-FFF2-40B4-BE49-F238E27FC236}">
                  <a16:creationId xmlns:a16="http://schemas.microsoft.com/office/drawing/2014/main" id="{634A4602-CA57-B7C8-CF64-C6B35C24C530}"/>
                </a:ext>
              </a:extLst>
            </p:cNvPr>
            <p:cNvSpPr/>
            <p:nvPr/>
          </p:nvSpPr>
          <p:spPr>
            <a:xfrm>
              <a:off x="8351134" y="4509730"/>
              <a:ext cx="625033" cy="3523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88067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909B2-6052-ABF9-BED6-EF6722538B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1718B5-5F46-4007-0F13-7B7F3A9FE0BF}"/>
              </a:ext>
            </a:extLst>
          </p:cNvPr>
          <p:cNvSpPr txBox="1"/>
          <p:nvPr/>
        </p:nvSpPr>
        <p:spPr>
          <a:xfrm>
            <a:off x="3674027" y="148952"/>
            <a:ext cx="6289927" cy="707886"/>
          </a:xfrm>
          <a:prstGeom prst="rect">
            <a:avLst/>
          </a:prstGeom>
          <a:noFill/>
        </p:spPr>
        <p:txBody>
          <a:bodyPr wrap="none" rtlCol="0">
            <a:spAutoFit/>
          </a:bodyPr>
          <a:lstStyle/>
          <a:p>
            <a:r>
              <a:rPr lang="en-IN" sz="4000" b="1" dirty="0"/>
              <a:t>Prompt Engineering Mindset</a:t>
            </a:r>
          </a:p>
        </p:txBody>
      </p:sp>
      <p:sp>
        <p:nvSpPr>
          <p:cNvPr id="3" name="TextBox 2">
            <a:extLst>
              <a:ext uri="{FF2B5EF4-FFF2-40B4-BE49-F238E27FC236}">
                <a16:creationId xmlns:a16="http://schemas.microsoft.com/office/drawing/2014/main" id="{0E1967B5-D995-20BB-8104-2EC242EC64BD}"/>
              </a:ext>
            </a:extLst>
          </p:cNvPr>
          <p:cNvSpPr txBox="1"/>
          <p:nvPr/>
        </p:nvSpPr>
        <p:spPr>
          <a:xfrm>
            <a:off x="6923256" y="6185828"/>
            <a:ext cx="5474172" cy="523220"/>
          </a:xfrm>
          <a:prstGeom prst="rect">
            <a:avLst/>
          </a:prstGeom>
          <a:noFill/>
        </p:spPr>
        <p:txBody>
          <a:bodyPr wrap="square">
            <a:spAutoFit/>
          </a:bodyPr>
          <a:lstStyle/>
          <a:p>
            <a:pPr algn="l"/>
            <a:r>
              <a:rPr lang="en-US" sz="1400" dirty="0">
                <a:hlinkClick r:id="rId2"/>
              </a:rPr>
              <a:t>generative-ai-for-beginners/04-prompt-engineering-fundamentals at main · </a:t>
            </a:r>
            <a:r>
              <a:rPr lang="en-US" sz="1400" dirty="0" err="1">
                <a:hlinkClick r:id="rId2"/>
              </a:rPr>
              <a:t>microsoft</a:t>
            </a:r>
            <a:r>
              <a:rPr lang="en-US" sz="1400" dirty="0">
                <a:hlinkClick r:id="rId2"/>
              </a:rPr>
              <a:t>/generative-ai-for-beginners · GitHub</a:t>
            </a:r>
            <a:endParaRPr lang="en-IN" sz="1400" dirty="0"/>
          </a:p>
        </p:txBody>
      </p:sp>
      <p:sp>
        <p:nvSpPr>
          <p:cNvPr id="8" name="TextBox 7">
            <a:extLst>
              <a:ext uri="{FF2B5EF4-FFF2-40B4-BE49-F238E27FC236}">
                <a16:creationId xmlns:a16="http://schemas.microsoft.com/office/drawing/2014/main" id="{F28BBF04-CB37-5972-1AE0-E7C752CF7DC1}"/>
              </a:ext>
            </a:extLst>
          </p:cNvPr>
          <p:cNvSpPr txBox="1"/>
          <p:nvPr/>
        </p:nvSpPr>
        <p:spPr>
          <a:xfrm>
            <a:off x="372221" y="1046975"/>
            <a:ext cx="11447557" cy="5324535"/>
          </a:xfrm>
          <a:prstGeom prst="rect">
            <a:avLst/>
          </a:prstGeom>
          <a:noFill/>
        </p:spPr>
        <p:txBody>
          <a:bodyPr wrap="square">
            <a:spAutoFit/>
          </a:bodyPr>
          <a:lstStyle/>
          <a:p>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Prompt Engineering is a trial-and-error process:</a:t>
            </a:r>
          </a:p>
          <a:p>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tabLst>
                <a:tab pos="457200" algn="l"/>
              </a:tabLst>
            </a:pPr>
            <a:r>
              <a:rPr lang="en-IN" sz="2000" b="1" dirty="0">
                <a:solidFill>
                  <a:srgbClr val="1F2328"/>
                </a:solidFill>
                <a:effectLst/>
                <a:highlight>
                  <a:srgbClr val="FFFFFF"/>
                </a:highlight>
                <a:latin typeface="Segoe UI" panose="020B0502040204020203" pitchFamily="34" charset="0"/>
                <a:ea typeface="Times New Roman" panose="02020603050405020304" pitchFamily="18" charset="0"/>
              </a:rPr>
              <a:t>Domain Understanding Matters.</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Response accuracy and relevance is a function of the </a:t>
            </a:r>
            <a:r>
              <a:rPr lang="en-IN" sz="2000" i="1" dirty="0">
                <a:solidFill>
                  <a:srgbClr val="1F2328"/>
                </a:solidFill>
                <a:effectLst/>
                <a:highlight>
                  <a:srgbClr val="FFFFFF"/>
                </a:highlight>
                <a:latin typeface="Segoe UI" panose="020B0502040204020203" pitchFamily="34" charset="0"/>
                <a:ea typeface="Times New Roman" panose="02020603050405020304" pitchFamily="18" charset="0"/>
              </a:rPr>
              <a:t>domain</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Apply your intuition and domain expertise to </a:t>
            </a:r>
            <a:r>
              <a:rPr lang="en-IN" sz="2000" b="1" dirty="0">
                <a:solidFill>
                  <a:srgbClr val="1F2328"/>
                </a:solidFill>
                <a:effectLst/>
                <a:highlight>
                  <a:srgbClr val="FFFFFF"/>
                </a:highlight>
                <a:latin typeface="Segoe UI" panose="020B0502040204020203" pitchFamily="34" charset="0"/>
                <a:ea typeface="Times New Roman" panose="02020603050405020304" pitchFamily="18" charset="0"/>
              </a:rPr>
              <a:t>customize techniques</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further.</a:t>
            </a:r>
          </a:p>
          <a:p>
            <a:pPr marL="342900" lvl="0" indent="-342900">
              <a:tabLst>
                <a:tab pos="457200" algn="l"/>
              </a:tabLst>
            </a:pPr>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tabLst>
                <a:tab pos="457200" algn="l"/>
              </a:tabLst>
            </a:pPr>
            <a:r>
              <a:rPr lang="en-IN" sz="2000" b="1" dirty="0">
                <a:solidFill>
                  <a:srgbClr val="1F2328"/>
                </a:solidFill>
                <a:effectLst/>
                <a:highlight>
                  <a:srgbClr val="FFFFFF"/>
                </a:highlight>
                <a:latin typeface="Segoe UI" panose="020B0502040204020203" pitchFamily="34" charset="0"/>
                <a:ea typeface="Times New Roman" panose="02020603050405020304" pitchFamily="18" charset="0"/>
              </a:rPr>
              <a:t>Model Understanding Matters.</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a:t>
            </a:r>
            <a:r>
              <a:rPr lang="en-IN" sz="2000" dirty="0">
                <a:solidFill>
                  <a:srgbClr val="1F2328"/>
                </a:solidFill>
                <a:highlight>
                  <a:srgbClr val="FFFFFF"/>
                </a:highlight>
                <a:latin typeface="Segoe UI" panose="020B0502040204020203" pitchFamily="34" charset="0"/>
                <a:ea typeface="Times New Roman" panose="02020603050405020304" pitchFamily="18" charset="0"/>
              </a:rPr>
              <a:t>M</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odel implementations can vary in terms of the training dataset they use (pre-trained knowledge), the capabilities they provide (e.g., via API or SDK) and the type of content they are optimized for (</a:t>
            </a:r>
            <a:r>
              <a:rPr lang="en-IN" sz="2000" dirty="0" err="1">
                <a:solidFill>
                  <a:srgbClr val="1F2328"/>
                </a:solidFill>
                <a:effectLst/>
                <a:highlight>
                  <a:srgbClr val="FFFFFF"/>
                </a:highlight>
                <a:latin typeface="Segoe UI" panose="020B0502040204020203" pitchFamily="34" charset="0"/>
                <a:ea typeface="Times New Roman" panose="02020603050405020304" pitchFamily="18" charset="0"/>
              </a:rPr>
              <a:t>e.g</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code vs. images vs. text). </a:t>
            </a:r>
          </a:p>
          <a:p>
            <a:pPr marL="342900" lvl="0" indent="-342900">
              <a:tabLst>
                <a:tab pos="457200" algn="l"/>
              </a:tabLst>
            </a:pPr>
            <a:endParaRPr lang="en-IN" sz="2000" b="1" dirty="0">
              <a:solidFill>
                <a:srgbClr val="1F2328"/>
              </a:solidFill>
              <a:highlight>
                <a:srgbClr val="FFFFFF"/>
              </a:highlight>
              <a:latin typeface="Segoe UI" panose="020B0502040204020203" pitchFamily="34" charset="0"/>
              <a:ea typeface="Times New Roman" panose="02020603050405020304" pitchFamily="18" charset="0"/>
            </a:endParaRPr>
          </a:p>
          <a:p>
            <a:pPr marL="342900" lvl="0" indent="-342900">
              <a:tabLst>
                <a:tab pos="457200" algn="l"/>
              </a:tabLst>
            </a:pPr>
            <a:r>
              <a:rPr lang="en-IN" sz="2000" b="1" dirty="0">
                <a:solidFill>
                  <a:srgbClr val="1F2328"/>
                </a:solidFill>
                <a:effectLst/>
                <a:highlight>
                  <a:srgbClr val="FFFFFF"/>
                </a:highlight>
                <a:latin typeface="Segoe UI" panose="020B0502040204020203" pitchFamily="34" charset="0"/>
                <a:ea typeface="Times New Roman" panose="02020603050405020304" pitchFamily="18" charset="0"/>
              </a:rPr>
              <a:t>Iteration &amp; Validation Matters.</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As a domain expert, you may have other context or criteria </a:t>
            </a:r>
            <a:r>
              <a:rPr lang="en-IN" sz="2000" i="1" dirty="0">
                <a:solidFill>
                  <a:srgbClr val="1F2328"/>
                </a:solidFill>
                <a:effectLst/>
                <a:highlight>
                  <a:srgbClr val="FFFFFF"/>
                </a:highlight>
                <a:latin typeface="Segoe UI" panose="020B0502040204020203" pitchFamily="34" charset="0"/>
                <a:ea typeface="Times New Roman" panose="02020603050405020304" pitchFamily="18" charset="0"/>
              </a:rPr>
              <a:t>your</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specific application, that may not apply to the broader community. </a:t>
            </a:r>
          </a:p>
          <a:p>
            <a:pPr marL="342900" lvl="0" indent="-342900">
              <a:tabLst>
                <a:tab pos="457200" algn="l"/>
              </a:tabLst>
            </a:pPr>
            <a:endParaRPr lang="en-IN" sz="2000" dirty="0">
              <a:solidFill>
                <a:srgbClr val="1F2328"/>
              </a:solidFill>
              <a:highlight>
                <a:srgbClr val="FFFFFF"/>
              </a:highlight>
              <a:latin typeface="Segoe UI" panose="020B0502040204020203" pitchFamily="34" charset="0"/>
              <a:ea typeface="Times New Roman" panose="02020603050405020304" pitchFamily="18" charset="0"/>
            </a:endParaRPr>
          </a:p>
          <a:p>
            <a:pPr marL="342900" lvl="0" indent="-342900">
              <a:tabLst>
                <a:tab pos="457200" algn="l"/>
              </a:tabLst>
            </a:pP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Use prompt engineering tools &amp; techniques to "jump start" prompt construction, then iterate and validate the results using your own intuition and domain expertise. </a:t>
            </a:r>
          </a:p>
          <a:p>
            <a:pPr marL="342900" lvl="0" indent="-342900">
              <a:tabLst>
                <a:tab pos="457200" algn="l"/>
              </a:tabLst>
            </a:pPr>
            <a:endParaRPr lang="en-IN" sz="2000" dirty="0">
              <a:solidFill>
                <a:srgbClr val="1F2328"/>
              </a:solidFill>
              <a:highlight>
                <a:srgbClr val="FFFFFF"/>
              </a:highlight>
              <a:latin typeface="Segoe UI" panose="020B0502040204020203" pitchFamily="34" charset="0"/>
              <a:ea typeface="Times New Roman" panose="02020603050405020304" pitchFamily="18" charset="0"/>
            </a:endParaRPr>
          </a:p>
          <a:p>
            <a:pPr marL="342900" lvl="0" indent="-342900">
              <a:tabLst>
                <a:tab pos="457200" algn="l"/>
              </a:tabLst>
            </a:pP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Record your insights and create a </a:t>
            </a:r>
            <a:r>
              <a:rPr lang="en-IN" sz="2000" b="1" dirty="0">
                <a:solidFill>
                  <a:srgbClr val="1F2328"/>
                </a:solidFill>
                <a:effectLst/>
                <a:highlight>
                  <a:srgbClr val="FFFFFF"/>
                </a:highlight>
                <a:latin typeface="Segoe UI" panose="020B0502040204020203" pitchFamily="34" charset="0"/>
                <a:ea typeface="Times New Roman" panose="02020603050405020304" pitchFamily="18" charset="0"/>
              </a:rPr>
              <a:t>knowledge base</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a:t>
            </a:r>
            <a:r>
              <a:rPr lang="en-IN" sz="2000" dirty="0" err="1">
                <a:solidFill>
                  <a:srgbClr val="1F2328"/>
                </a:solidFill>
                <a:effectLst/>
                <a:highlight>
                  <a:srgbClr val="FFFFFF"/>
                </a:highlight>
                <a:latin typeface="Segoe UI" panose="020B0502040204020203" pitchFamily="34" charset="0"/>
                <a:ea typeface="Times New Roman" panose="02020603050405020304" pitchFamily="18" charset="0"/>
              </a:rPr>
              <a:t>e.g</a:t>
            </a:r>
            <a:r>
              <a:rPr lang="en-IN" sz="2000" dirty="0">
                <a:solidFill>
                  <a:srgbClr val="1F2328"/>
                </a:solidFill>
                <a:effectLst/>
                <a:highlight>
                  <a:srgbClr val="FFFFFF"/>
                </a:highlight>
                <a:latin typeface="Segoe UI" panose="020B0502040204020203" pitchFamily="34" charset="0"/>
                <a:ea typeface="Times New Roman" panose="02020603050405020304" pitchFamily="18" charset="0"/>
              </a:rPr>
              <a:t>, prompt libraries) that can be used as a new baseline by others, for faster iterations in the future.</a:t>
            </a:r>
            <a:endParaRPr lang="en-IN" sz="2000" dirty="0">
              <a:effectLst/>
              <a:highlight>
                <a:srgbClr val="FFFFFF"/>
              </a:highligh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93420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1F98F-72C6-D93B-ACDB-E170452CC4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C95E82-10C1-D065-199D-0AD5E73F4B5C}"/>
              </a:ext>
            </a:extLst>
          </p:cNvPr>
          <p:cNvSpPr txBox="1"/>
          <p:nvPr/>
        </p:nvSpPr>
        <p:spPr>
          <a:xfrm>
            <a:off x="3064427" y="132547"/>
            <a:ext cx="6949082" cy="707886"/>
          </a:xfrm>
          <a:prstGeom prst="rect">
            <a:avLst/>
          </a:prstGeom>
          <a:noFill/>
        </p:spPr>
        <p:txBody>
          <a:bodyPr wrap="none" rtlCol="0">
            <a:spAutoFit/>
          </a:bodyPr>
          <a:lstStyle/>
          <a:p>
            <a:r>
              <a:rPr lang="en-IN" sz="4000" b="1" dirty="0"/>
              <a:t>Common Issues with Prompting</a:t>
            </a:r>
          </a:p>
        </p:txBody>
      </p:sp>
      <p:sp>
        <p:nvSpPr>
          <p:cNvPr id="2" name="TextBox 1">
            <a:extLst>
              <a:ext uri="{FF2B5EF4-FFF2-40B4-BE49-F238E27FC236}">
                <a16:creationId xmlns:a16="http://schemas.microsoft.com/office/drawing/2014/main" id="{4DD7FB1C-B1F3-1A77-91AA-D91219781B7C}"/>
              </a:ext>
            </a:extLst>
          </p:cNvPr>
          <p:cNvSpPr txBox="1"/>
          <p:nvPr/>
        </p:nvSpPr>
        <p:spPr>
          <a:xfrm>
            <a:off x="587021" y="970845"/>
            <a:ext cx="10092268" cy="2062103"/>
          </a:xfrm>
          <a:prstGeom prst="rect">
            <a:avLst/>
          </a:prstGeom>
          <a:noFill/>
        </p:spPr>
        <p:txBody>
          <a:bodyPr wrap="square" rtlCol="0">
            <a:spAutoFit/>
          </a:bodyPr>
          <a:lstStyle/>
          <a:p>
            <a:r>
              <a:rPr lang="en-IN" sz="2800" dirty="0">
                <a:solidFill>
                  <a:srgbClr val="FF0000"/>
                </a:solidFill>
                <a:latin typeface="Calibri" panose="020F0502020204030204" pitchFamily="34" charset="0"/>
              </a:rPr>
              <a:t>Vague direction</a:t>
            </a:r>
          </a:p>
          <a:p>
            <a:pPr marL="342900" indent="-342900">
              <a:buAutoNum type="arabicPeriod"/>
            </a:pPr>
            <a:endParaRPr lang="en-IN" sz="2800" dirty="0">
              <a:solidFill>
                <a:srgbClr val="000000"/>
              </a:solidFill>
              <a:latin typeface="Calibri" panose="020F0502020204030204" pitchFamily="34" charset="0"/>
            </a:endParaRPr>
          </a:p>
          <a:p>
            <a:pPr lvl="1"/>
            <a:r>
              <a:rPr lang="en-US" sz="2400" b="1" dirty="0"/>
              <a:t>Prompt:</a:t>
            </a:r>
            <a:r>
              <a:rPr lang="en-US" sz="2400" dirty="0"/>
              <a:t> Write an article.</a:t>
            </a:r>
          </a:p>
          <a:p>
            <a:pPr lvl="1"/>
            <a:r>
              <a:rPr lang="en-US" sz="2400" b="1" dirty="0"/>
              <a:t>Output:</a:t>
            </a:r>
            <a:r>
              <a:rPr lang="en-US" sz="2400" dirty="0"/>
              <a:t> An article about anything and everything, which might not be useful or relevant to the user’s needs.</a:t>
            </a:r>
          </a:p>
        </p:txBody>
      </p:sp>
      <p:sp>
        <p:nvSpPr>
          <p:cNvPr id="9" name="TextBox 8">
            <a:extLst>
              <a:ext uri="{FF2B5EF4-FFF2-40B4-BE49-F238E27FC236}">
                <a16:creationId xmlns:a16="http://schemas.microsoft.com/office/drawing/2014/main" id="{04AADF33-56BE-E045-9E40-83B1D7A7465E}"/>
              </a:ext>
            </a:extLst>
          </p:cNvPr>
          <p:cNvSpPr txBox="1"/>
          <p:nvPr/>
        </p:nvSpPr>
        <p:spPr>
          <a:xfrm>
            <a:off x="984836" y="3283733"/>
            <a:ext cx="10902364" cy="3416320"/>
          </a:xfrm>
          <a:prstGeom prst="rect">
            <a:avLst/>
          </a:prstGeom>
          <a:noFill/>
        </p:spPr>
        <p:txBody>
          <a:bodyPr wrap="square">
            <a:spAutoFit/>
          </a:bodyPr>
          <a:lstStyle/>
          <a:p>
            <a:r>
              <a:rPr lang="en-US" sz="2400" b="1" dirty="0"/>
              <a:t>Improved Prompt:</a:t>
            </a:r>
            <a:r>
              <a:rPr lang="en-US" sz="2400" dirty="0">
                <a:solidFill>
                  <a:srgbClr val="00B050"/>
                </a:solidFill>
              </a:rPr>
              <a:t> Write a 500-word article about the impact of social media on mental health among teenagers.</a:t>
            </a:r>
          </a:p>
          <a:p>
            <a:endParaRPr lang="en-US" sz="2400" dirty="0">
              <a:solidFill>
                <a:srgbClr val="00B050"/>
              </a:solidFill>
            </a:endParaRPr>
          </a:p>
          <a:p>
            <a:r>
              <a:rPr lang="en-US" sz="2400" b="1" dirty="0"/>
              <a:t>Output:</a:t>
            </a:r>
            <a:r>
              <a:rPr lang="en-US" sz="2400" dirty="0"/>
              <a:t> </a:t>
            </a:r>
            <a:r>
              <a:rPr lang="en-US" sz="2400" b="1" dirty="0">
                <a:solidFill>
                  <a:srgbClr val="00B050"/>
                </a:solidFill>
              </a:rPr>
              <a:t>Title: The Impact of Social Media on Teen Mental Health</a:t>
            </a:r>
            <a:endParaRPr lang="en-US" sz="2400" dirty="0">
              <a:solidFill>
                <a:srgbClr val="00B050"/>
              </a:solidFill>
            </a:endParaRPr>
          </a:p>
          <a:p>
            <a:r>
              <a:rPr lang="en-US" sz="2400" dirty="0">
                <a:solidFill>
                  <a:srgbClr val="00B050"/>
                </a:solidFill>
              </a:rPr>
              <a:t>In today’s digital age, social media has become a pervasive force in the lives of teenagers. Platforms such as Instagram, Snapchat, and TikTok are integral to the way young people communicate, learn, and perceive the world. While social media offers opportunities for connection and self-expression, its impact on mental health is a double-edged sword. [Detailed analysis of various aspects follows…]</a:t>
            </a:r>
          </a:p>
        </p:txBody>
      </p:sp>
    </p:spTree>
    <p:extLst>
      <p:ext uri="{BB962C8B-B14F-4D97-AF65-F5344CB8AC3E}">
        <p14:creationId xmlns:p14="http://schemas.microsoft.com/office/powerpoint/2010/main" val="2712153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E8D76-0566-6D51-3E75-B798458645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77D30B-6E91-90C4-D517-8A467379C77C}"/>
              </a:ext>
            </a:extLst>
          </p:cNvPr>
          <p:cNvSpPr txBox="1"/>
          <p:nvPr/>
        </p:nvSpPr>
        <p:spPr>
          <a:xfrm>
            <a:off x="3064427" y="132547"/>
            <a:ext cx="6949082" cy="707886"/>
          </a:xfrm>
          <a:prstGeom prst="rect">
            <a:avLst/>
          </a:prstGeom>
          <a:noFill/>
        </p:spPr>
        <p:txBody>
          <a:bodyPr wrap="none" rtlCol="0">
            <a:spAutoFit/>
          </a:bodyPr>
          <a:lstStyle/>
          <a:p>
            <a:r>
              <a:rPr lang="en-IN" sz="4000" b="1" dirty="0"/>
              <a:t>Common Issues with Prompting</a:t>
            </a:r>
          </a:p>
        </p:txBody>
      </p:sp>
      <p:sp>
        <p:nvSpPr>
          <p:cNvPr id="2" name="TextBox 1">
            <a:extLst>
              <a:ext uri="{FF2B5EF4-FFF2-40B4-BE49-F238E27FC236}">
                <a16:creationId xmlns:a16="http://schemas.microsoft.com/office/drawing/2014/main" id="{C0929256-A03F-5BE0-8873-2083158B020B}"/>
              </a:ext>
            </a:extLst>
          </p:cNvPr>
          <p:cNvSpPr txBox="1"/>
          <p:nvPr/>
        </p:nvSpPr>
        <p:spPr>
          <a:xfrm>
            <a:off x="485421" y="1264356"/>
            <a:ext cx="10092268" cy="2492990"/>
          </a:xfrm>
          <a:prstGeom prst="rect">
            <a:avLst/>
          </a:prstGeom>
          <a:noFill/>
        </p:spPr>
        <p:txBody>
          <a:bodyPr wrap="square" rtlCol="0">
            <a:spAutoFit/>
          </a:bodyPr>
          <a:lstStyle/>
          <a:p>
            <a:r>
              <a:rPr lang="en-IN" sz="2800" dirty="0">
                <a:solidFill>
                  <a:srgbClr val="FF0000"/>
                </a:solidFill>
                <a:latin typeface="Calibri" panose="020F0502020204030204" pitchFamily="34" charset="0"/>
              </a:rPr>
              <a:t>Unformatted Output</a:t>
            </a:r>
          </a:p>
          <a:p>
            <a:endParaRPr lang="en-IN" sz="2800" dirty="0">
              <a:solidFill>
                <a:srgbClr val="000000"/>
              </a:solidFill>
              <a:latin typeface="Calibri" panose="020F0502020204030204" pitchFamily="34" charset="0"/>
            </a:endParaRPr>
          </a:p>
          <a:p>
            <a:r>
              <a:rPr lang="en-US" sz="2400" b="1" dirty="0"/>
              <a:t>Prompt:</a:t>
            </a:r>
            <a:r>
              <a:rPr lang="en-US" sz="2400" dirty="0"/>
              <a:t> Write a recipe for spaghetti.</a:t>
            </a:r>
          </a:p>
          <a:p>
            <a:r>
              <a:rPr lang="en-US" sz="2400" b="1" dirty="0"/>
              <a:t>Output:</a:t>
            </a:r>
            <a:r>
              <a:rPr lang="en-US" sz="2400" dirty="0"/>
              <a:t> First, boil water. Then cook the spaghetti. Then prepare the sauce with tomatoes and spices. Add salt and pepper. Mix spaghetti with sauce. Serve.</a:t>
            </a:r>
          </a:p>
          <a:p>
            <a:endParaRPr lang="en-IN" sz="2800" dirty="0">
              <a:solidFill>
                <a:srgbClr val="000000"/>
              </a:solidFill>
              <a:latin typeface="Calibri" panose="020F0502020204030204" pitchFamily="34" charset="0"/>
            </a:endParaRPr>
          </a:p>
        </p:txBody>
      </p:sp>
      <p:sp>
        <p:nvSpPr>
          <p:cNvPr id="5" name="TextBox 4">
            <a:extLst>
              <a:ext uri="{FF2B5EF4-FFF2-40B4-BE49-F238E27FC236}">
                <a16:creationId xmlns:a16="http://schemas.microsoft.com/office/drawing/2014/main" id="{47D80784-1795-2D0D-1E85-7ED4F3CFAF8F}"/>
              </a:ext>
            </a:extLst>
          </p:cNvPr>
          <p:cNvSpPr txBox="1"/>
          <p:nvPr/>
        </p:nvSpPr>
        <p:spPr>
          <a:xfrm>
            <a:off x="485421" y="3757346"/>
            <a:ext cx="10193868" cy="830997"/>
          </a:xfrm>
          <a:prstGeom prst="rect">
            <a:avLst/>
          </a:prstGeom>
          <a:noFill/>
        </p:spPr>
        <p:txBody>
          <a:bodyPr wrap="square" rtlCol="0">
            <a:spAutoFit/>
          </a:bodyPr>
          <a:lstStyle>
            <a:defPPr>
              <a:defRPr lang="en-US"/>
            </a:defPPr>
            <a:lvl1pPr>
              <a:defRPr sz="2800">
                <a:solidFill>
                  <a:srgbClr val="000000"/>
                </a:solidFill>
                <a:latin typeface="Calibri" panose="020F0502020204030204" pitchFamily="34" charset="0"/>
              </a:defRPr>
            </a:lvl1pPr>
          </a:lstStyle>
          <a:p>
            <a:r>
              <a:rPr lang="en-US" sz="2400" b="1" dirty="0">
                <a:solidFill>
                  <a:schemeClr val="tx1"/>
                </a:solidFill>
              </a:rPr>
              <a:t>Improved Prompt</a:t>
            </a:r>
            <a:r>
              <a:rPr lang="en-US" sz="2400" dirty="0">
                <a:solidFill>
                  <a:schemeClr val="tx1"/>
                </a:solidFill>
              </a:rPr>
              <a:t>: </a:t>
            </a:r>
            <a:r>
              <a:rPr lang="en-US" sz="2400" dirty="0">
                <a:solidFill>
                  <a:srgbClr val="00B050"/>
                </a:solidFill>
              </a:rPr>
              <a:t>Write a structured recipe for spaghetti with meatballs, including ingredients, step-by-step instructions, and serving suggestions.</a:t>
            </a:r>
            <a:endParaRPr lang="en-IN" sz="2400" dirty="0">
              <a:solidFill>
                <a:srgbClr val="00B050"/>
              </a:solidFill>
            </a:endParaRPr>
          </a:p>
        </p:txBody>
      </p:sp>
    </p:spTree>
    <p:extLst>
      <p:ext uri="{BB962C8B-B14F-4D97-AF65-F5344CB8AC3E}">
        <p14:creationId xmlns:p14="http://schemas.microsoft.com/office/powerpoint/2010/main" val="916356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DBDC2-D0D5-8B62-3E25-D42C26ABE7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7B3217-80E3-5B85-CDBB-42AEC10F9589}"/>
              </a:ext>
            </a:extLst>
          </p:cNvPr>
          <p:cNvSpPr txBox="1"/>
          <p:nvPr/>
        </p:nvSpPr>
        <p:spPr>
          <a:xfrm>
            <a:off x="3064427" y="132547"/>
            <a:ext cx="6949082" cy="707886"/>
          </a:xfrm>
          <a:prstGeom prst="rect">
            <a:avLst/>
          </a:prstGeom>
          <a:noFill/>
        </p:spPr>
        <p:txBody>
          <a:bodyPr wrap="none" rtlCol="0">
            <a:spAutoFit/>
          </a:bodyPr>
          <a:lstStyle/>
          <a:p>
            <a:r>
              <a:rPr lang="en-IN" sz="4000" b="1" dirty="0"/>
              <a:t>Common Issues with Prompting</a:t>
            </a:r>
          </a:p>
        </p:txBody>
      </p:sp>
      <p:sp>
        <p:nvSpPr>
          <p:cNvPr id="6" name="TextBox 5">
            <a:extLst>
              <a:ext uri="{FF2B5EF4-FFF2-40B4-BE49-F238E27FC236}">
                <a16:creationId xmlns:a16="http://schemas.microsoft.com/office/drawing/2014/main" id="{3834AB43-984E-B9A3-6E6E-A658E9837896}"/>
              </a:ext>
            </a:extLst>
          </p:cNvPr>
          <p:cNvSpPr txBox="1"/>
          <p:nvPr/>
        </p:nvSpPr>
        <p:spPr>
          <a:xfrm>
            <a:off x="242711" y="1202268"/>
            <a:ext cx="11706577" cy="5386090"/>
          </a:xfrm>
          <a:prstGeom prst="rect">
            <a:avLst/>
          </a:prstGeom>
          <a:noFill/>
        </p:spPr>
        <p:txBody>
          <a:bodyPr wrap="square">
            <a:spAutoFit/>
          </a:bodyPr>
          <a:lstStyle/>
          <a:p>
            <a:r>
              <a:rPr lang="en-US" sz="1600" b="1" dirty="0"/>
              <a:t>Output:</a:t>
            </a:r>
            <a:r>
              <a:rPr lang="en-US" sz="1600" dirty="0"/>
              <a:t> </a:t>
            </a:r>
            <a:r>
              <a:rPr lang="en-US" sz="1600" b="1" dirty="0">
                <a:solidFill>
                  <a:srgbClr val="00B050"/>
                </a:solidFill>
              </a:rPr>
              <a:t>Spaghetti with Meatballs Recipe</a:t>
            </a:r>
            <a:endParaRPr lang="en-US" sz="1600" dirty="0">
              <a:solidFill>
                <a:srgbClr val="00B050"/>
              </a:solidFill>
            </a:endParaRPr>
          </a:p>
          <a:p>
            <a:r>
              <a:rPr lang="en-US" sz="1600" b="1" dirty="0">
                <a:solidFill>
                  <a:srgbClr val="00B050"/>
                </a:solidFill>
              </a:rPr>
              <a:t>Ingredients:</a:t>
            </a:r>
            <a:endParaRPr lang="en-US" sz="1600" dirty="0">
              <a:solidFill>
                <a:srgbClr val="00B050"/>
              </a:solidFill>
            </a:endParaRPr>
          </a:p>
          <a:p>
            <a:pPr>
              <a:buFont typeface="Arial" panose="020B0604020202020204" pitchFamily="34" charset="0"/>
              <a:buChar char="•"/>
            </a:pPr>
            <a:r>
              <a:rPr lang="en-US" sz="1600" dirty="0">
                <a:solidFill>
                  <a:srgbClr val="00B050"/>
                </a:solidFill>
              </a:rPr>
              <a:t>200g spaghetti</a:t>
            </a:r>
          </a:p>
          <a:p>
            <a:pPr>
              <a:buFont typeface="Arial" panose="020B0604020202020204" pitchFamily="34" charset="0"/>
              <a:buChar char="•"/>
            </a:pPr>
            <a:r>
              <a:rPr lang="en-US" sz="1600" dirty="0">
                <a:solidFill>
                  <a:srgbClr val="00B050"/>
                </a:solidFill>
              </a:rPr>
              <a:t>400g ground beef</a:t>
            </a:r>
          </a:p>
          <a:p>
            <a:pPr>
              <a:buFont typeface="Arial" panose="020B0604020202020204" pitchFamily="34" charset="0"/>
              <a:buChar char="•"/>
            </a:pPr>
            <a:r>
              <a:rPr lang="en-US" sz="1600" dirty="0">
                <a:solidFill>
                  <a:srgbClr val="00B050"/>
                </a:solidFill>
              </a:rPr>
              <a:t>1 egg</a:t>
            </a:r>
          </a:p>
          <a:p>
            <a:pPr>
              <a:buFont typeface="Arial" panose="020B0604020202020204" pitchFamily="34" charset="0"/>
              <a:buChar char="•"/>
            </a:pPr>
            <a:r>
              <a:rPr lang="en-US" sz="1600" dirty="0">
                <a:solidFill>
                  <a:srgbClr val="00B050"/>
                </a:solidFill>
              </a:rPr>
              <a:t>1/2 cup breadcrumbs</a:t>
            </a:r>
          </a:p>
          <a:p>
            <a:pPr>
              <a:buFont typeface="Arial" panose="020B0604020202020204" pitchFamily="34" charset="0"/>
              <a:buChar char="•"/>
            </a:pPr>
            <a:r>
              <a:rPr lang="en-US" sz="1600" dirty="0">
                <a:solidFill>
                  <a:srgbClr val="00B050"/>
                </a:solidFill>
              </a:rPr>
              <a:t>1/4 cup grated Parmesan cheese</a:t>
            </a:r>
          </a:p>
          <a:p>
            <a:pPr>
              <a:buFont typeface="Arial" panose="020B0604020202020204" pitchFamily="34" charset="0"/>
              <a:buChar char="•"/>
            </a:pPr>
            <a:r>
              <a:rPr lang="en-US" sz="1600" dirty="0">
                <a:solidFill>
                  <a:srgbClr val="00B050"/>
                </a:solidFill>
              </a:rPr>
              <a:t>2 cups marinara sauce</a:t>
            </a:r>
          </a:p>
          <a:p>
            <a:pPr>
              <a:buFont typeface="Arial" panose="020B0604020202020204" pitchFamily="34" charset="0"/>
              <a:buChar char="•"/>
            </a:pPr>
            <a:r>
              <a:rPr lang="en-US" sz="1600" dirty="0">
                <a:solidFill>
                  <a:srgbClr val="00B050"/>
                </a:solidFill>
              </a:rPr>
              <a:t>2 cloves garlic, minced</a:t>
            </a:r>
          </a:p>
          <a:p>
            <a:pPr>
              <a:buFont typeface="Arial" panose="020B0604020202020204" pitchFamily="34" charset="0"/>
              <a:buChar char="•"/>
            </a:pPr>
            <a:r>
              <a:rPr lang="en-US" sz="1600" dirty="0">
                <a:solidFill>
                  <a:srgbClr val="00B050"/>
                </a:solidFill>
              </a:rPr>
              <a:t>Salt and pepper to taste</a:t>
            </a:r>
          </a:p>
          <a:p>
            <a:pPr>
              <a:buFont typeface="Arial" panose="020B0604020202020204" pitchFamily="34" charset="0"/>
              <a:buChar char="•"/>
            </a:pPr>
            <a:r>
              <a:rPr lang="en-US" sz="1600" dirty="0">
                <a:solidFill>
                  <a:srgbClr val="00B050"/>
                </a:solidFill>
              </a:rPr>
              <a:t>Fresh basil for garnish</a:t>
            </a:r>
          </a:p>
          <a:p>
            <a:r>
              <a:rPr lang="en-US" sz="1600" b="1" dirty="0">
                <a:solidFill>
                  <a:srgbClr val="00B050"/>
                </a:solidFill>
              </a:rPr>
              <a:t>Instructions:</a:t>
            </a:r>
            <a:endParaRPr lang="en-US" sz="1600" dirty="0">
              <a:solidFill>
                <a:srgbClr val="00B050"/>
              </a:solidFill>
            </a:endParaRPr>
          </a:p>
          <a:p>
            <a:pPr>
              <a:buFont typeface="+mj-lt"/>
              <a:buAutoNum type="arabicPeriod"/>
            </a:pPr>
            <a:r>
              <a:rPr lang="en-US" sz="1600" b="1" dirty="0">
                <a:solidFill>
                  <a:srgbClr val="00B050"/>
                </a:solidFill>
              </a:rPr>
              <a:t>Prepare the Meatballs:</a:t>
            </a:r>
            <a:r>
              <a:rPr lang="en-US" sz="1600" dirty="0">
                <a:solidFill>
                  <a:srgbClr val="00B050"/>
                </a:solidFill>
              </a:rPr>
              <a:t> In a bowl, combine ground beef, egg, breadcrumbs, Parmesan cheese, garlic, salt, and pepper. Form the mixture into small meatballs.</a:t>
            </a:r>
          </a:p>
          <a:p>
            <a:pPr>
              <a:buFont typeface="+mj-lt"/>
              <a:buAutoNum type="arabicPeriod"/>
            </a:pPr>
            <a:r>
              <a:rPr lang="en-US" sz="1600" b="1" dirty="0">
                <a:solidFill>
                  <a:srgbClr val="00B050"/>
                </a:solidFill>
              </a:rPr>
              <a:t>Cook the Meatballs:</a:t>
            </a:r>
            <a:r>
              <a:rPr lang="en-US" sz="1600" dirty="0">
                <a:solidFill>
                  <a:srgbClr val="00B050"/>
                </a:solidFill>
              </a:rPr>
              <a:t> In a skillet over medium heat, cook the meatballs until they are browned on all sides and cooked through. Remove from the skillet and set aside.</a:t>
            </a:r>
          </a:p>
          <a:p>
            <a:pPr>
              <a:buFont typeface="+mj-lt"/>
              <a:buAutoNum type="arabicPeriod"/>
            </a:pPr>
            <a:r>
              <a:rPr lang="en-US" sz="1600" b="1" dirty="0">
                <a:solidFill>
                  <a:srgbClr val="00B050"/>
                </a:solidFill>
              </a:rPr>
              <a:t>Cook the Spaghetti:</a:t>
            </a:r>
            <a:r>
              <a:rPr lang="en-US" sz="1600" dirty="0">
                <a:solidFill>
                  <a:srgbClr val="00B050"/>
                </a:solidFill>
              </a:rPr>
              <a:t> In a large pot of boiling salted water, cook the spaghetti according to package instructions. Drain and set aside.</a:t>
            </a:r>
          </a:p>
          <a:p>
            <a:pPr>
              <a:buFont typeface="+mj-lt"/>
              <a:buAutoNum type="arabicPeriod"/>
            </a:pPr>
            <a:r>
              <a:rPr lang="en-US" sz="1600" b="1" dirty="0">
                <a:solidFill>
                  <a:srgbClr val="00B050"/>
                </a:solidFill>
              </a:rPr>
              <a:t>Prepare the Sauce:</a:t>
            </a:r>
            <a:r>
              <a:rPr lang="en-US" sz="1600" dirty="0">
                <a:solidFill>
                  <a:srgbClr val="00B050"/>
                </a:solidFill>
              </a:rPr>
              <a:t> In the same skillet used for the meatballs, add the marinara sauce and bring it to a simmer. Return the meatballs to the skillet and cook for a few minutes until the sauce thickens.</a:t>
            </a:r>
          </a:p>
          <a:p>
            <a:pPr>
              <a:buFont typeface="+mj-lt"/>
              <a:buAutoNum type="arabicPeriod"/>
            </a:pPr>
            <a:r>
              <a:rPr lang="en-US" sz="1600" b="1" dirty="0">
                <a:solidFill>
                  <a:srgbClr val="00B050"/>
                </a:solidFill>
              </a:rPr>
              <a:t>Serve:</a:t>
            </a:r>
            <a:r>
              <a:rPr lang="en-US" sz="1600" dirty="0">
                <a:solidFill>
                  <a:srgbClr val="00B050"/>
                </a:solidFill>
              </a:rPr>
              <a:t> Plate the spaghetti, top with meatballs and sauce, and garnish with fresh basil.</a:t>
            </a:r>
          </a:p>
          <a:p>
            <a:r>
              <a:rPr lang="en-US" sz="1600" b="1" dirty="0">
                <a:solidFill>
                  <a:srgbClr val="00B050"/>
                </a:solidFill>
              </a:rPr>
              <a:t>Serving Suggestions:</a:t>
            </a:r>
            <a:r>
              <a:rPr lang="en-US" sz="1600" dirty="0">
                <a:solidFill>
                  <a:srgbClr val="00B050"/>
                </a:solidFill>
              </a:rPr>
              <a:t> Serve with garlic bread and a side salad for a complete meal.</a:t>
            </a:r>
          </a:p>
        </p:txBody>
      </p:sp>
    </p:spTree>
    <p:extLst>
      <p:ext uri="{BB962C8B-B14F-4D97-AF65-F5344CB8AC3E}">
        <p14:creationId xmlns:p14="http://schemas.microsoft.com/office/powerpoint/2010/main" val="2766351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7CE8F-2549-3F78-DE7E-AF2D90466B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1800D6-C782-BEE9-6092-E870A257CA4E}"/>
              </a:ext>
            </a:extLst>
          </p:cNvPr>
          <p:cNvSpPr txBox="1"/>
          <p:nvPr/>
        </p:nvSpPr>
        <p:spPr>
          <a:xfrm>
            <a:off x="3064427" y="132547"/>
            <a:ext cx="6949082" cy="707886"/>
          </a:xfrm>
          <a:prstGeom prst="rect">
            <a:avLst/>
          </a:prstGeom>
          <a:noFill/>
        </p:spPr>
        <p:txBody>
          <a:bodyPr wrap="none" rtlCol="0">
            <a:spAutoFit/>
          </a:bodyPr>
          <a:lstStyle/>
          <a:p>
            <a:r>
              <a:rPr lang="en-IN" sz="4000" b="1" dirty="0"/>
              <a:t>Common Issues with Prompting</a:t>
            </a:r>
          </a:p>
        </p:txBody>
      </p:sp>
      <p:sp>
        <p:nvSpPr>
          <p:cNvPr id="2" name="TextBox 1">
            <a:extLst>
              <a:ext uri="{FF2B5EF4-FFF2-40B4-BE49-F238E27FC236}">
                <a16:creationId xmlns:a16="http://schemas.microsoft.com/office/drawing/2014/main" id="{E42071C0-415D-7562-D802-2241A53A7DC0}"/>
              </a:ext>
            </a:extLst>
          </p:cNvPr>
          <p:cNvSpPr txBox="1"/>
          <p:nvPr/>
        </p:nvSpPr>
        <p:spPr>
          <a:xfrm>
            <a:off x="248356" y="1238675"/>
            <a:ext cx="11695288" cy="4832092"/>
          </a:xfrm>
          <a:prstGeom prst="rect">
            <a:avLst/>
          </a:prstGeom>
          <a:noFill/>
        </p:spPr>
        <p:txBody>
          <a:bodyPr wrap="square" rtlCol="0">
            <a:spAutoFit/>
          </a:bodyPr>
          <a:lstStyle/>
          <a:p>
            <a:r>
              <a:rPr lang="en-IN" sz="2800" dirty="0">
                <a:solidFill>
                  <a:srgbClr val="FF0000"/>
                </a:solidFill>
                <a:latin typeface="Calibri" panose="020F0502020204030204" pitchFamily="34" charset="0"/>
              </a:rPr>
              <a:t>Missing examples</a:t>
            </a:r>
          </a:p>
          <a:p>
            <a:endParaRPr lang="en-IN" sz="2000" dirty="0">
              <a:solidFill>
                <a:srgbClr val="000000"/>
              </a:solidFill>
              <a:latin typeface="Calibri" panose="020F0502020204030204" pitchFamily="34" charset="0"/>
            </a:endParaRPr>
          </a:p>
          <a:p>
            <a:r>
              <a:rPr lang="en-US" sz="2000" b="1" dirty="0"/>
              <a:t>Prompt:</a:t>
            </a:r>
            <a:r>
              <a:rPr lang="en-US" sz="2000" dirty="0"/>
              <a:t> Write a short story.</a:t>
            </a:r>
          </a:p>
          <a:p>
            <a:r>
              <a:rPr lang="en-US" sz="2000" b="1" dirty="0"/>
              <a:t>Output:</a:t>
            </a:r>
            <a:r>
              <a:rPr lang="en-US" sz="2000" dirty="0"/>
              <a:t> Once upon a time, there was a girl who lived in a small village. She dreamed of adventure and one day set off on a journey that changed her life.</a:t>
            </a:r>
          </a:p>
          <a:p>
            <a:endParaRPr lang="en-IN" sz="2000" dirty="0">
              <a:solidFill>
                <a:srgbClr val="000000"/>
              </a:solidFill>
              <a:latin typeface="Calibri" panose="020F0502020204030204" pitchFamily="34" charset="0"/>
            </a:endParaRPr>
          </a:p>
          <a:p>
            <a:r>
              <a:rPr lang="en-US" sz="2000" b="1" dirty="0"/>
              <a:t>Improved Prompt:</a:t>
            </a:r>
            <a:r>
              <a:rPr lang="en-US" sz="2000" dirty="0"/>
              <a:t> </a:t>
            </a:r>
            <a:r>
              <a:rPr lang="en-US" sz="2000" dirty="0">
                <a:solidFill>
                  <a:srgbClr val="00B050"/>
                </a:solidFill>
              </a:rPr>
              <a:t>Write a short story about a young girl who discovers a magical garden in her backyard. Include detailed descriptions and at least three key events in the story.</a:t>
            </a:r>
            <a:endParaRPr lang="en-IN" sz="2000" dirty="0">
              <a:solidFill>
                <a:srgbClr val="00B050"/>
              </a:solidFill>
              <a:latin typeface="Calibri" panose="020F0502020204030204" pitchFamily="34" charset="0"/>
            </a:endParaRPr>
          </a:p>
          <a:p>
            <a:endParaRPr lang="en-IN" sz="2000" dirty="0">
              <a:solidFill>
                <a:srgbClr val="000000"/>
              </a:solidFill>
              <a:latin typeface="Calibri" panose="020F0502020204030204" pitchFamily="34" charset="0"/>
            </a:endParaRPr>
          </a:p>
          <a:p>
            <a:r>
              <a:rPr lang="en-US" sz="2000" b="1" dirty="0"/>
              <a:t>Output:</a:t>
            </a:r>
            <a:r>
              <a:rPr lang="en-US" sz="2000" dirty="0"/>
              <a:t> </a:t>
            </a:r>
            <a:r>
              <a:rPr lang="en-US" sz="2000" dirty="0">
                <a:solidFill>
                  <a:srgbClr val="00B050"/>
                </a:solidFill>
              </a:rPr>
              <a:t>Once upon a time, in the quaint village of Meadowbrook, lived a young girl named Lily. Lily was an adventurous soul, always seeking out hidden corners and forgotten trails. One sunny afternoon, while exploring her backyard, Lily stumbled upon an old, ivy-covered gate she had never seen before.</a:t>
            </a:r>
          </a:p>
          <a:p>
            <a:r>
              <a:rPr lang="en-US" sz="2000" dirty="0">
                <a:solidFill>
                  <a:srgbClr val="00B050"/>
                </a:solidFill>
              </a:rPr>
              <a:t>With a push, the gate creaked open to reveal a breathtaking garden filled with vibrant flowers, sparkling streams, and towering trees. At the heart of the garden stood a majestic tree with a door carved into its trunk. [Detailed descriptions and three key events follow…]</a:t>
            </a:r>
          </a:p>
        </p:txBody>
      </p:sp>
    </p:spTree>
    <p:extLst>
      <p:ext uri="{BB962C8B-B14F-4D97-AF65-F5344CB8AC3E}">
        <p14:creationId xmlns:p14="http://schemas.microsoft.com/office/powerpoint/2010/main" val="400487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60321-0718-89FD-AB40-A2D31B4272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297FD2-E72B-C22E-6D2C-86CCAAA979CC}"/>
              </a:ext>
            </a:extLst>
          </p:cNvPr>
          <p:cNvSpPr txBox="1"/>
          <p:nvPr/>
        </p:nvSpPr>
        <p:spPr>
          <a:xfrm>
            <a:off x="3064427" y="132547"/>
            <a:ext cx="6949082" cy="707886"/>
          </a:xfrm>
          <a:prstGeom prst="rect">
            <a:avLst/>
          </a:prstGeom>
          <a:noFill/>
        </p:spPr>
        <p:txBody>
          <a:bodyPr wrap="none" rtlCol="0">
            <a:spAutoFit/>
          </a:bodyPr>
          <a:lstStyle/>
          <a:p>
            <a:r>
              <a:rPr lang="en-IN" sz="4000" b="1" dirty="0"/>
              <a:t>Common Issues with Prompting</a:t>
            </a:r>
          </a:p>
        </p:txBody>
      </p:sp>
      <p:sp>
        <p:nvSpPr>
          <p:cNvPr id="2" name="TextBox 1">
            <a:extLst>
              <a:ext uri="{FF2B5EF4-FFF2-40B4-BE49-F238E27FC236}">
                <a16:creationId xmlns:a16="http://schemas.microsoft.com/office/drawing/2014/main" id="{7F28B74D-D833-2B1F-D167-A3D017971F25}"/>
              </a:ext>
            </a:extLst>
          </p:cNvPr>
          <p:cNvSpPr txBox="1"/>
          <p:nvPr/>
        </p:nvSpPr>
        <p:spPr>
          <a:xfrm>
            <a:off x="1174043" y="1125787"/>
            <a:ext cx="10092268" cy="523220"/>
          </a:xfrm>
          <a:prstGeom prst="rect">
            <a:avLst/>
          </a:prstGeom>
          <a:noFill/>
        </p:spPr>
        <p:txBody>
          <a:bodyPr wrap="square" rtlCol="0">
            <a:spAutoFit/>
          </a:bodyPr>
          <a:lstStyle/>
          <a:p>
            <a:r>
              <a:rPr lang="en-IN" sz="2800" dirty="0">
                <a:solidFill>
                  <a:srgbClr val="FF0000"/>
                </a:solidFill>
                <a:latin typeface="Calibri" panose="020F0502020204030204" pitchFamily="34" charset="0"/>
              </a:rPr>
              <a:t>Limited Evaluation</a:t>
            </a:r>
          </a:p>
        </p:txBody>
      </p:sp>
      <p:sp>
        <p:nvSpPr>
          <p:cNvPr id="5" name="TextBox 4">
            <a:extLst>
              <a:ext uri="{FF2B5EF4-FFF2-40B4-BE49-F238E27FC236}">
                <a16:creationId xmlns:a16="http://schemas.microsoft.com/office/drawing/2014/main" id="{62031FBA-5627-6392-D9A5-5FC4901CDC03}"/>
              </a:ext>
            </a:extLst>
          </p:cNvPr>
          <p:cNvSpPr txBox="1"/>
          <p:nvPr/>
        </p:nvSpPr>
        <p:spPr>
          <a:xfrm>
            <a:off x="1035633" y="2160138"/>
            <a:ext cx="11006669" cy="1938992"/>
          </a:xfrm>
          <a:prstGeom prst="rect">
            <a:avLst/>
          </a:prstGeom>
          <a:noFill/>
        </p:spPr>
        <p:txBody>
          <a:bodyPr wrap="square">
            <a:spAutoFit/>
          </a:bodyPr>
          <a:lstStyle/>
          <a:p>
            <a:r>
              <a:rPr lang="en-US" sz="2400" b="1" dirty="0"/>
              <a:t>Prompt:</a:t>
            </a:r>
            <a:r>
              <a:rPr lang="en-US" sz="2400" dirty="0"/>
              <a:t> Critique this essay.</a:t>
            </a:r>
          </a:p>
          <a:p>
            <a:r>
              <a:rPr lang="en-US" sz="2400" b="1" dirty="0"/>
              <a:t>Output:</a:t>
            </a:r>
            <a:r>
              <a:rPr lang="en-US" sz="2400" dirty="0"/>
              <a:t> The essay is good.</a:t>
            </a:r>
          </a:p>
          <a:p>
            <a:endParaRPr lang="en-US" sz="2400" dirty="0"/>
          </a:p>
          <a:p>
            <a:r>
              <a:rPr lang="en-US" sz="2400" b="1" dirty="0"/>
              <a:t>Improved Prompt:</a:t>
            </a:r>
            <a:r>
              <a:rPr lang="en-US" sz="2400" dirty="0"/>
              <a:t> </a:t>
            </a:r>
            <a:r>
              <a:rPr lang="en-US" sz="2400" dirty="0">
                <a:solidFill>
                  <a:srgbClr val="00B050"/>
                </a:solidFill>
              </a:rPr>
              <a:t>Critique this essay on the topic of climate change. Provide specific feedback on content, structure, and writing style, and suggest areas for improvement.</a:t>
            </a:r>
          </a:p>
        </p:txBody>
      </p:sp>
    </p:spTree>
    <p:extLst>
      <p:ext uri="{BB962C8B-B14F-4D97-AF65-F5344CB8AC3E}">
        <p14:creationId xmlns:p14="http://schemas.microsoft.com/office/powerpoint/2010/main" val="2375650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5ED6E-DA3B-43D4-D374-79CDA17567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9D9F3F-6F5B-4FA5-70F6-5E3D08C59110}"/>
              </a:ext>
            </a:extLst>
          </p:cNvPr>
          <p:cNvSpPr txBox="1"/>
          <p:nvPr/>
        </p:nvSpPr>
        <p:spPr>
          <a:xfrm>
            <a:off x="3064427" y="132547"/>
            <a:ext cx="6949082" cy="707886"/>
          </a:xfrm>
          <a:prstGeom prst="rect">
            <a:avLst/>
          </a:prstGeom>
          <a:noFill/>
        </p:spPr>
        <p:txBody>
          <a:bodyPr wrap="none" rtlCol="0">
            <a:spAutoFit/>
          </a:bodyPr>
          <a:lstStyle/>
          <a:p>
            <a:r>
              <a:rPr lang="en-IN" sz="4000" b="1" dirty="0"/>
              <a:t>Common Issues with Prompting</a:t>
            </a:r>
          </a:p>
        </p:txBody>
      </p:sp>
      <p:sp>
        <p:nvSpPr>
          <p:cNvPr id="2" name="TextBox 1">
            <a:extLst>
              <a:ext uri="{FF2B5EF4-FFF2-40B4-BE49-F238E27FC236}">
                <a16:creationId xmlns:a16="http://schemas.microsoft.com/office/drawing/2014/main" id="{A4B2B6D0-2D5B-4DD6-7D0B-5AC04E7CC80E}"/>
              </a:ext>
            </a:extLst>
          </p:cNvPr>
          <p:cNvSpPr txBox="1"/>
          <p:nvPr/>
        </p:nvSpPr>
        <p:spPr>
          <a:xfrm>
            <a:off x="891821" y="1011332"/>
            <a:ext cx="10092268" cy="523220"/>
          </a:xfrm>
          <a:prstGeom prst="rect">
            <a:avLst/>
          </a:prstGeom>
          <a:noFill/>
        </p:spPr>
        <p:txBody>
          <a:bodyPr wrap="square" rtlCol="0">
            <a:spAutoFit/>
          </a:bodyPr>
          <a:lstStyle/>
          <a:p>
            <a:r>
              <a:rPr lang="en-IN" sz="2800" dirty="0">
                <a:solidFill>
                  <a:srgbClr val="FF0000"/>
                </a:solidFill>
                <a:latin typeface="Calibri" panose="020F0502020204030204" pitchFamily="34" charset="0"/>
              </a:rPr>
              <a:t>Limited Evaluation</a:t>
            </a:r>
          </a:p>
        </p:txBody>
      </p:sp>
      <p:sp>
        <p:nvSpPr>
          <p:cNvPr id="5" name="TextBox 4">
            <a:extLst>
              <a:ext uri="{FF2B5EF4-FFF2-40B4-BE49-F238E27FC236}">
                <a16:creationId xmlns:a16="http://schemas.microsoft.com/office/drawing/2014/main" id="{9DC3AC06-00ED-26AF-B1EA-00E7676876A2}"/>
              </a:ext>
            </a:extLst>
          </p:cNvPr>
          <p:cNvSpPr txBox="1"/>
          <p:nvPr/>
        </p:nvSpPr>
        <p:spPr>
          <a:xfrm>
            <a:off x="891821" y="1751435"/>
            <a:ext cx="11006669" cy="4524315"/>
          </a:xfrm>
          <a:prstGeom prst="rect">
            <a:avLst/>
          </a:prstGeom>
          <a:noFill/>
        </p:spPr>
        <p:txBody>
          <a:bodyPr wrap="square">
            <a:spAutoFit/>
          </a:bodyPr>
          <a:lstStyle/>
          <a:p>
            <a:r>
              <a:rPr lang="en-US" sz="1600" b="1" dirty="0"/>
              <a:t>Output</a:t>
            </a:r>
            <a:r>
              <a:rPr lang="en-US" sz="1600" b="1" dirty="0">
                <a:solidFill>
                  <a:srgbClr val="00B050"/>
                </a:solidFill>
              </a:rPr>
              <a:t>:</a:t>
            </a:r>
            <a:r>
              <a:rPr lang="en-US" sz="1600" dirty="0">
                <a:solidFill>
                  <a:srgbClr val="00B050"/>
                </a:solidFill>
              </a:rPr>
              <a:t> </a:t>
            </a:r>
            <a:r>
              <a:rPr lang="en-US" sz="1600" b="1" dirty="0">
                <a:solidFill>
                  <a:srgbClr val="00B050"/>
                </a:solidFill>
              </a:rPr>
              <a:t>Critique:</a:t>
            </a:r>
            <a:endParaRPr lang="en-US" sz="1600" dirty="0">
              <a:solidFill>
                <a:srgbClr val="00B050"/>
              </a:solidFill>
            </a:endParaRPr>
          </a:p>
          <a:p>
            <a:r>
              <a:rPr lang="en-US" sz="1600" b="1" dirty="0">
                <a:solidFill>
                  <a:srgbClr val="00B050"/>
                </a:solidFill>
              </a:rPr>
              <a:t>Content:</a:t>
            </a:r>
            <a:endParaRPr lang="en-US" sz="1600" dirty="0">
              <a:solidFill>
                <a:srgbClr val="00B050"/>
              </a:solidFill>
            </a:endParaRPr>
          </a:p>
          <a:p>
            <a:pPr>
              <a:buFont typeface="Arial" panose="020B0604020202020204" pitchFamily="34" charset="0"/>
              <a:buChar char="•"/>
            </a:pPr>
            <a:r>
              <a:rPr lang="en-US" sz="1600" dirty="0">
                <a:solidFill>
                  <a:srgbClr val="00B050"/>
                </a:solidFill>
              </a:rPr>
              <a:t>The essay provides a comprehensive overview of climate change, including its causes and effects. However, it lacks specific examples and data to support the claims made.</a:t>
            </a:r>
          </a:p>
          <a:p>
            <a:pPr>
              <a:buFont typeface="Arial" panose="020B0604020202020204" pitchFamily="34" charset="0"/>
              <a:buChar char="•"/>
            </a:pPr>
            <a:r>
              <a:rPr lang="en-US" sz="1600" dirty="0">
                <a:solidFill>
                  <a:srgbClr val="00B050"/>
                </a:solidFill>
              </a:rPr>
              <a:t>The argument about the economic impact of climate change could be strengthened with more detailed evidence and case studies.</a:t>
            </a:r>
          </a:p>
          <a:p>
            <a:r>
              <a:rPr lang="en-US" sz="1600" b="1" dirty="0">
                <a:solidFill>
                  <a:srgbClr val="00B050"/>
                </a:solidFill>
              </a:rPr>
              <a:t>Structure:</a:t>
            </a:r>
            <a:endParaRPr lang="en-US" sz="1600" dirty="0">
              <a:solidFill>
                <a:srgbClr val="00B050"/>
              </a:solidFill>
            </a:endParaRPr>
          </a:p>
          <a:p>
            <a:pPr>
              <a:buFont typeface="Arial" panose="020B0604020202020204" pitchFamily="34" charset="0"/>
              <a:buChar char="•"/>
            </a:pPr>
            <a:r>
              <a:rPr lang="en-US" sz="1600" dirty="0">
                <a:solidFill>
                  <a:srgbClr val="00B050"/>
                </a:solidFill>
              </a:rPr>
              <a:t>The introduction is engaging and sets the stage well. However, the transition between the second and third paragraphs feels abrupt and could benefit from a smoother connection.</a:t>
            </a:r>
          </a:p>
          <a:p>
            <a:pPr>
              <a:buFont typeface="Arial" panose="020B0604020202020204" pitchFamily="34" charset="0"/>
              <a:buChar char="•"/>
            </a:pPr>
            <a:r>
              <a:rPr lang="en-US" sz="1600" dirty="0">
                <a:solidFill>
                  <a:srgbClr val="00B050"/>
                </a:solidFill>
              </a:rPr>
              <a:t>The conclusion effectively summarizes the main points but could be more impactful by suggesting actionable steps to combat climate change.</a:t>
            </a:r>
          </a:p>
          <a:p>
            <a:r>
              <a:rPr lang="en-US" sz="1600" b="1" dirty="0">
                <a:solidFill>
                  <a:srgbClr val="00B050"/>
                </a:solidFill>
              </a:rPr>
              <a:t>Writing Style:</a:t>
            </a:r>
            <a:endParaRPr lang="en-US" sz="1600" dirty="0">
              <a:solidFill>
                <a:srgbClr val="00B050"/>
              </a:solidFill>
            </a:endParaRPr>
          </a:p>
          <a:p>
            <a:pPr>
              <a:buFont typeface="Arial" panose="020B0604020202020204" pitchFamily="34" charset="0"/>
              <a:buChar char="•"/>
            </a:pPr>
            <a:r>
              <a:rPr lang="en-US" sz="1600" dirty="0">
                <a:solidFill>
                  <a:srgbClr val="00B050"/>
                </a:solidFill>
              </a:rPr>
              <a:t>The writing style is clear and concise, but some sentences are overly complex and could be simplified for better readability.</a:t>
            </a:r>
          </a:p>
          <a:p>
            <a:pPr>
              <a:buFont typeface="Arial" panose="020B0604020202020204" pitchFamily="34" charset="0"/>
              <a:buChar char="•"/>
            </a:pPr>
            <a:r>
              <a:rPr lang="en-US" sz="1600" dirty="0">
                <a:solidFill>
                  <a:srgbClr val="00B050"/>
                </a:solidFill>
              </a:rPr>
              <a:t>The use of passive voice in several sections makes the writing less dynamic. Try to use active voice to create a more engaging narrative.</a:t>
            </a:r>
          </a:p>
          <a:p>
            <a:r>
              <a:rPr lang="en-US" sz="1600" b="1" dirty="0">
                <a:solidFill>
                  <a:srgbClr val="00B050"/>
                </a:solidFill>
              </a:rPr>
              <a:t>Areas for Improvement:</a:t>
            </a:r>
            <a:endParaRPr lang="en-US" sz="1600" dirty="0">
              <a:solidFill>
                <a:srgbClr val="00B050"/>
              </a:solidFill>
            </a:endParaRPr>
          </a:p>
          <a:p>
            <a:pPr>
              <a:buFont typeface="Arial" panose="020B0604020202020204" pitchFamily="34" charset="0"/>
              <a:buChar char="•"/>
            </a:pPr>
            <a:r>
              <a:rPr lang="en-US" sz="1600" dirty="0">
                <a:solidFill>
                  <a:srgbClr val="00B050"/>
                </a:solidFill>
              </a:rPr>
              <a:t>Incorporate specific examples, data, and case studies to support your arguments.</a:t>
            </a:r>
          </a:p>
          <a:p>
            <a:pPr>
              <a:buFont typeface="Arial" panose="020B0604020202020204" pitchFamily="34" charset="0"/>
              <a:buChar char="•"/>
            </a:pPr>
            <a:r>
              <a:rPr lang="en-US" sz="1600" dirty="0">
                <a:solidFill>
                  <a:srgbClr val="00B050"/>
                </a:solidFill>
              </a:rPr>
              <a:t>Work on smooth transitions between paragraphs to maintain a cohesive flow.</a:t>
            </a:r>
          </a:p>
          <a:p>
            <a:pPr>
              <a:buFont typeface="Arial" panose="020B0604020202020204" pitchFamily="34" charset="0"/>
              <a:buChar char="•"/>
            </a:pPr>
            <a:r>
              <a:rPr lang="en-US" sz="1600" dirty="0">
                <a:solidFill>
                  <a:srgbClr val="00B050"/>
                </a:solidFill>
              </a:rPr>
              <a:t>Simplify complex sentences and use active voice to enhance readability and engagement.</a:t>
            </a:r>
          </a:p>
        </p:txBody>
      </p:sp>
    </p:spTree>
    <p:extLst>
      <p:ext uri="{BB962C8B-B14F-4D97-AF65-F5344CB8AC3E}">
        <p14:creationId xmlns:p14="http://schemas.microsoft.com/office/powerpoint/2010/main" val="2334052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ABE1-8B20-309C-CFD3-90D4A9AB4D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12546F-40A2-F1EE-57F3-DC7A66F38444}"/>
              </a:ext>
            </a:extLst>
          </p:cNvPr>
          <p:cNvSpPr txBox="1"/>
          <p:nvPr/>
        </p:nvSpPr>
        <p:spPr>
          <a:xfrm>
            <a:off x="3064427" y="132547"/>
            <a:ext cx="6949082" cy="707886"/>
          </a:xfrm>
          <a:prstGeom prst="rect">
            <a:avLst/>
          </a:prstGeom>
          <a:noFill/>
        </p:spPr>
        <p:txBody>
          <a:bodyPr wrap="none" rtlCol="0">
            <a:spAutoFit/>
          </a:bodyPr>
          <a:lstStyle/>
          <a:p>
            <a:r>
              <a:rPr lang="en-IN" sz="4000" b="1" dirty="0"/>
              <a:t>Common Issues with Prompting</a:t>
            </a:r>
          </a:p>
        </p:txBody>
      </p:sp>
      <p:sp>
        <p:nvSpPr>
          <p:cNvPr id="2" name="TextBox 1">
            <a:extLst>
              <a:ext uri="{FF2B5EF4-FFF2-40B4-BE49-F238E27FC236}">
                <a16:creationId xmlns:a16="http://schemas.microsoft.com/office/drawing/2014/main" id="{1481E49A-22D0-7843-6EF8-170B8B8B195A}"/>
              </a:ext>
            </a:extLst>
          </p:cNvPr>
          <p:cNvSpPr txBox="1"/>
          <p:nvPr/>
        </p:nvSpPr>
        <p:spPr>
          <a:xfrm>
            <a:off x="1049866" y="1182231"/>
            <a:ext cx="10092268" cy="523220"/>
          </a:xfrm>
          <a:prstGeom prst="rect">
            <a:avLst/>
          </a:prstGeom>
          <a:noFill/>
        </p:spPr>
        <p:txBody>
          <a:bodyPr wrap="square" rtlCol="0">
            <a:spAutoFit/>
          </a:bodyPr>
          <a:lstStyle/>
          <a:p>
            <a:r>
              <a:rPr lang="en-IN" sz="2800" dirty="0">
                <a:solidFill>
                  <a:srgbClr val="FF0000"/>
                </a:solidFill>
                <a:latin typeface="Calibri" panose="020F0502020204030204" pitchFamily="34" charset="0"/>
              </a:rPr>
              <a:t>No task division</a:t>
            </a:r>
          </a:p>
        </p:txBody>
      </p:sp>
      <p:sp>
        <p:nvSpPr>
          <p:cNvPr id="5" name="TextBox 4">
            <a:extLst>
              <a:ext uri="{FF2B5EF4-FFF2-40B4-BE49-F238E27FC236}">
                <a16:creationId xmlns:a16="http://schemas.microsoft.com/office/drawing/2014/main" id="{8E1448D7-184B-807B-1618-184A90C33DDA}"/>
              </a:ext>
            </a:extLst>
          </p:cNvPr>
          <p:cNvSpPr txBox="1"/>
          <p:nvPr/>
        </p:nvSpPr>
        <p:spPr>
          <a:xfrm>
            <a:off x="962257" y="1852557"/>
            <a:ext cx="4727343" cy="1938992"/>
          </a:xfrm>
          <a:prstGeom prst="rect">
            <a:avLst/>
          </a:prstGeom>
          <a:noFill/>
        </p:spPr>
        <p:txBody>
          <a:bodyPr wrap="square">
            <a:spAutoFit/>
          </a:bodyPr>
          <a:lstStyle/>
          <a:p>
            <a:r>
              <a:rPr lang="en-US" sz="2400" b="1" dirty="0"/>
              <a:t>Prompt:</a:t>
            </a:r>
            <a:r>
              <a:rPr lang="en-US" sz="2400" dirty="0"/>
              <a:t> Describe the process of photosynthesis.</a:t>
            </a:r>
          </a:p>
          <a:p>
            <a:r>
              <a:rPr lang="en-US" sz="2400" b="1" dirty="0"/>
              <a:t>Output:</a:t>
            </a:r>
            <a:r>
              <a:rPr lang="en-US" sz="2400" dirty="0"/>
              <a:t> Photosynthesis is the process by which green plants convert sunlight into energy.</a:t>
            </a:r>
          </a:p>
        </p:txBody>
      </p:sp>
      <p:sp>
        <p:nvSpPr>
          <p:cNvPr id="9" name="TextBox 8">
            <a:extLst>
              <a:ext uri="{FF2B5EF4-FFF2-40B4-BE49-F238E27FC236}">
                <a16:creationId xmlns:a16="http://schemas.microsoft.com/office/drawing/2014/main" id="{674E1B5F-6C16-2150-3B6A-7A7A9FB94B16}"/>
              </a:ext>
            </a:extLst>
          </p:cNvPr>
          <p:cNvSpPr txBox="1"/>
          <p:nvPr/>
        </p:nvSpPr>
        <p:spPr>
          <a:xfrm>
            <a:off x="5870223" y="1160059"/>
            <a:ext cx="6096000" cy="5262979"/>
          </a:xfrm>
          <a:prstGeom prst="rect">
            <a:avLst/>
          </a:prstGeom>
          <a:noFill/>
        </p:spPr>
        <p:txBody>
          <a:bodyPr wrap="square">
            <a:spAutoFit/>
          </a:bodyPr>
          <a:lstStyle/>
          <a:p>
            <a:r>
              <a:rPr lang="en-US" sz="1600" b="1" dirty="0"/>
              <a:t>Output:</a:t>
            </a:r>
            <a:r>
              <a:rPr lang="en-US" sz="1600" dirty="0"/>
              <a:t> </a:t>
            </a:r>
            <a:r>
              <a:rPr lang="en-US" sz="1600" b="1" dirty="0">
                <a:solidFill>
                  <a:srgbClr val="00B050"/>
                </a:solidFill>
              </a:rPr>
              <a:t>Photosynthesis Process:</a:t>
            </a:r>
            <a:endParaRPr lang="en-US" sz="1600" dirty="0">
              <a:solidFill>
                <a:srgbClr val="00B050"/>
              </a:solidFill>
            </a:endParaRPr>
          </a:p>
          <a:p>
            <a:pPr>
              <a:buFont typeface="+mj-lt"/>
              <a:buAutoNum type="arabicPeriod"/>
            </a:pPr>
            <a:r>
              <a:rPr lang="en-US" sz="1600" b="1" dirty="0">
                <a:solidFill>
                  <a:srgbClr val="00B050"/>
                </a:solidFill>
              </a:rPr>
              <a:t>Light Absorption:</a:t>
            </a:r>
            <a:endParaRPr lang="en-US" sz="1600" dirty="0">
              <a:solidFill>
                <a:srgbClr val="00B050"/>
              </a:solidFill>
            </a:endParaRPr>
          </a:p>
          <a:p>
            <a:pPr marL="742950" lvl="1" indent="-285750">
              <a:buFont typeface="+mj-lt"/>
              <a:buAutoNum type="arabicPeriod"/>
            </a:pPr>
            <a:r>
              <a:rPr lang="en-US" sz="1600" dirty="0">
                <a:solidFill>
                  <a:srgbClr val="00B050"/>
                </a:solidFill>
              </a:rPr>
              <a:t>Chlorophyll, the green pigment in plant leaves, absorbs light energy from the sun.</a:t>
            </a:r>
          </a:p>
          <a:p>
            <a:pPr>
              <a:buFont typeface="+mj-lt"/>
              <a:buAutoNum type="arabicPeriod"/>
            </a:pPr>
            <a:r>
              <a:rPr lang="en-US" sz="1600" b="1" dirty="0">
                <a:solidFill>
                  <a:srgbClr val="00B050"/>
                </a:solidFill>
              </a:rPr>
              <a:t>Water Splitting (Photolysis):</a:t>
            </a:r>
            <a:endParaRPr lang="en-US" sz="1600" dirty="0">
              <a:solidFill>
                <a:srgbClr val="00B050"/>
              </a:solidFill>
            </a:endParaRPr>
          </a:p>
          <a:p>
            <a:pPr marL="742950" lvl="1" indent="-285750">
              <a:buFont typeface="+mj-lt"/>
              <a:buAutoNum type="arabicPeriod"/>
            </a:pPr>
            <a:r>
              <a:rPr lang="en-US" sz="1600" dirty="0">
                <a:solidFill>
                  <a:srgbClr val="00B050"/>
                </a:solidFill>
              </a:rPr>
              <a:t>Light energy splits water molecules (H₂O) into oxygen (O₂), protons (H⁺), and electrons (e⁻).</a:t>
            </a:r>
          </a:p>
          <a:p>
            <a:pPr>
              <a:buFont typeface="+mj-lt"/>
              <a:buAutoNum type="arabicPeriod"/>
            </a:pPr>
            <a:r>
              <a:rPr lang="en-US" sz="1600" b="1" dirty="0">
                <a:solidFill>
                  <a:srgbClr val="00B050"/>
                </a:solidFill>
              </a:rPr>
              <a:t>Oxygen Release:</a:t>
            </a:r>
            <a:endParaRPr lang="en-US" sz="1600" dirty="0">
              <a:solidFill>
                <a:srgbClr val="00B050"/>
              </a:solidFill>
            </a:endParaRPr>
          </a:p>
          <a:p>
            <a:pPr marL="742950" lvl="1" indent="-285750">
              <a:buFont typeface="+mj-lt"/>
              <a:buAutoNum type="arabicPeriod"/>
            </a:pPr>
            <a:r>
              <a:rPr lang="en-US" sz="1600" dirty="0">
                <a:solidFill>
                  <a:srgbClr val="00B050"/>
                </a:solidFill>
              </a:rPr>
              <a:t>The oxygen produced during photolysis is released into the atmosphere as a byproduct.</a:t>
            </a:r>
          </a:p>
          <a:p>
            <a:pPr>
              <a:buFont typeface="+mj-lt"/>
              <a:buAutoNum type="arabicPeriod"/>
            </a:pPr>
            <a:r>
              <a:rPr lang="en-US" sz="1600" b="1" dirty="0">
                <a:solidFill>
                  <a:srgbClr val="00B050"/>
                </a:solidFill>
              </a:rPr>
              <a:t>Energy Conversion (Light-Dependent Reactions):</a:t>
            </a:r>
            <a:endParaRPr lang="en-US" sz="1600" dirty="0">
              <a:solidFill>
                <a:srgbClr val="00B050"/>
              </a:solidFill>
            </a:endParaRPr>
          </a:p>
          <a:p>
            <a:pPr marL="742950" lvl="1" indent="-285750">
              <a:buFont typeface="+mj-lt"/>
              <a:buAutoNum type="arabicPeriod"/>
            </a:pPr>
            <a:r>
              <a:rPr lang="en-US" sz="1600" dirty="0">
                <a:solidFill>
                  <a:srgbClr val="00B050"/>
                </a:solidFill>
              </a:rPr>
              <a:t>The absorbed light energy is converted into chemical energy in the form of ATP (adenosine triphosphate) and NADPH (nicotinamide adenine dinucleotide phosphate).</a:t>
            </a:r>
          </a:p>
          <a:p>
            <a:pPr>
              <a:buFont typeface="+mj-lt"/>
              <a:buAutoNum type="arabicPeriod"/>
            </a:pPr>
            <a:r>
              <a:rPr lang="en-US" sz="1600" b="1" dirty="0">
                <a:solidFill>
                  <a:srgbClr val="00B050"/>
                </a:solidFill>
              </a:rPr>
              <a:t>Carbon Fixation (Calvin Cycle):</a:t>
            </a:r>
            <a:endParaRPr lang="en-US" sz="1600" dirty="0">
              <a:solidFill>
                <a:srgbClr val="00B050"/>
              </a:solidFill>
            </a:endParaRPr>
          </a:p>
          <a:p>
            <a:pPr marL="742950" lvl="1" indent="-285750">
              <a:buFont typeface="+mj-lt"/>
              <a:buAutoNum type="arabicPeriod"/>
            </a:pPr>
            <a:r>
              <a:rPr lang="en-US" sz="1600" dirty="0">
                <a:solidFill>
                  <a:srgbClr val="00B050"/>
                </a:solidFill>
              </a:rPr>
              <a:t>In the stroma of the chloroplasts, ATP and NADPH are used to convert carbon dioxide (CO₂) from the air into glucose (C₆H₁₂O₆) through a series of chemical reactions.</a:t>
            </a:r>
          </a:p>
          <a:p>
            <a:pPr>
              <a:buFont typeface="+mj-lt"/>
              <a:buAutoNum type="arabicPeriod"/>
            </a:pPr>
            <a:r>
              <a:rPr lang="en-US" sz="1600" b="1" dirty="0">
                <a:solidFill>
                  <a:srgbClr val="00B050"/>
                </a:solidFill>
              </a:rPr>
              <a:t>Glucose Production:</a:t>
            </a:r>
            <a:endParaRPr lang="en-US" sz="1600" dirty="0">
              <a:solidFill>
                <a:srgbClr val="00B050"/>
              </a:solidFill>
            </a:endParaRPr>
          </a:p>
          <a:p>
            <a:pPr marL="742950" lvl="1" indent="-285750">
              <a:buFont typeface="+mj-lt"/>
              <a:buAutoNum type="arabicPeriod"/>
            </a:pPr>
            <a:r>
              <a:rPr lang="en-US" sz="1600" dirty="0">
                <a:solidFill>
                  <a:srgbClr val="00B050"/>
                </a:solidFill>
              </a:rPr>
              <a:t>The end product, glucose, serves as an energy source for the plant and as a building block for growth and development.</a:t>
            </a:r>
          </a:p>
        </p:txBody>
      </p:sp>
      <p:sp>
        <p:nvSpPr>
          <p:cNvPr id="11" name="TextBox 10">
            <a:extLst>
              <a:ext uri="{FF2B5EF4-FFF2-40B4-BE49-F238E27FC236}">
                <a16:creationId xmlns:a16="http://schemas.microsoft.com/office/drawing/2014/main" id="{303CA9BC-341B-B8A9-A0CD-253CFE1A66DE}"/>
              </a:ext>
            </a:extLst>
          </p:cNvPr>
          <p:cNvSpPr txBox="1"/>
          <p:nvPr/>
        </p:nvSpPr>
        <p:spPr>
          <a:xfrm>
            <a:off x="962257" y="4004459"/>
            <a:ext cx="4535432" cy="1569660"/>
          </a:xfrm>
          <a:prstGeom prst="rect">
            <a:avLst/>
          </a:prstGeom>
          <a:noFill/>
        </p:spPr>
        <p:txBody>
          <a:bodyPr wrap="square">
            <a:spAutoFit/>
          </a:bodyPr>
          <a:lstStyle/>
          <a:p>
            <a:r>
              <a:rPr lang="en-US" sz="2400" b="1" dirty="0"/>
              <a:t>Improved Prompt:</a:t>
            </a:r>
            <a:r>
              <a:rPr lang="en-US" sz="2400" dirty="0"/>
              <a:t> Describe the process of photosynthesis in detail, breaking it down into individual steps.</a:t>
            </a:r>
          </a:p>
        </p:txBody>
      </p:sp>
    </p:spTree>
    <p:extLst>
      <p:ext uri="{BB962C8B-B14F-4D97-AF65-F5344CB8AC3E}">
        <p14:creationId xmlns:p14="http://schemas.microsoft.com/office/powerpoint/2010/main" val="3627760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5F19C-450F-9C64-CAAF-9FF0E95796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4E9DE1-EDDF-3E04-3A5C-20847F3A13C9}"/>
              </a:ext>
            </a:extLst>
          </p:cNvPr>
          <p:cNvSpPr txBox="1"/>
          <p:nvPr/>
        </p:nvSpPr>
        <p:spPr>
          <a:xfrm>
            <a:off x="3064427" y="132547"/>
            <a:ext cx="6130011" cy="707886"/>
          </a:xfrm>
          <a:prstGeom prst="rect">
            <a:avLst/>
          </a:prstGeom>
          <a:noFill/>
        </p:spPr>
        <p:txBody>
          <a:bodyPr wrap="none" rtlCol="0">
            <a:spAutoFit/>
          </a:bodyPr>
          <a:lstStyle/>
          <a:p>
            <a:r>
              <a:rPr lang="en-IN" sz="4000" b="1" dirty="0"/>
              <a:t>Five Principles of Prompting</a:t>
            </a:r>
          </a:p>
        </p:txBody>
      </p:sp>
      <p:sp>
        <p:nvSpPr>
          <p:cNvPr id="10" name="TextBox 9">
            <a:extLst>
              <a:ext uri="{FF2B5EF4-FFF2-40B4-BE49-F238E27FC236}">
                <a16:creationId xmlns:a16="http://schemas.microsoft.com/office/drawing/2014/main" id="{C0F44340-1D2B-3346-5E1B-E22C98CFA18F}"/>
              </a:ext>
            </a:extLst>
          </p:cNvPr>
          <p:cNvSpPr txBox="1"/>
          <p:nvPr/>
        </p:nvSpPr>
        <p:spPr>
          <a:xfrm>
            <a:off x="1309510" y="1041023"/>
            <a:ext cx="8523112" cy="5632311"/>
          </a:xfrm>
          <a:prstGeom prst="rect">
            <a:avLst/>
          </a:prstGeom>
          <a:noFill/>
        </p:spPr>
        <p:txBody>
          <a:bodyPr wrap="square">
            <a:spAutoFit/>
          </a:bodyPr>
          <a:lstStyle/>
          <a:p>
            <a:r>
              <a:rPr lang="en-US" sz="2400" b="1" dirty="0"/>
              <a:t>Give directions</a:t>
            </a:r>
          </a:p>
          <a:p>
            <a:r>
              <a:rPr lang="en-US" sz="2400" dirty="0"/>
              <a:t>Describe the desired style in detail, or reference a relevant persona </a:t>
            </a:r>
          </a:p>
          <a:p>
            <a:endParaRPr lang="en-US" sz="2400" dirty="0"/>
          </a:p>
          <a:p>
            <a:r>
              <a:rPr lang="en-US" sz="2400" b="1" dirty="0"/>
              <a:t>Specify Format:  </a:t>
            </a:r>
            <a:r>
              <a:rPr lang="en-US" sz="2400" dirty="0"/>
              <a:t>Define what rules to follow, and the required structure of the response </a:t>
            </a:r>
          </a:p>
          <a:p>
            <a:endParaRPr lang="en-US" sz="2400" dirty="0"/>
          </a:p>
          <a:p>
            <a:r>
              <a:rPr lang="en-US" sz="2400" b="1" dirty="0"/>
              <a:t>Provide Examples:  </a:t>
            </a:r>
            <a:r>
              <a:rPr lang="en-US" sz="2400" dirty="0"/>
              <a:t>Insert a diverse set of test cases where the task was done correctly </a:t>
            </a:r>
          </a:p>
          <a:p>
            <a:endParaRPr lang="en-US" sz="2400" dirty="0"/>
          </a:p>
          <a:p>
            <a:r>
              <a:rPr lang="en-US" sz="2400" b="1" dirty="0"/>
              <a:t>Evaluate Quality: </a:t>
            </a:r>
            <a:r>
              <a:rPr lang="en-US" sz="2400" dirty="0"/>
              <a:t>Identify errors and rate responses, testing what drives performance. </a:t>
            </a:r>
          </a:p>
          <a:p>
            <a:endParaRPr lang="en-US" sz="2400" dirty="0"/>
          </a:p>
          <a:p>
            <a:r>
              <a:rPr lang="en-US" sz="2400" b="1" dirty="0"/>
              <a:t>Divide Labor: </a:t>
            </a:r>
            <a:r>
              <a:rPr lang="en-US" sz="2400" dirty="0"/>
              <a:t>Split tasks into multiple steps, chained together for complex goals</a:t>
            </a:r>
          </a:p>
          <a:p>
            <a:endParaRPr lang="en-US" sz="2400" dirty="0"/>
          </a:p>
        </p:txBody>
      </p:sp>
      <p:sp>
        <p:nvSpPr>
          <p:cNvPr id="13" name="TextBox 12">
            <a:extLst>
              <a:ext uri="{FF2B5EF4-FFF2-40B4-BE49-F238E27FC236}">
                <a16:creationId xmlns:a16="http://schemas.microsoft.com/office/drawing/2014/main" id="{DAEDE447-1598-3D77-E497-36AB9401CCCE}"/>
              </a:ext>
            </a:extLst>
          </p:cNvPr>
          <p:cNvSpPr txBox="1"/>
          <p:nvPr/>
        </p:nvSpPr>
        <p:spPr>
          <a:xfrm>
            <a:off x="50148" y="6488668"/>
            <a:ext cx="12158568" cy="369332"/>
          </a:xfrm>
          <a:prstGeom prst="rect">
            <a:avLst/>
          </a:prstGeom>
          <a:noFill/>
        </p:spPr>
        <p:txBody>
          <a:bodyPr wrap="square">
            <a:spAutoFit/>
          </a:bodyPr>
          <a:lstStyle/>
          <a:p>
            <a:r>
              <a:rPr lang="en-US" dirty="0"/>
              <a:t>Phoenix, James; Taylor, Mike. Prompt Engineering for Generative AI (pp. 21-22). O'Reilly Media. Kindle Edition. </a:t>
            </a:r>
            <a:endParaRPr lang="en-IN" dirty="0"/>
          </a:p>
        </p:txBody>
      </p:sp>
    </p:spTree>
    <p:extLst>
      <p:ext uri="{BB962C8B-B14F-4D97-AF65-F5344CB8AC3E}">
        <p14:creationId xmlns:p14="http://schemas.microsoft.com/office/powerpoint/2010/main" val="3095025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81122-7221-240C-9101-53EE6D3814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30005F-EC68-8787-366B-E431FD4DAFFC}"/>
              </a:ext>
            </a:extLst>
          </p:cNvPr>
          <p:cNvSpPr txBox="1"/>
          <p:nvPr/>
        </p:nvSpPr>
        <p:spPr>
          <a:xfrm>
            <a:off x="2691894" y="148471"/>
            <a:ext cx="7499938" cy="707886"/>
          </a:xfrm>
          <a:prstGeom prst="rect">
            <a:avLst/>
          </a:prstGeom>
          <a:noFill/>
        </p:spPr>
        <p:txBody>
          <a:bodyPr wrap="none" rtlCol="0">
            <a:spAutoFit/>
          </a:bodyPr>
          <a:lstStyle/>
          <a:p>
            <a:r>
              <a:rPr lang="en-IN" sz="4000" b="1" dirty="0"/>
              <a:t>Research paper on climate change</a:t>
            </a:r>
          </a:p>
        </p:txBody>
      </p:sp>
      <p:sp>
        <p:nvSpPr>
          <p:cNvPr id="3" name="TextBox 2">
            <a:extLst>
              <a:ext uri="{FF2B5EF4-FFF2-40B4-BE49-F238E27FC236}">
                <a16:creationId xmlns:a16="http://schemas.microsoft.com/office/drawing/2014/main" id="{B58873BC-4D72-A8A9-4974-C7307C5C53DA}"/>
              </a:ext>
            </a:extLst>
          </p:cNvPr>
          <p:cNvSpPr txBox="1"/>
          <p:nvPr/>
        </p:nvSpPr>
        <p:spPr>
          <a:xfrm>
            <a:off x="901076" y="1084071"/>
            <a:ext cx="9290756" cy="5355312"/>
          </a:xfrm>
          <a:prstGeom prst="rect">
            <a:avLst/>
          </a:prstGeom>
          <a:noFill/>
        </p:spPr>
        <p:txBody>
          <a:bodyPr wrap="square">
            <a:spAutoFit/>
          </a:bodyPr>
          <a:lstStyle/>
          <a:p>
            <a:r>
              <a:rPr lang="en-US" dirty="0"/>
              <a:t>"Write a research paper on the impact of climate change on polar ice caps. Follow these steps: First, outline the structure of the paper (Introduction, Main Points, Conclusion). Second, write an introduction with a clear thesis statement. Third, provide three main points with supporting evidence. Fourth, write a conclusion summarizing the findings. Use APA format for citations. Here is an example of the outline:</a:t>
            </a:r>
          </a:p>
          <a:p>
            <a:endParaRPr lang="en-US" dirty="0"/>
          </a:p>
          <a:p>
            <a:r>
              <a:rPr lang="en-US" dirty="0"/>
              <a:t>1. Introduction</a:t>
            </a:r>
          </a:p>
          <a:p>
            <a:r>
              <a:rPr lang="en-US" dirty="0"/>
              <a:t>   - Definition of climate change</a:t>
            </a:r>
          </a:p>
          <a:p>
            <a:r>
              <a:rPr lang="en-US" dirty="0"/>
              <a:t>   - Thesis statement: The impact of climate change on polar ice caps is significant and concerning.</a:t>
            </a:r>
          </a:p>
          <a:p>
            <a:r>
              <a:rPr lang="en-US" dirty="0"/>
              <a:t>2. Main Points</a:t>
            </a:r>
          </a:p>
          <a:p>
            <a:r>
              <a:rPr lang="en-US" dirty="0"/>
              <a:t>   - Melting ice caps and rising sea levels</a:t>
            </a:r>
          </a:p>
          <a:p>
            <a:r>
              <a:rPr lang="en-US" dirty="0"/>
              <a:t>   - Impact on Arctic wildlife</a:t>
            </a:r>
          </a:p>
          <a:p>
            <a:r>
              <a:rPr lang="en-US" dirty="0"/>
              <a:t>   - Global consequences and human impact</a:t>
            </a:r>
          </a:p>
          <a:p>
            <a:r>
              <a:rPr lang="en-US" dirty="0"/>
              <a:t>3. Conclusion</a:t>
            </a:r>
          </a:p>
          <a:p>
            <a:r>
              <a:rPr lang="en-US" dirty="0"/>
              <a:t>   - Summary of key points</a:t>
            </a:r>
          </a:p>
          <a:p>
            <a:r>
              <a:rPr lang="en-US" dirty="0"/>
              <a:t>   - Call to action for climate awareness</a:t>
            </a:r>
          </a:p>
          <a:p>
            <a:endParaRPr lang="en-US" dirty="0"/>
          </a:p>
          <a:p>
            <a:r>
              <a:rPr lang="en-US" dirty="0"/>
              <a:t>Evaluate the quality based on clarity, coherence, and accuracy of information. Divide labor by working on each section sequentially."</a:t>
            </a:r>
            <a:endParaRPr lang="en-IN" dirty="0"/>
          </a:p>
        </p:txBody>
      </p:sp>
    </p:spTree>
    <p:extLst>
      <p:ext uri="{BB962C8B-B14F-4D97-AF65-F5344CB8AC3E}">
        <p14:creationId xmlns:p14="http://schemas.microsoft.com/office/powerpoint/2010/main" val="2876907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7B657-E6FC-1496-3D1C-4872EA603C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3CA49B-3F60-0F6C-5EF9-C857D5A11EBC}"/>
              </a:ext>
            </a:extLst>
          </p:cNvPr>
          <p:cNvSpPr txBox="1"/>
          <p:nvPr/>
        </p:nvSpPr>
        <p:spPr>
          <a:xfrm>
            <a:off x="2691895" y="148471"/>
            <a:ext cx="7499938" cy="1077218"/>
          </a:xfrm>
          <a:prstGeom prst="rect">
            <a:avLst/>
          </a:prstGeom>
          <a:noFill/>
        </p:spPr>
        <p:txBody>
          <a:bodyPr wrap="square" rtlCol="0">
            <a:spAutoFit/>
          </a:bodyPr>
          <a:lstStyle/>
          <a:p>
            <a:r>
              <a:rPr lang="en-US" sz="3200" b="1" dirty="0"/>
              <a:t>Creating a Marketing Campaign for a New Product Launch</a:t>
            </a:r>
            <a:endParaRPr lang="en-IN" sz="3200" b="1" dirty="0"/>
          </a:p>
        </p:txBody>
      </p:sp>
      <p:sp>
        <p:nvSpPr>
          <p:cNvPr id="5" name="TextBox 4">
            <a:extLst>
              <a:ext uri="{FF2B5EF4-FFF2-40B4-BE49-F238E27FC236}">
                <a16:creationId xmlns:a16="http://schemas.microsoft.com/office/drawing/2014/main" id="{AF0EC617-2E75-59F4-50FF-5E87EA0DCA5F}"/>
              </a:ext>
            </a:extLst>
          </p:cNvPr>
          <p:cNvSpPr txBox="1"/>
          <p:nvPr/>
        </p:nvSpPr>
        <p:spPr>
          <a:xfrm>
            <a:off x="857955" y="1671093"/>
            <a:ext cx="9471378" cy="3970318"/>
          </a:xfrm>
          <a:prstGeom prst="rect">
            <a:avLst/>
          </a:prstGeom>
          <a:noFill/>
        </p:spPr>
        <p:txBody>
          <a:bodyPr wrap="square">
            <a:spAutoFit/>
          </a:bodyPr>
          <a:lstStyle/>
          <a:p>
            <a:r>
              <a:rPr lang="en-US" dirty="0"/>
              <a:t>"Develop a marketing campaign for the launch of a new eco-friendly water bottle. Follow these steps: First, identify the target audience and key messages. Second, create a detailed plan for social media, email marketing, and in-store promotions. Third, design sample posts and emails. Fourth, outline the promotional activities. Use a structured format for each section. Here is an example of the social media plan:</a:t>
            </a:r>
          </a:p>
          <a:p>
            <a:endParaRPr lang="en-US" dirty="0"/>
          </a:p>
          <a:p>
            <a:r>
              <a:rPr lang="en-IN" dirty="0"/>
              <a:t>Social Media Plan:</a:t>
            </a:r>
          </a:p>
          <a:p>
            <a:r>
              <a:rPr lang="en-IN" dirty="0"/>
              <a:t>- Target Audience: Young adults aged 18-35, environmentally conscious</a:t>
            </a:r>
          </a:p>
          <a:p>
            <a:r>
              <a:rPr lang="en-IN" dirty="0"/>
              <a:t>- Key Messages: Sustainable, reusable, stylish</a:t>
            </a:r>
          </a:p>
          <a:p>
            <a:r>
              <a:rPr lang="en-IN" dirty="0"/>
              <a:t>- Platforms: Instagram, Facebook, Twitter</a:t>
            </a:r>
          </a:p>
          <a:p>
            <a:r>
              <a:rPr lang="en-IN" dirty="0"/>
              <a:t>- Content: Engaging posts, influencer partnerships, user-generated content</a:t>
            </a:r>
          </a:p>
          <a:p>
            <a:endParaRPr lang="en-US" dirty="0"/>
          </a:p>
          <a:p>
            <a:r>
              <a:rPr lang="en-US" dirty="0"/>
              <a:t>Evaluate the quality based on creativity, engagement, and alignment with brand values. Divide labor by working on each component of the campaign step-by-step."</a:t>
            </a:r>
            <a:endParaRPr lang="en-IN" dirty="0"/>
          </a:p>
        </p:txBody>
      </p:sp>
    </p:spTree>
    <p:extLst>
      <p:ext uri="{BB962C8B-B14F-4D97-AF65-F5344CB8AC3E}">
        <p14:creationId xmlns:p14="http://schemas.microsoft.com/office/powerpoint/2010/main" val="10515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9DEF9-9DDD-120E-6FB2-F10890D3FB6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4482D8-A75E-D627-4763-E912FA34C1DE}"/>
              </a:ext>
            </a:extLst>
          </p:cNvPr>
          <p:cNvSpPr txBox="1"/>
          <p:nvPr/>
        </p:nvSpPr>
        <p:spPr>
          <a:xfrm>
            <a:off x="3786917" y="159760"/>
            <a:ext cx="7499938" cy="584775"/>
          </a:xfrm>
          <a:prstGeom prst="rect">
            <a:avLst/>
          </a:prstGeom>
          <a:noFill/>
        </p:spPr>
        <p:txBody>
          <a:bodyPr wrap="square" rtlCol="0">
            <a:spAutoFit/>
          </a:bodyPr>
          <a:lstStyle/>
          <a:p>
            <a:r>
              <a:rPr lang="en-US" sz="3200" b="1" dirty="0"/>
              <a:t>Organizing a Community Event</a:t>
            </a:r>
            <a:endParaRPr lang="en-IN" sz="3200" b="1" dirty="0"/>
          </a:p>
        </p:txBody>
      </p:sp>
      <p:sp>
        <p:nvSpPr>
          <p:cNvPr id="3" name="TextBox 2">
            <a:extLst>
              <a:ext uri="{FF2B5EF4-FFF2-40B4-BE49-F238E27FC236}">
                <a16:creationId xmlns:a16="http://schemas.microsoft.com/office/drawing/2014/main" id="{46C8AF9E-C8AA-B178-EB9A-7FF6B0A222D1}"/>
              </a:ext>
            </a:extLst>
          </p:cNvPr>
          <p:cNvSpPr txBox="1"/>
          <p:nvPr/>
        </p:nvSpPr>
        <p:spPr>
          <a:xfrm>
            <a:off x="1117599" y="1358037"/>
            <a:ext cx="9177867" cy="4801314"/>
          </a:xfrm>
          <a:prstGeom prst="rect">
            <a:avLst/>
          </a:prstGeom>
          <a:noFill/>
        </p:spPr>
        <p:txBody>
          <a:bodyPr wrap="square">
            <a:spAutoFit/>
          </a:bodyPr>
          <a:lstStyle/>
          <a:p>
            <a:r>
              <a:rPr lang="en-US" dirty="0"/>
              <a:t>"Plan a community event to promote local artisans and crafts. Follow these steps: First, define the event's purpose and goals. Second, create a timeline with key tasks and deadlines. Third, develop a budget and allocate resources. Fourth, plan promotional activities. Use a Gantt chart to organize tasks. Here is an example of the timeline:</a:t>
            </a:r>
          </a:p>
          <a:p>
            <a:endParaRPr lang="en-US" dirty="0"/>
          </a:p>
          <a:p>
            <a:r>
              <a:rPr lang="en-US" dirty="0"/>
              <a:t>Week 1: Define event purpose and goals</a:t>
            </a:r>
          </a:p>
          <a:p>
            <a:r>
              <a:rPr lang="en-US" dirty="0"/>
              <a:t>Week 2: Select date and venue</a:t>
            </a:r>
          </a:p>
          <a:p>
            <a:r>
              <a:rPr lang="en-US" dirty="0"/>
              <a:t>Week 3: Create budget</a:t>
            </a:r>
          </a:p>
          <a:p>
            <a:r>
              <a:rPr lang="en-US" dirty="0"/>
              <a:t>Week 4: Plan agenda and activities</a:t>
            </a:r>
          </a:p>
          <a:p>
            <a:r>
              <a:rPr lang="en-US" dirty="0"/>
              <a:t>Week 5: Promote event</a:t>
            </a:r>
          </a:p>
          <a:p>
            <a:r>
              <a:rPr lang="en-US" dirty="0"/>
              <a:t>Week 6: Coordinate logistics</a:t>
            </a:r>
          </a:p>
          <a:p>
            <a:r>
              <a:rPr lang="en-US" dirty="0"/>
              <a:t>Week 7: Manage event day</a:t>
            </a:r>
          </a:p>
          <a:p>
            <a:r>
              <a:rPr lang="en-US" dirty="0"/>
              <a:t>Week 8: Follow up and evaluate</a:t>
            </a:r>
          </a:p>
          <a:p>
            <a:endParaRPr lang="en-US" dirty="0"/>
          </a:p>
          <a:p>
            <a:endParaRPr lang="en-US" dirty="0"/>
          </a:p>
          <a:p>
            <a:r>
              <a:rPr lang="en-US" dirty="0"/>
              <a:t>Evaluate the quality based on feasibility, resource allocation, and potential impact. Divide labor by assigning specific tasks to team members."</a:t>
            </a:r>
            <a:endParaRPr lang="en-IN" dirty="0"/>
          </a:p>
        </p:txBody>
      </p:sp>
    </p:spTree>
    <p:extLst>
      <p:ext uri="{BB962C8B-B14F-4D97-AF65-F5344CB8AC3E}">
        <p14:creationId xmlns:p14="http://schemas.microsoft.com/office/powerpoint/2010/main" val="55424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185F3-FD00-6D66-CF9F-65B71B18F7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0E82E2-4C69-4F6E-3CC3-BD1E72302098}"/>
              </a:ext>
            </a:extLst>
          </p:cNvPr>
          <p:cNvSpPr txBox="1"/>
          <p:nvPr/>
        </p:nvSpPr>
        <p:spPr>
          <a:xfrm>
            <a:off x="3019273" y="182337"/>
            <a:ext cx="7499938" cy="584775"/>
          </a:xfrm>
          <a:prstGeom prst="rect">
            <a:avLst/>
          </a:prstGeom>
          <a:noFill/>
        </p:spPr>
        <p:txBody>
          <a:bodyPr wrap="square" rtlCol="0">
            <a:spAutoFit/>
          </a:bodyPr>
          <a:lstStyle/>
          <a:p>
            <a:r>
              <a:rPr lang="en-IN" sz="3200" b="1" dirty="0"/>
              <a:t>Designing a User-Friendly Website</a:t>
            </a:r>
          </a:p>
        </p:txBody>
      </p:sp>
      <p:sp>
        <p:nvSpPr>
          <p:cNvPr id="5" name="TextBox 4">
            <a:extLst>
              <a:ext uri="{FF2B5EF4-FFF2-40B4-BE49-F238E27FC236}">
                <a16:creationId xmlns:a16="http://schemas.microsoft.com/office/drawing/2014/main" id="{218CECAF-B0D2-2677-74CB-B17E8F0EAD55}"/>
              </a:ext>
            </a:extLst>
          </p:cNvPr>
          <p:cNvSpPr txBox="1"/>
          <p:nvPr/>
        </p:nvSpPr>
        <p:spPr>
          <a:xfrm>
            <a:off x="711199" y="767112"/>
            <a:ext cx="10171289" cy="6186309"/>
          </a:xfrm>
          <a:prstGeom prst="rect">
            <a:avLst/>
          </a:prstGeom>
          <a:noFill/>
        </p:spPr>
        <p:txBody>
          <a:bodyPr wrap="square">
            <a:spAutoFit/>
          </a:bodyPr>
          <a:lstStyle/>
          <a:p>
            <a:r>
              <a:rPr lang="en-US" dirty="0"/>
              <a:t>"Design a user-friendly website for an online bookstore. Follow these steps: First, outline the website structure (Home, Categories, Bestsellers, Contact). Second, create wireframes for each page. Third, write content for each section. Fourth, develop a visual design with a consistent theme. Use a clean and responsive layout. Here is an example of the website structure:</a:t>
            </a:r>
          </a:p>
          <a:p>
            <a:endParaRPr lang="en-US" dirty="0"/>
          </a:p>
          <a:p>
            <a:r>
              <a:rPr lang="en-US" dirty="0"/>
              <a:t>Home:</a:t>
            </a:r>
          </a:p>
          <a:p>
            <a:r>
              <a:rPr lang="en-US" dirty="0"/>
              <a:t>- Featured books</a:t>
            </a:r>
          </a:p>
          <a:p>
            <a:r>
              <a:rPr lang="en-US" dirty="0"/>
              <a:t>- New arrivals</a:t>
            </a:r>
          </a:p>
          <a:p>
            <a:r>
              <a:rPr lang="en-US" dirty="0"/>
              <a:t>- Promotions</a:t>
            </a:r>
          </a:p>
          <a:p>
            <a:r>
              <a:rPr lang="en-US" dirty="0"/>
              <a:t>Categories:</a:t>
            </a:r>
          </a:p>
          <a:p>
            <a:r>
              <a:rPr lang="en-US" dirty="0"/>
              <a:t>- Fiction</a:t>
            </a:r>
          </a:p>
          <a:p>
            <a:r>
              <a:rPr lang="en-US" dirty="0"/>
              <a:t>- Non-fiction</a:t>
            </a:r>
          </a:p>
          <a:p>
            <a:r>
              <a:rPr lang="en-US" dirty="0"/>
              <a:t>- Children's books</a:t>
            </a:r>
          </a:p>
          <a:p>
            <a:r>
              <a:rPr lang="en-US" dirty="0"/>
              <a:t>Bestsellers:</a:t>
            </a:r>
          </a:p>
          <a:p>
            <a:r>
              <a:rPr lang="en-US" dirty="0"/>
              <a:t>- Top-selling books</a:t>
            </a:r>
          </a:p>
          <a:p>
            <a:r>
              <a:rPr lang="en-US" dirty="0"/>
              <a:t>- Customer reviews</a:t>
            </a:r>
          </a:p>
          <a:p>
            <a:r>
              <a:rPr lang="en-US" dirty="0"/>
              <a:t>Contact:</a:t>
            </a:r>
          </a:p>
          <a:p>
            <a:r>
              <a:rPr lang="en-US" dirty="0"/>
              <a:t>- Contact form</a:t>
            </a:r>
          </a:p>
          <a:p>
            <a:r>
              <a:rPr lang="en-US" dirty="0"/>
              <a:t>- Customer service information</a:t>
            </a:r>
          </a:p>
          <a:p>
            <a:endParaRPr lang="en-US" dirty="0"/>
          </a:p>
          <a:p>
            <a:r>
              <a:rPr lang="en-US" dirty="0"/>
              <a:t>Evaluate the quality based on user experience, visual appeal, and ease of navigation. Divide labor by working on each page individually and then integrating them into a cohesive design."</a:t>
            </a:r>
            <a:endParaRPr lang="en-IN" dirty="0"/>
          </a:p>
        </p:txBody>
      </p:sp>
    </p:spTree>
    <p:extLst>
      <p:ext uri="{BB962C8B-B14F-4D97-AF65-F5344CB8AC3E}">
        <p14:creationId xmlns:p14="http://schemas.microsoft.com/office/powerpoint/2010/main" val="1654530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4AA53-DCAD-2122-0AF7-6C9E4D5EF0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262525-41F1-4F54-D7AE-CCC9240072A0}"/>
              </a:ext>
            </a:extLst>
          </p:cNvPr>
          <p:cNvSpPr txBox="1"/>
          <p:nvPr/>
        </p:nvSpPr>
        <p:spPr>
          <a:xfrm>
            <a:off x="2906384" y="204915"/>
            <a:ext cx="7919660" cy="584775"/>
          </a:xfrm>
          <a:prstGeom prst="rect">
            <a:avLst/>
          </a:prstGeom>
          <a:noFill/>
        </p:spPr>
        <p:txBody>
          <a:bodyPr wrap="square" rtlCol="0">
            <a:spAutoFit/>
          </a:bodyPr>
          <a:lstStyle/>
          <a:p>
            <a:r>
              <a:rPr lang="en-US" sz="3200" b="1" dirty="0"/>
              <a:t>Developing a Training Program for Employees</a:t>
            </a:r>
            <a:endParaRPr lang="en-IN" sz="3200" b="1" dirty="0"/>
          </a:p>
        </p:txBody>
      </p:sp>
      <p:sp>
        <p:nvSpPr>
          <p:cNvPr id="3" name="TextBox 2">
            <a:extLst>
              <a:ext uri="{FF2B5EF4-FFF2-40B4-BE49-F238E27FC236}">
                <a16:creationId xmlns:a16="http://schemas.microsoft.com/office/drawing/2014/main" id="{BF7BED88-CCDE-B250-7822-D3D679B431C3}"/>
              </a:ext>
            </a:extLst>
          </p:cNvPr>
          <p:cNvSpPr txBox="1"/>
          <p:nvPr/>
        </p:nvSpPr>
        <p:spPr>
          <a:xfrm>
            <a:off x="1117601" y="811736"/>
            <a:ext cx="9279466" cy="5880071"/>
          </a:xfrm>
          <a:prstGeom prst="rect">
            <a:avLst/>
          </a:prstGeom>
          <a:noFill/>
        </p:spPr>
        <p:txBody>
          <a:bodyPr wrap="square">
            <a:spAutoFit/>
          </a:bodyPr>
          <a:lstStyle/>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"Create a training program for new employees on company policies and procedures. Follow these steps: First, define the training objectives. Second, outline the training modules. Third, develop content for each module. Fourth, create assessments to evaluate understanding. Use a modular format for the training materials. Here is an example of the training outline:</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Module 1: Introduction to Company Policies</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 Overview of policies</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 Importance of compliance</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Module 2: Workplace Safety Procedures</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 Safety protocols</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 Emergency response</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Module 3: Customer Service Standards</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 Best practices</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 Handling complaints</a:t>
            </a:r>
          </a:p>
          <a:p>
            <a:pPr>
              <a:lnSpc>
                <a:spcPct val="115000"/>
              </a:lnSpc>
              <a:spcAft>
                <a:spcPts val="800"/>
              </a:spcAft>
            </a:pPr>
            <a:r>
              <a:rPr lang="en-US" dirty="0"/>
              <a:t>Evaluate the quality based on comprehensiveness, clarity, and engagement. Divide labor by developing content for each module sequentially and then integrating the assessments."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0021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38BB8-AE46-B838-44E9-C0928DCF61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B8B080-E401-AAD0-4CAA-7035BF20B033}"/>
              </a:ext>
            </a:extLst>
          </p:cNvPr>
          <p:cNvSpPr txBox="1"/>
          <p:nvPr/>
        </p:nvSpPr>
        <p:spPr>
          <a:xfrm>
            <a:off x="3877229" y="198996"/>
            <a:ext cx="5142594" cy="584775"/>
          </a:xfrm>
          <a:prstGeom prst="rect">
            <a:avLst/>
          </a:prstGeom>
          <a:noFill/>
        </p:spPr>
        <p:txBody>
          <a:bodyPr wrap="square" rtlCol="0">
            <a:spAutoFit/>
          </a:bodyPr>
          <a:lstStyle/>
          <a:p>
            <a:r>
              <a:rPr lang="en-US" sz="3200" b="1" dirty="0"/>
              <a:t>Personalized Travel itinerary</a:t>
            </a:r>
            <a:endParaRPr lang="en-IN" sz="3200" b="1" dirty="0"/>
          </a:p>
        </p:txBody>
      </p:sp>
      <p:sp>
        <p:nvSpPr>
          <p:cNvPr id="5" name="TextBox 4">
            <a:extLst>
              <a:ext uri="{FF2B5EF4-FFF2-40B4-BE49-F238E27FC236}">
                <a16:creationId xmlns:a16="http://schemas.microsoft.com/office/drawing/2014/main" id="{0F738591-19D1-B14A-10EA-1FBCCD8BC22F}"/>
              </a:ext>
            </a:extLst>
          </p:cNvPr>
          <p:cNvSpPr txBox="1"/>
          <p:nvPr/>
        </p:nvSpPr>
        <p:spPr>
          <a:xfrm>
            <a:off x="1377242" y="1503107"/>
            <a:ext cx="9144001" cy="4247317"/>
          </a:xfrm>
          <a:prstGeom prst="rect">
            <a:avLst/>
          </a:prstGeom>
          <a:noFill/>
        </p:spPr>
        <p:txBody>
          <a:bodyPr wrap="square">
            <a:spAutoFit/>
          </a:bodyPr>
          <a:lstStyle/>
          <a:p>
            <a:r>
              <a:rPr lang="en-US" dirty="0"/>
              <a:t>Plan a multi-point travel itinerary covering the cities of Mumbai, Chennai, and Bengaluru between 21 February 2025 and 28 February 2025. We will start from Delhi and return to Delhi at the end of the trip. </a:t>
            </a:r>
          </a:p>
          <a:p>
            <a:endParaRPr lang="en-US" dirty="0"/>
          </a:p>
          <a:p>
            <a:r>
              <a:rPr lang="en-US" dirty="0"/>
              <a:t>Include key sights to see at each location, mode of travel between cities, recommended places to stay, and dining options. Use a table format with sections for each day, listing activities, travel arrangements, accommodation, and dining suggestions. </a:t>
            </a:r>
          </a:p>
          <a:p>
            <a:endParaRPr lang="en-US" dirty="0"/>
          </a:p>
          <a:p>
            <a:r>
              <a:rPr lang="en-US" dirty="0"/>
              <a:t>Assess the itinerary for cultural depth, variety of activities, and feasibility of travel arrangements. Ensure the itinerary includes a balance of historical, cultural, and leisure activities, providing a comprehensive experience of each city. </a:t>
            </a:r>
          </a:p>
          <a:p>
            <a:endParaRPr lang="en-US" dirty="0"/>
          </a:p>
          <a:p>
            <a:r>
              <a:rPr lang="en-US" dirty="0"/>
              <a:t>Arrange transportation (flights) between cities and within each city.</a:t>
            </a:r>
          </a:p>
          <a:p>
            <a:endParaRPr lang="en-US" dirty="0"/>
          </a:p>
          <a:p>
            <a:r>
              <a:rPr lang="en-US" dirty="0"/>
              <a:t>Book accommodations that are centrally located and convenient for sightseeing.</a:t>
            </a:r>
            <a:endParaRPr lang="en-IN" dirty="0"/>
          </a:p>
        </p:txBody>
      </p:sp>
    </p:spTree>
    <p:extLst>
      <p:ext uri="{BB962C8B-B14F-4D97-AF65-F5344CB8AC3E}">
        <p14:creationId xmlns:p14="http://schemas.microsoft.com/office/powerpoint/2010/main" val="1582742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53B42-3C7A-C39D-0695-FDEC833B22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B4DBA3-F94C-D8E7-57EE-977BB65A42FD}"/>
              </a:ext>
            </a:extLst>
          </p:cNvPr>
          <p:cNvSpPr txBox="1"/>
          <p:nvPr/>
        </p:nvSpPr>
        <p:spPr>
          <a:xfrm>
            <a:off x="4227183" y="61555"/>
            <a:ext cx="5156925" cy="707886"/>
          </a:xfrm>
          <a:prstGeom prst="rect">
            <a:avLst/>
          </a:prstGeom>
          <a:noFill/>
        </p:spPr>
        <p:txBody>
          <a:bodyPr wrap="none" rtlCol="0">
            <a:spAutoFit/>
          </a:bodyPr>
          <a:lstStyle/>
          <a:p>
            <a:r>
              <a:rPr lang="en-IN" sz="4000" b="1" dirty="0"/>
              <a:t>Principles of Prompting</a:t>
            </a:r>
          </a:p>
        </p:txBody>
      </p:sp>
      <p:sp>
        <p:nvSpPr>
          <p:cNvPr id="13" name="TextBox 12">
            <a:extLst>
              <a:ext uri="{FF2B5EF4-FFF2-40B4-BE49-F238E27FC236}">
                <a16:creationId xmlns:a16="http://schemas.microsoft.com/office/drawing/2014/main" id="{493E3C70-4E50-C473-3661-A25043EB6A7A}"/>
              </a:ext>
            </a:extLst>
          </p:cNvPr>
          <p:cNvSpPr txBox="1"/>
          <p:nvPr/>
        </p:nvSpPr>
        <p:spPr>
          <a:xfrm>
            <a:off x="50148" y="6488668"/>
            <a:ext cx="12158568" cy="307777"/>
          </a:xfrm>
          <a:prstGeom prst="rect">
            <a:avLst/>
          </a:prstGeom>
          <a:noFill/>
        </p:spPr>
        <p:txBody>
          <a:bodyPr wrap="square">
            <a:spAutoFit/>
          </a:bodyPr>
          <a:lstStyle/>
          <a:p>
            <a:r>
              <a:rPr lang="en-US" sz="1400" dirty="0">
                <a:hlinkClick r:id="rId2"/>
              </a:rPr>
              <a:t>prompt-engineering-for-generative-ai-examples/images/OnePager-Text.png at main · </a:t>
            </a:r>
            <a:r>
              <a:rPr lang="en-US" sz="1400" dirty="0" err="1">
                <a:hlinkClick r:id="rId2"/>
              </a:rPr>
              <a:t>BrightPool</a:t>
            </a:r>
            <a:r>
              <a:rPr lang="en-US" sz="1400" dirty="0">
                <a:hlinkClick r:id="rId2"/>
              </a:rPr>
              <a:t>/prompt-engineering-for-generative-ai-examples · GitHub</a:t>
            </a:r>
            <a:endParaRPr lang="en-IN" sz="1400" dirty="0"/>
          </a:p>
        </p:txBody>
      </p:sp>
      <p:pic>
        <p:nvPicPr>
          <p:cNvPr id="3" name="Picture 2">
            <a:extLst>
              <a:ext uri="{FF2B5EF4-FFF2-40B4-BE49-F238E27FC236}">
                <a16:creationId xmlns:a16="http://schemas.microsoft.com/office/drawing/2014/main" id="{DF8A4407-5875-031E-5798-284D7B6D491B}"/>
              </a:ext>
            </a:extLst>
          </p:cNvPr>
          <p:cNvPicPr>
            <a:picLocks noChangeAspect="1"/>
          </p:cNvPicPr>
          <p:nvPr/>
        </p:nvPicPr>
        <p:blipFill>
          <a:blip r:embed="rId3"/>
          <a:stretch>
            <a:fillRect/>
          </a:stretch>
        </p:blipFill>
        <p:spPr>
          <a:xfrm>
            <a:off x="3543021" y="985953"/>
            <a:ext cx="7057006" cy="5357194"/>
          </a:xfrm>
          <a:prstGeom prst="rect">
            <a:avLst/>
          </a:prstGeom>
        </p:spPr>
      </p:pic>
      <p:sp>
        <p:nvSpPr>
          <p:cNvPr id="5" name="TextBox 4">
            <a:extLst>
              <a:ext uri="{FF2B5EF4-FFF2-40B4-BE49-F238E27FC236}">
                <a16:creationId xmlns:a16="http://schemas.microsoft.com/office/drawing/2014/main" id="{FA0FCA17-540A-8FD8-80F8-43A18DBAD3F8}"/>
              </a:ext>
            </a:extLst>
          </p:cNvPr>
          <p:cNvSpPr txBox="1"/>
          <p:nvPr/>
        </p:nvSpPr>
        <p:spPr>
          <a:xfrm>
            <a:off x="846666" y="2905780"/>
            <a:ext cx="2386744" cy="523220"/>
          </a:xfrm>
          <a:prstGeom prst="rect">
            <a:avLst/>
          </a:prstGeom>
          <a:noFill/>
        </p:spPr>
        <p:txBody>
          <a:bodyPr wrap="none" rtlCol="0">
            <a:spAutoFit/>
          </a:bodyPr>
          <a:lstStyle/>
          <a:p>
            <a:r>
              <a:rPr lang="en-IN" sz="2800" dirty="0"/>
              <a:t>Text Prompting</a:t>
            </a:r>
          </a:p>
        </p:txBody>
      </p:sp>
    </p:spTree>
    <p:extLst>
      <p:ext uri="{BB962C8B-B14F-4D97-AF65-F5344CB8AC3E}">
        <p14:creationId xmlns:p14="http://schemas.microsoft.com/office/powerpoint/2010/main" val="174192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13AA6-5B2A-AAA3-7437-6CFCF98AEC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F881C8-C363-F87F-D7FE-78F30FA93878}"/>
              </a:ext>
            </a:extLst>
          </p:cNvPr>
          <p:cNvSpPr txBox="1"/>
          <p:nvPr/>
        </p:nvSpPr>
        <p:spPr>
          <a:xfrm>
            <a:off x="4103005" y="146649"/>
            <a:ext cx="5156925" cy="707886"/>
          </a:xfrm>
          <a:prstGeom prst="rect">
            <a:avLst/>
          </a:prstGeom>
          <a:noFill/>
        </p:spPr>
        <p:txBody>
          <a:bodyPr wrap="none" rtlCol="0">
            <a:spAutoFit/>
          </a:bodyPr>
          <a:lstStyle/>
          <a:p>
            <a:r>
              <a:rPr lang="en-IN" sz="4000" b="1" dirty="0"/>
              <a:t>Principles of Prompting</a:t>
            </a:r>
          </a:p>
        </p:txBody>
      </p:sp>
      <p:sp>
        <p:nvSpPr>
          <p:cNvPr id="5" name="TextBox 4">
            <a:extLst>
              <a:ext uri="{FF2B5EF4-FFF2-40B4-BE49-F238E27FC236}">
                <a16:creationId xmlns:a16="http://schemas.microsoft.com/office/drawing/2014/main" id="{E04FE0A2-351F-4A73-7A63-84ABBE640277}"/>
              </a:ext>
            </a:extLst>
          </p:cNvPr>
          <p:cNvSpPr txBox="1"/>
          <p:nvPr/>
        </p:nvSpPr>
        <p:spPr>
          <a:xfrm>
            <a:off x="378179" y="2791376"/>
            <a:ext cx="2686248" cy="523220"/>
          </a:xfrm>
          <a:prstGeom prst="rect">
            <a:avLst/>
          </a:prstGeom>
          <a:noFill/>
        </p:spPr>
        <p:txBody>
          <a:bodyPr wrap="none" rtlCol="0">
            <a:spAutoFit/>
          </a:bodyPr>
          <a:lstStyle/>
          <a:p>
            <a:r>
              <a:rPr lang="en-IN" sz="2800" dirty="0"/>
              <a:t>Image Prompting</a:t>
            </a:r>
          </a:p>
        </p:txBody>
      </p:sp>
      <p:grpSp>
        <p:nvGrpSpPr>
          <p:cNvPr id="12" name="Group 11">
            <a:extLst>
              <a:ext uri="{FF2B5EF4-FFF2-40B4-BE49-F238E27FC236}">
                <a16:creationId xmlns:a16="http://schemas.microsoft.com/office/drawing/2014/main" id="{65979E73-F1E5-9A4C-1191-9A606A07D743}"/>
              </a:ext>
            </a:extLst>
          </p:cNvPr>
          <p:cNvGrpSpPr/>
          <p:nvPr/>
        </p:nvGrpSpPr>
        <p:grpSpPr>
          <a:xfrm>
            <a:off x="3262490" y="1109786"/>
            <a:ext cx="8263466" cy="5109528"/>
            <a:chOff x="1586610" y="-4470694"/>
            <a:chExt cx="9085643" cy="11774543"/>
          </a:xfrm>
        </p:grpSpPr>
        <p:grpSp>
          <p:nvGrpSpPr>
            <p:cNvPr id="9" name="Group 8">
              <a:extLst>
                <a:ext uri="{FF2B5EF4-FFF2-40B4-BE49-F238E27FC236}">
                  <a16:creationId xmlns:a16="http://schemas.microsoft.com/office/drawing/2014/main" id="{964F097A-ECC2-0F82-053D-7FF59A1A5525}"/>
                </a:ext>
              </a:extLst>
            </p:cNvPr>
            <p:cNvGrpSpPr/>
            <p:nvPr/>
          </p:nvGrpSpPr>
          <p:grpSpPr>
            <a:xfrm>
              <a:off x="1586610" y="-4470694"/>
              <a:ext cx="9085643" cy="8268854"/>
              <a:chOff x="2132133" y="1049573"/>
              <a:chExt cx="9085643" cy="8268854"/>
            </a:xfrm>
          </p:grpSpPr>
          <p:pic>
            <p:nvPicPr>
              <p:cNvPr id="6" name="Picture 5">
                <a:extLst>
                  <a:ext uri="{FF2B5EF4-FFF2-40B4-BE49-F238E27FC236}">
                    <a16:creationId xmlns:a16="http://schemas.microsoft.com/office/drawing/2014/main" id="{9F8F4E6A-91FC-0C32-56B0-E9E6A5F702A8}"/>
                  </a:ext>
                </a:extLst>
              </p:cNvPr>
              <p:cNvPicPr>
                <a:picLocks noChangeAspect="1"/>
              </p:cNvPicPr>
              <p:nvPr/>
            </p:nvPicPr>
            <p:blipFill>
              <a:blip r:embed="rId2"/>
              <a:srcRect l="9015"/>
              <a:stretch/>
            </p:blipFill>
            <p:spPr>
              <a:xfrm>
                <a:off x="2220900" y="1049573"/>
                <a:ext cx="8996876" cy="1743318"/>
              </a:xfrm>
              <a:prstGeom prst="rect">
                <a:avLst/>
              </a:prstGeom>
            </p:spPr>
          </p:pic>
          <p:pic>
            <p:nvPicPr>
              <p:cNvPr id="8" name="Picture 7">
                <a:extLst>
                  <a:ext uri="{FF2B5EF4-FFF2-40B4-BE49-F238E27FC236}">
                    <a16:creationId xmlns:a16="http://schemas.microsoft.com/office/drawing/2014/main" id="{A2589277-B69A-9A7B-2F14-71D983E862FA}"/>
                  </a:ext>
                </a:extLst>
              </p:cNvPr>
              <p:cNvPicPr>
                <a:picLocks noChangeAspect="1"/>
              </p:cNvPicPr>
              <p:nvPr/>
            </p:nvPicPr>
            <p:blipFill>
              <a:blip r:embed="rId3"/>
              <a:stretch>
                <a:fillRect/>
              </a:stretch>
            </p:blipFill>
            <p:spPr>
              <a:xfrm>
                <a:off x="2132133" y="2792891"/>
                <a:ext cx="9040487" cy="6525536"/>
              </a:xfrm>
              <a:prstGeom prst="rect">
                <a:avLst/>
              </a:prstGeom>
            </p:spPr>
          </p:pic>
        </p:grpSp>
        <p:pic>
          <p:nvPicPr>
            <p:cNvPr id="11" name="Picture 10">
              <a:extLst>
                <a:ext uri="{FF2B5EF4-FFF2-40B4-BE49-F238E27FC236}">
                  <a16:creationId xmlns:a16="http://schemas.microsoft.com/office/drawing/2014/main" id="{530D7D15-71B2-8D5D-CD0E-04A1BF196913}"/>
                </a:ext>
              </a:extLst>
            </p:cNvPr>
            <p:cNvPicPr>
              <a:picLocks noChangeAspect="1"/>
            </p:cNvPicPr>
            <p:nvPr/>
          </p:nvPicPr>
          <p:blipFill>
            <a:blip r:embed="rId4"/>
            <a:stretch>
              <a:fillRect/>
            </a:stretch>
          </p:blipFill>
          <p:spPr>
            <a:xfrm>
              <a:off x="1612714" y="3798160"/>
              <a:ext cx="9059539" cy="3505689"/>
            </a:xfrm>
            <a:prstGeom prst="rect">
              <a:avLst/>
            </a:prstGeom>
          </p:spPr>
        </p:pic>
      </p:grpSp>
      <p:sp>
        <p:nvSpPr>
          <p:cNvPr id="15" name="TextBox 14">
            <a:extLst>
              <a:ext uri="{FF2B5EF4-FFF2-40B4-BE49-F238E27FC236}">
                <a16:creationId xmlns:a16="http://schemas.microsoft.com/office/drawing/2014/main" id="{09F884A0-4793-30A0-2C64-E3E46F0D9069}"/>
              </a:ext>
            </a:extLst>
          </p:cNvPr>
          <p:cNvSpPr txBox="1"/>
          <p:nvPr/>
        </p:nvSpPr>
        <p:spPr>
          <a:xfrm>
            <a:off x="0" y="6417676"/>
            <a:ext cx="11853332" cy="307777"/>
          </a:xfrm>
          <a:prstGeom prst="rect">
            <a:avLst/>
          </a:prstGeom>
          <a:noFill/>
        </p:spPr>
        <p:txBody>
          <a:bodyPr wrap="square">
            <a:spAutoFit/>
          </a:bodyPr>
          <a:lstStyle/>
          <a:p>
            <a:r>
              <a:rPr lang="en-IN" sz="1400" dirty="0">
                <a:hlinkClick r:id="rId5"/>
              </a:rPr>
              <a:t>prompt-engineering-for-generative-ai-examples/images/OnePager-Images.png at main · </a:t>
            </a:r>
            <a:r>
              <a:rPr lang="en-IN" sz="1400" dirty="0" err="1">
                <a:hlinkClick r:id="rId5"/>
              </a:rPr>
              <a:t>BrightPool</a:t>
            </a:r>
            <a:r>
              <a:rPr lang="en-IN" sz="1400" dirty="0">
                <a:hlinkClick r:id="rId5"/>
              </a:rPr>
              <a:t>/prompt-engineering-for-generative-ai-examples · GitHub</a:t>
            </a:r>
            <a:endParaRPr lang="en-IN" sz="1400" dirty="0"/>
          </a:p>
        </p:txBody>
      </p:sp>
    </p:spTree>
    <p:extLst>
      <p:ext uri="{BB962C8B-B14F-4D97-AF65-F5344CB8AC3E}">
        <p14:creationId xmlns:p14="http://schemas.microsoft.com/office/powerpoint/2010/main" val="1186857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8DD5F-79A7-F01C-655C-CD1D419139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58EA8A-F2B6-61C4-E244-DEA73522E25D}"/>
              </a:ext>
            </a:extLst>
          </p:cNvPr>
          <p:cNvSpPr txBox="1"/>
          <p:nvPr/>
        </p:nvSpPr>
        <p:spPr>
          <a:xfrm>
            <a:off x="3064427" y="132547"/>
            <a:ext cx="7309822" cy="707886"/>
          </a:xfrm>
          <a:prstGeom prst="rect">
            <a:avLst/>
          </a:prstGeom>
          <a:noFill/>
        </p:spPr>
        <p:txBody>
          <a:bodyPr wrap="none" rtlCol="0">
            <a:spAutoFit/>
          </a:bodyPr>
          <a:lstStyle/>
          <a:p>
            <a:r>
              <a:rPr lang="en-IN" sz="4000" b="1" dirty="0"/>
              <a:t>Strategies for Effective Prompting</a:t>
            </a:r>
          </a:p>
        </p:txBody>
      </p:sp>
      <p:sp>
        <p:nvSpPr>
          <p:cNvPr id="15" name="TextBox 14">
            <a:extLst>
              <a:ext uri="{FF2B5EF4-FFF2-40B4-BE49-F238E27FC236}">
                <a16:creationId xmlns:a16="http://schemas.microsoft.com/office/drawing/2014/main" id="{327BC6C9-5AB3-ABC5-CBB7-6F50DA233C61}"/>
              </a:ext>
            </a:extLst>
          </p:cNvPr>
          <p:cNvSpPr txBox="1"/>
          <p:nvPr/>
        </p:nvSpPr>
        <p:spPr>
          <a:xfrm>
            <a:off x="0" y="6334780"/>
            <a:ext cx="11853332" cy="523220"/>
          </a:xfrm>
          <a:prstGeom prst="rect">
            <a:avLst/>
          </a:prstGeom>
          <a:noFill/>
        </p:spPr>
        <p:txBody>
          <a:bodyPr wrap="square">
            <a:spAutoFit/>
          </a:bodyPr>
          <a:lstStyle/>
          <a:p>
            <a:endParaRPr lang="en-US" sz="1400" dirty="0"/>
          </a:p>
          <a:p>
            <a:r>
              <a:rPr lang="en-US" sz="1400" dirty="0"/>
              <a:t>Phoenix, James; Taylor, Mike. Prompt Engineering for Generative AI (p. 29). O'Reilly Media. Kindle Edition. </a:t>
            </a:r>
          </a:p>
        </p:txBody>
      </p:sp>
      <p:sp>
        <p:nvSpPr>
          <p:cNvPr id="2" name="TextBox 1">
            <a:extLst>
              <a:ext uri="{FF2B5EF4-FFF2-40B4-BE49-F238E27FC236}">
                <a16:creationId xmlns:a16="http://schemas.microsoft.com/office/drawing/2014/main" id="{B54FCCDB-8FA8-7E49-6D9F-02E1371D48B4}"/>
              </a:ext>
            </a:extLst>
          </p:cNvPr>
          <p:cNvSpPr txBox="1"/>
          <p:nvPr/>
        </p:nvSpPr>
        <p:spPr>
          <a:xfrm>
            <a:off x="1140177" y="1495145"/>
            <a:ext cx="8523112" cy="1077218"/>
          </a:xfrm>
          <a:prstGeom prst="rect">
            <a:avLst/>
          </a:prstGeom>
          <a:noFill/>
        </p:spPr>
        <p:txBody>
          <a:bodyPr wrap="square">
            <a:spAutoFit/>
          </a:bodyPr>
          <a:lstStyle/>
          <a:p>
            <a:r>
              <a:rPr lang="en-US" sz="2400" dirty="0"/>
              <a:t>Use of Role Playing</a:t>
            </a:r>
          </a:p>
          <a:p>
            <a:r>
              <a:rPr lang="en-US" sz="2000" i="1" dirty="0"/>
              <a:t>Brainstorm a list of product names for a shoe that fits any foot size, in the style of Elon Musk.</a:t>
            </a:r>
          </a:p>
        </p:txBody>
      </p:sp>
      <p:sp>
        <p:nvSpPr>
          <p:cNvPr id="7" name="TextBox 6">
            <a:extLst>
              <a:ext uri="{FF2B5EF4-FFF2-40B4-BE49-F238E27FC236}">
                <a16:creationId xmlns:a16="http://schemas.microsoft.com/office/drawing/2014/main" id="{457F0AC2-9708-6EB1-4FA0-227FE08A921F}"/>
              </a:ext>
            </a:extLst>
          </p:cNvPr>
          <p:cNvSpPr txBox="1"/>
          <p:nvPr/>
        </p:nvSpPr>
        <p:spPr>
          <a:xfrm>
            <a:off x="1140177" y="3437909"/>
            <a:ext cx="10368845" cy="2031325"/>
          </a:xfrm>
          <a:prstGeom prst="rect">
            <a:avLst/>
          </a:prstGeom>
          <a:noFill/>
        </p:spPr>
        <p:txBody>
          <a:bodyPr wrap="square">
            <a:spAutoFit/>
          </a:bodyPr>
          <a:lstStyle/>
          <a:p>
            <a:r>
              <a:rPr lang="en-IN" i="1" dirty="0"/>
              <a:t>Start the conversation asking for best practice advice, then asking it to follow its own advice.</a:t>
            </a:r>
          </a:p>
          <a:p>
            <a:endParaRPr lang="en-IN" i="1" dirty="0"/>
          </a:p>
          <a:p>
            <a:r>
              <a:rPr lang="en-US" i="1" dirty="0">
                <a:solidFill>
                  <a:srgbClr val="00B0F0"/>
                </a:solidFill>
              </a:rPr>
              <a:t>Input: Please give me 5 tips for naming products based on expert industry advice</a:t>
            </a:r>
            <a:r>
              <a:rPr lang="en-US" i="1" dirty="0"/>
              <a:t>.</a:t>
            </a:r>
          </a:p>
          <a:p>
            <a:endParaRPr lang="en-US" i="1" dirty="0"/>
          </a:p>
          <a:p>
            <a:r>
              <a:rPr lang="en-US" i="1" dirty="0"/>
              <a:t>Output: …..</a:t>
            </a:r>
          </a:p>
          <a:p>
            <a:endParaRPr lang="en-US" i="1" dirty="0"/>
          </a:p>
          <a:p>
            <a:r>
              <a:rPr lang="en-US" i="1" dirty="0">
                <a:solidFill>
                  <a:srgbClr val="00B0F0"/>
                </a:solidFill>
              </a:rPr>
              <a:t>Input:  Using this advice, can I have a list of product names for a pair of shoes that can fit any foot size?</a:t>
            </a:r>
          </a:p>
        </p:txBody>
      </p:sp>
      <p:sp>
        <p:nvSpPr>
          <p:cNvPr id="13" name="TextBox 12">
            <a:extLst>
              <a:ext uri="{FF2B5EF4-FFF2-40B4-BE49-F238E27FC236}">
                <a16:creationId xmlns:a16="http://schemas.microsoft.com/office/drawing/2014/main" id="{9AB9A775-7FC2-19EA-6319-F8E7B96C6CDE}"/>
              </a:ext>
            </a:extLst>
          </p:cNvPr>
          <p:cNvSpPr txBox="1"/>
          <p:nvPr/>
        </p:nvSpPr>
        <p:spPr>
          <a:xfrm>
            <a:off x="1027288" y="2956922"/>
            <a:ext cx="6107288" cy="461665"/>
          </a:xfrm>
          <a:prstGeom prst="rect">
            <a:avLst/>
          </a:prstGeom>
          <a:noFill/>
        </p:spPr>
        <p:txBody>
          <a:bodyPr wrap="square">
            <a:spAutoFit/>
          </a:bodyPr>
          <a:lstStyle/>
          <a:p>
            <a:r>
              <a:rPr lang="en-US" sz="2400" dirty="0"/>
              <a:t>“Prewarming” or “interval retrieval”</a:t>
            </a:r>
          </a:p>
        </p:txBody>
      </p:sp>
      <p:sp>
        <p:nvSpPr>
          <p:cNvPr id="5" name="TextBox 4">
            <a:extLst>
              <a:ext uri="{FF2B5EF4-FFF2-40B4-BE49-F238E27FC236}">
                <a16:creationId xmlns:a16="http://schemas.microsoft.com/office/drawing/2014/main" id="{39116304-9568-90DF-B58D-83C3DFADCBDC}"/>
              </a:ext>
            </a:extLst>
          </p:cNvPr>
          <p:cNvSpPr txBox="1"/>
          <p:nvPr/>
        </p:nvSpPr>
        <p:spPr>
          <a:xfrm>
            <a:off x="383821" y="952603"/>
            <a:ext cx="6107288" cy="523220"/>
          </a:xfrm>
          <a:prstGeom prst="rect">
            <a:avLst/>
          </a:prstGeom>
          <a:noFill/>
        </p:spPr>
        <p:txBody>
          <a:bodyPr wrap="square">
            <a:spAutoFit/>
          </a:bodyPr>
          <a:lstStyle/>
          <a:p>
            <a:r>
              <a:rPr lang="en-US" sz="2800" b="1" dirty="0"/>
              <a:t>Give directions</a:t>
            </a:r>
          </a:p>
        </p:txBody>
      </p:sp>
    </p:spTree>
    <p:extLst>
      <p:ext uri="{BB962C8B-B14F-4D97-AF65-F5344CB8AC3E}">
        <p14:creationId xmlns:p14="http://schemas.microsoft.com/office/powerpoint/2010/main" val="2902671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F3020-89E5-6471-8AD2-D7541AB3A9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9173AE-EBA7-40DB-BC47-56FF0B0AFB7F}"/>
              </a:ext>
            </a:extLst>
          </p:cNvPr>
          <p:cNvSpPr txBox="1"/>
          <p:nvPr/>
        </p:nvSpPr>
        <p:spPr>
          <a:xfrm>
            <a:off x="3064427" y="132547"/>
            <a:ext cx="7309822" cy="707886"/>
          </a:xfrm>
          <a:prstGeom prst="rect">
            <a:avLst/>
          </a:prstGeom>
          <a:noFill/>
        </p:spPr>
        <p:txBody>
          <a:bodyPr wrap="none" rtlCol="0">
            <a:spAutoFit/>
          </a:bodyPr>
          <a:lstStyle/>
          <a:p>
            <a:r>
              <a:rPr lang="en-IN" sz="4000" b="1" dirty="0"/>
              <a:t>Strategies for Effective Prompting</a:t>
            </a:r>
          </a:p>
        </p:txBody>
      </p:sp>
      <p:sp>
        <p:nvSpPr>
          <p:cNvPr id="15" name="TextBox 14">
            <a:extLst>
              <a:ext uri="{FF2B5EF4-FFF2-40B4-BE49-F238E27FC236}">
                <a16:creationId xmlns:a16="http://schemas.microsoft.com/office/drawing/2014/main" id="{4371A39E-669C-CF08-9658-54108C7612CC}"/>
              </a:ext>
            </a:extLst>
          </p:cNvPr>
          <p:cNvSpPr txBox="1"/>
          <p:nvPr/>
        </p:nvSpPr>
        <p:spPr>
          <a:xfrm>
            <a:off x="0" y="6334780"/>
            <a:ext cx="11853332" cy="523220"/>
          </a:xfrm>
          <a:prstGeom prst="rect">
            <a:avLst/>
          </a:prstGeom>
          <a:noFill/>
        </p:spPr>
        <p:txBody>
          <a:bodyPr wrap="square">
            <a:spAutoFit/>
          </a:bodyPr>
          <a:lstStyle/>
          <a:p>
            <a:endParaRPr lang="en-US" sz="1400" dirty="0"/>
          </a:p>
          <a:p>
            <a:r>
              <a:rPr lang="en-US" sz="1400" dirty="0"/>
              <a:t>Phoenix, James; Taylor, Mike. Prompt Engineering for Generative AI (p. 29). O'Reilly Media. Kindle Edition. </a:t>
            </a:r>
          </a:p>
        </p:txBody>
      </p:sp>
      <p:sp>
        <p:nvSpPr>
          <p:cNvPr id="5" name="TextBox 4">
            <a:extLst>
              <a:ext uri="{FF2B5EF4-FFF2-40B4-BE49-F238E27FC236}">
                <a16:creationId xmlns:a16="http://schemas.microsoft.com/office/drawing/2014/main" id="{5DCB5F53-13A7-93D7-7D76-CB8F4D88F1FD}"/>
              </a:ext>
            </a:extLst>
          </p:cNvPr>
          <p:cNvSpPr txBox="1"/>
          <p:nvPr/>
        </p:nvSpPr>
        <p:spPr>
          <a:xfrm>
            <a:off x="383821" y="952603"/>
            <a:ext cx="6107288" cy="523220"/>
          </a:xfrm>
          <a:prstGeom prst="rect">
            <a:avLst/>
          </a:prstGeom>
          <a:noFill/>
        </p:spPr>
        <p:txBody>
          <a:bodyPr wrap="square">
            <a:spAutoFit/>
          </a:bodyPr>
          <a:lstStyle/>
          <a:p>
            <a:r>
              <a:rPr lang="en-US" sz="2800" b="1" dirty="0"/>
              <a:t>Format specification</a:t>
            </a:r>
          </a:p>
        </p:txBody>
      </p:sp>
      <p:sp>
        <p:nvSpPr>
          <p:cNvPr id="6" name="TextBox 5">
            <a:extLst>
              <a:ext uri="{FF2B5EF4-FFF2-40B4-BE49-F238E27FC236}">
                <a16:creationId xmlns:a16="http://schemas.microsoft.com/office/drawing/2014/main" id="{EA28183B-DCBD-5883-79C9-9C7C9CDD31BD}"/>
              </a:ext>
            </a:extLst>
          </p:cNvPr>
          <p:cNvSpPr txBox="1"/>
          <p:nvPr/>
        </p:nvSpPr>
        <p:spPr>
          <a:xfrm>
            <a:off x="254000" y="1847375"/>
            <a:ext cx="6107288" cy="4247317"/>
          </a:xfrm>
          <a:prstGeom prst="rect">
            <a:avLst/>
          </a:prstGeom>
          <a:noFill/>
        </p:spPr>
        <p:txBody>
          <a:bodyPr wrap="square">
            <a:spAutoFit/>
          </a:bodyPr>
          <a:lstStyle/>
          <a:p>
            <a:r>
              <a:rPr lang="en-IN" dirty="0"/>
              <a:t>Return a comma-separated list of product names in JSON for "A pair of shoes that can fit any foot size.". Return only JSON.</a:t>
            </a:r>
          </a:p>
          <a:p>
            <a:endParaRPr lang="en-IN" dirty="0"/>
          </a:p>
          <a:p>
            <a:r>
              <a:rPr lang="en-IN" dirty="0"/>
              <a:t>Examples:</a:t>
            </a:r>
          </a:p>
          <a:p>
            <a:r>
              <a:rPr lang="en-IN" dirty="0"/>
              <a:t>[{"Product description": "A home milkshake maker.",</a:t>
            </a:r>
          </a:p>
          <a:p>
            <a:r>
              <a:rPr lang="en-IN" dirty="0"/>
              <a:t>      "Product names": ["</a:t>
            </a:r>
            <a:r>
              <a:rPr lang="en-IN" dirty="0" err="1"/>
              <a:t>HomeShaker</a:t>
            </a:r>
            <a:r>
              <a:rPr lang="en-IN" dirty="0"/>
              <a:t>", "Fit Shaker",</a:t>
            </a:r>
          </a:p>
          <a:p>
            <a:r>
              <a:rPr lang="en-IN" dirty="0"/>
              <a:t>      "</a:t>
            </a:r>
            <a:r>
              <a:rPr lang="en-IN" dirty="0" err="1"/>
              <a:t>QuickShake</a:t>
            </a:r>
            <a:r>
              <a:rPr lang="en-IN" dirty="0"/>
              <a:t>", "Shake Maker"]</a:t>
            </a:r>
          </a:p>
          <a:p>
            <a:r>
              <a:rPr lang="en-IN" dirty="0"/>
              <a:t>   },</a:t>
            </a:r>
          </a:p>
          <a:p>
            <a:endParaRPr lang="en-IN" dirty="0"/>
          </a:p>
          <a:p>
            <a:r>
              <a:rPr lang="en-IN" dirty="0"/>
              <a:t>   {</a:t>
            </a:r>
          </a:p>
          <a:p>
            <a:r>
              <a:rPr lang="en-IN" dirty="0"/>
              <a:t>      "Product description": "A watch that can tell</a:t>
            </a:r>
          </a:p>
          <a:p>
            <a:r>
              <a:rPr lang="en-IN" dirty="0"/>
              <a:t>      accurate time in space.",</a:t>
            </a:r>
          </a:p>
          <a:p>
            <a:r>
              <a:rPr lang="en-IN" dirty="0"/>
              <a:t>      "Product names": ["</a:t>
            </a:r>
            <a:r>
              <a:rPr lang="en-IN" dirty="0" err="1"/>
              <a:t>AstroTime</a:t>
            </a:r>
            <a:r>
              <a:rPr lang="en-IN" dirty="0"/>
              <a:t>", "</a:t>
            </a:r>
            <a:r>
              <a:rPr lang="en-IN" dirty="0" err="1"/>
              <a:t>SpaceGuard</a:t>
            </a:r>
            <a:r>
              <a:rPr lang="en-IN" dirty="0"/>
              <a:t>",</a:t>
            </a:r>
          </a:p>
          <a:p>
            <a:r>
              <a:rPr lang="en-IN" dirty="0"/>
              <a:t>      "Orbit-Accurate", "</a:t>
            </a:r>
            <a:r>
              <a:rPr lang="en-IN" dirty="0" err="1"/>
              <a:t>EliptoTime</a:t>
            </a:r>
            <a:r>
              <a:rPr lang="en-IN" dirty="0"/>
              <a:t>"]}</a:t>
            </a:r>
          </a:p>
          <a:p>
            <a:r>
              <a:rPr lang="en-IN" dirty="0"/>
              <a:t>]</a:t>
            </a:r>
          </a:p>
        </p:txBody>
      </p:sp>
      <p:sp>
        <p:nvSpPr>
          <p:cNvPr id="9" name="TextBox 8">
            <a:extLst>
              <a:ext uri="{FF2B5EF4-FFF2-40B4-BE49-F238E27FC236}">
                <a16:creationId xmlns:a16="http://schemas.microsoft.com/office/drawing/2014/main" id="{D51FD99B-A6E8-11B0-E2D5-B7FD4EC001CA}"/>
              </a:ext>
            </a:extLst>
          </p:cNvPr>
          <p:cNvSpPr txBox="1"/>
          <p:nvPr/>
        </p:nvSpPr>
        <p:spPr>
          <a:xfrm>
            <a:off x="6248400" y="2888821"/>
            <a:ext cx="5785556" cy="2308324"/>
          </a:xfrm>
          <a:prstGeom prst="rect">
            <a:avLst/>
          </a:prstGeom>
          <a:noFill/>
        </p:spPr>
        <p:txBody>
          <a:bodyPr wrap="square">
            <a:spAutoFit/>
          </a:bodyPr>
          <a:lstStyle/>
          <a:p>
            <a:r>
              <a:rPr lang="en-IN" dirty="0"/>
              <a:t>[</a:t>
            </a:r>
          </a:p>
          <a:p>
            <a:r>
              <a:rPr lang="en-IN" dirty="0"/>
              <a:t>   {</a:t>
            </a:r>
          </a:p>
          <a:p>
            <a:r>
              <a:rPr lang="en-IN" dirty="0"/>
              <a:t>      "Product description": "A pair of shoes that can \</a:t>
            </a:r>
          </a:p>
          <a:p>
            <a:r>
              <a:rPr lang="en-IN" dirty="0"/>
              <a:t>      fit any foot size.",</a:t>
            </a:r>
          </a:p>
          <a:p>
            <a:r>
              <a:rPr lang="en-IN" dirty="0"/>
              <a:t>      "Product names": ["</a:t>
            </a:r>
            <a:r>
              <a:rPr lang="en-IN" dirty="0" err="1"/>
              <a:t>FlexFit</a:t>
            </a:r>
            <a:r>
              <a:rPr lang="en-IN" dirty="0"/>
              <a:t> Footwear", "</a:t>
            </a:r>
            <a:r>
              <a:rPr lang="en-IN" dirty="0" err="1"/>
              <a:t>OneSize</a:t>
            </a:r>
            <a:r>
              <a:rPr lang="en-IN" dirty="0"/>
              <a:t> Step",</a:t>
            </a:r>
          </a:p>
          <a:p>
            <a:r>
              <a:rPr lang="en-IN" dirty="0"/>
              <a:t>      "Adapt-a-Shoe", "Universal Walker"]</a:t>
            </a:r>
          </a:p>
          <a:p>
            <a:r>
              <a:rPr lang="en-IN" dirty="0"/>
              <a:t>   }</a:t>
            </a:r>
          </a:p>
          <a:p>
            <a:r>
              <a:rPr lang="en-IN" dirty="0"/>
              <a:t>]</a:t>
            </a:r>
          </a:p>
        </p:txBody>
      </p:sp>
      <p:sp>
        <p:nvSpPr>
          <p:cNvPr id="10" name="TextBox 9">
            <a:extLst>
              <a:ext uri="{FF2B5EF4-FFF2-40B4-BE49-F238E27FC236}">
                <a16:creationId xmlns:a16="http://schemas.microsoft.com/office/drawing/2014/main" id="{FE4ECA14-045A-6AA9-E6A9-9113D2116E18}"/>
              </a:ext>
            </a:extLst>
          </p:cNvPr>
          <p:cNvSpPr txBox="1"/>
          <p:nvPr/>
        </p:nvSpPr>
        <p:spPr>
          <a:xfrm>
            <a:off x="254000" y="1478043"/>
            <a:ext cx="869149" cy="461665"/>
          </a:xfrm>
          <a:prstGeom prst="rect">
            <a:avLst/>
          </a:prstGeom>
          <a:noFill/>
        </p:spPr>
        <p:txBody>
          <a:bodyPr wrap="none" rtlCol="0">
            <a:spAutoFit/>
          </a:bodyPr>
          <a:lstStyle/>
          <a:p>
            <a:r>
              <a:rPr lang="en-IN" sz="2400" b="1" dirty="0"/>
              <a:t>Input</a:t>
            </a:r>
          </a:p>
        </p:txBody>
      </p:sp>
      <p:sp>
        <p:nvSpPr>
          <p:cNvPr id="11" name="TextBox 10">
            <a:extLst>
              <a:ext uri="{FF2B5EF4-FFF2-40B4-BE49-F238E27FC236}">
                <a16:creationId xmlns:a16="http://schemas.microsoft.com/office/drawing/2014/main" id="{729C8A3F-4259-7F07-16F3-CC39F48582F8}"/>
              </a:ext>
            </a:extLst>
          </p:cNvPr>
          <p:cNvSpPr txBox="1"/>
          <p:nvPr/>
        </p:nvSpPr>
        <p:spPr>
          <a:xfrm>
            <a:off x="7390487" y="1516403"/>
            <a:ext cx="1103187" cy="461665"/>
          </a:xfrm>
          <a:prstGeom prst="rect">
            <a:avLst/>
          </a:prstGeom>
          <a:noFill/>
        </p:spPr>
        <p:txBody>
          <a:bodyPr wrap="none" rtlCol="0">
            <a:spAutoFit/>
          </a:bodyPr>
          <a:lstStyle/>
          <a:p>
            <a:r>
              <a:rPr lang="en-IN" sz="2400" b="1" dirty="0"/>
              <a:t>Output</a:t>
            </a:r>
          </a:p>
        </p:txBody>
      </p:sp>
      <p:sp>
        <p:nvSpPr>
          <p:cNvPr id="12" name="TextBox 11">
            <a:extLst>
              <a:ext uri="{FF2B5EF4-FFF2-40B4-BE49-F238E27FC236}">
                <a16:creationId xmlns:a16="http://schemas.microsoft.com/office/drawing/2014/main" id="{74E11201-D9C1-439B-E52C-C03720C10BE1}"/>
              </a:ext>
            </a:extLst>
          </p:cNvPr>
          <p:cNvSpPr txBox="1"/>
          <p:nvPr/>
        </p:nvSpPr>
        <p:spPr>
          <a:xfrm>
            <a:off x="2458466" y="5911475"/>
            <a:ext cx="7275068" cy="461665"/>
          </a:xfrm>
          <a:prstGeom prst="rect">
            <a:avLst/>
          </a:prstGeom>
          <a:noFill/>
        </p:spPr>
        <p:txBody>
          <a:bodyPr wrap="none" rtlCol="0">
            <a:spAutoFit/>
          </a:bodyPr>
          <a:lstStyle/>
          <a:p>
            <a:r>
              <a:rPr lang="en-IN" sz="2400" b="1" dirty="0"/>
              <a:t>Examples in the same format helps along with direction </a:t>
            </a:r>
          </a:p>
        </p:txBody>
      </p:sp>
    </p:spTree>
    <p:extLst>
      <p:ext uri="{BB962C8B-B14F-4D97-AF65-F5344CB8AC3E}">
        <p14:creationId xmlns:p14="http://schemas.microsoft.com/office/powerpoint/2010/main" val="2532153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756A7-47FE-A5C5-A85B-B7269D490B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77343D-EA62-BCCF-23A5-FE777D3E419E}"/>
              </a:ext>
            </a:extLst>
          </p:cNvPr>
          <p:cNvSpPr txBox="1"/>
          <p:nvPr/>
        </p:nvSpPr>
        <p:spPr>
          <a:xfrm>
            <a:off x="3064427" y="132547"/>
            <a:ext cx="7309822" cy="707886"/>
          </a:xfrm>
          <a:prstGeom prst="rect">
            <a:avLst/>
          </a:prstGeom>
          <a:noFill/>
        </p:spPr>
        <p:txBody>
          <a:bodyPr wrap="none" rtlCol="0">
            <a:spAutoFit/>
          </a:bodyPr>
          <a:lstStyle/>
          <a:p>
            <a:r>
              <a:rPr lang="en-IN" sz="4000" b="1" dirty="0"/>
              <a:t>Strategies for Effective Prompting</a:t>
            </a:r>
          </a:p>
        </p:txBody>
      </p:sp>
      <p:sp>
        <p:nvSpPr>
          <p:cNvPr id="15" name="TextBox 14">
            <a:extLst>
              <a:ext uri="{FF2B5EF4-FFF2-40B4-BE49-F238E27FC236}">
                <a16:creationId xmlns:a16="http://schemas.microsoft.com/office/drawing/2014/main" id="{E079D308-0472-B648-302E-5B6678DEF1F4}"/>
              </a:ext>
            </a:extLst>
          </p:cNvPr>
          <p:cNvSpPr txBox="1"/>
          <p:nvPr/>
        </p:nvSpPr>
        <p:spPr>
          <a:xfrm>
            <a:off x="0" y="6334780"/>
            <a:ext cx="11853332" cy="523220"/>
          </a:xfrm>
          <a:prstGeom prst="rect">
            <a:avLst/>
          </a:prstGeom>
          <a:noFill/>
        </p:spPr>
        <p:txBody>
          <a:bodyPr wrap="square">
            <a:spAutoFit/>
          </a:bodyPr>
          <a:lstStyle/>
          <a:p>
            <a:endParaRPr lang="en-US" sz="1400" dirty="0"/>
          </a:p>
          <a:p>
            <a:r>
              <a:rPr lang="en-US" sz="1400" dirty="0"/>
              <a:t>Phoenix, James; Taylor, Mike. Prompt Engineering for Generative AI (p. 29). O'Reilly Media. Kindle Edition. </a:t>
            </a:r>
          </a:p>
        </p:txBody>
      </p:sp>
      <p:sp>
        <p:nvSpPr>
          <p:cNvPr id="5" name="TextBox 4">
            <a:extLst>
              <a:ext uri="{FF2B5EF4-FFF2-40B4-BE49-F238E27FC236}">
                <a16:creationId xmlns:a16="http://schemas.microsoft.com/office/drawing/2014/main" id="{2D7EDF58-D1B6-BB51-EF40-5885BEDCAA5F}"/>
              </a:ext>
            </a:extLst>
          </p:cNvPr>
          <p:cNvSpPr txBox="1"/>
          <p:nvPr/>
        </p:nvSpPr>
        <p:spPr>
          <a:xfrm>
            <a:off x="383821" y="952603"/>
            <a:ext cx="6107288" cy="461665"/>
          </a:xfrm>
          <a:prstGeom prst="rect">
            <a:avLst/>
          </a:prstGeom>
          <a:noFill/>
        </p:spPr>
        <p:txBody>
          <a:bodyPr wrap="square">
            <a:spAutoFit/>
          </a:bodyPr>
          <a:lstStyle/>
          <a:p>
            <a:r>
              <a:rPr lang="en-US" sz="2400" b="1" dirty="0"/>
              <a:t>Giving Examples</a:t>
            </a:r>
          </a:p>
        </p:txBody>
      </p:sp>
      <p:sp>
        <p:nvSpPr>
          <p:cNvPr id="12" name="TextBox 11">
            <a:extLst>
              <a:ext uri="{FF2B5EF4-FFF2-40B4-BE49-F238E27FC236}">
                <a16:creationId xmlns:a16="http://schemas.microsoft.com/office/drawing/2014/main" id="{F773C33D-B54E-DCDC-A7CB-A619EA3664AB}"/>
              </a:ext>
            </a:extLst>
          </p:cNvPr>
          <p:cNvSpPr txBox="1"/>
          <p:nvPr/>
        </p:nvSpPr>
        <p:spPr>
          <a:xfrm>
            <a:off x="383821" y="1587993"/>
            <a:ext cx="10772111" cy="2308324"/>
          </a:xfrm>
          <a:prstGeom prst="rect">
            <a:avLst/>
          </a:prstGeom>
          <a:noFill/>
        </p:spPr>
        <p:txBody>
          <a:bodyPr wrap="square" rtlCol="0">
            <a:spAutoFit/>
          </a:bodyPr>
          <a:lstStyle/>
          <a:p>
            <a:pPr marL="342900" indent="-342900">
              <a:buFont typeface="Arial" panose="020B0604020202020204" pitchFamily="34" charset="0"/>
              <a:buChar char="•"/>
            </a:pPr>
            <a:r>
              <a:rPr lang="en-IN" sz="2400" dirty="0"/>
              <a:t>Few shot examples help better. About 3-5 examples in the same format helps along with direction (</a:t>
            </a:r>
            <a:r>
              <a:rPr lang="en-IN" sz="2400" i="1" dirty="0" err="1"/>
              <a:t>Tradeoff</a:t>
            </a:r>
            <a:r>
              <a:rPr lang="en-IN" sz="2400" i="1" dirty="0"/>
              <a:t> between creativity and reliability</a:t>
            </a:r>
            <a:r>
              <a:rPr lang="en-IN" sz="2400" dirty="0"/>
              <a:t>). </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US" sz="2400" dirty="0"/>
              <a:t>Direction works better than providing examples and so it’s usually prudent to attempt the principle of Give Direction first.</a:t>
            </a:r>
          </a:p>
          <a:p>
            <a:endParaRPr lang="en-US" sz="2400" dirty="0"/>
          </a:p>
        </p:txBody>
      </p:sp>
      <p:sp>
        <p:nvSpPr>
          <p:cNvPr id="3" name="TextBox 2">
            <a:extLst>
              <a:ext uri="{FF2B5EF4-FFF2-40B4-BE49-F238E27FC236}">
                <a16:creationId xmlns:a16="http://schemas.microsoft.com/office/drawing/2014/main" id="{E731A9F2-2711-01B0-FC7B-776EF9EFB79D}"/>
              </a:ext>
            </a:extLst>
          </p:cNvPr>
          <p:cNvSpPr txBox="1"/>
          <p:nvPr/>
        </p:nvSpPr>
        <p:spPr>
          <a:xfrm>
            <a:off x="479778" y="3896317"/>
            <a:ext cx="10346266" cy="1938992"/>
          </a:xfrm>
          <a:prstGeom prst="rect">
            <a:avLst/>
          </a:prstGeom>
          <a:noFill/>
        </p:spPr>
        <p:txBody>
          <a:bodyPr wrap="square">
            <a:spAutoFit/>
          </a:bodyPr>
          <a:lstStyle/>
          <a:p>
            <a:r>
              <a:rPr lang="en-US" sz="2400" b="1" dirty="0"/>
              <a:t>Evaluation</a:t>
            </a:r>
          </a:p>
          <a:p>
            <a:endParaRPr lang="en-US" sz="2400" b="1" dirty="0"/>
          </a:p>
          <a:p>
            <a:r>
              <a:rPr lang="en-US" sz="2400" dirty="0"/>
              <a:t>Usually done programmatically.</a:t>
            </a:r>
          </a:p>
          <a:p>
            <a:endParaRPr lang="en-US" sz="2400" dirty="0"/>
          </a:p>
          <a:p>
            <a:r>
              <a:rPr lang="en-IN" sz="2400" dirty="0"/>
              <a:t>Evaluation criteria may include cost, latency, calls, performance, reasoning etc.</a:t>
            </a:r>
            <a:endParaRPr lang="en-US" sz="2400" b="1" dirty="0"/>
          </a:p>
        </p:txBody>
      </p:sp>
    </p:spTree>
    <p:extLst>
      <p:ext uri="{BB962C8B-B14F-4D97-AF65-F5344CB8AC3E}">
        <p14:creationId xmlns:p14="http://schemas.microsoft.com/office/powerpoint/2010/main" val="1128840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69963-1F1B-E5BA-AF54-9EDF25CC42C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040E50-81EE-59ED-444F-0981DC30A89B}"/>
              </a:ext>
            </a:extLst>
          </p:cNvPr>
          <p:cNvSpPr txBox="1"/>
          <p:nvPr/>
        </p:nvSpPr>
        <p:spPr>
          <a:xfrm>
            <a:off x="3064427" y="132547"/>
            <a:ext cx="7309822" cy="707886"/>
          </a:xfrm>
          <a:prstGeom prst="rect">
            <a:avLst/>
          </a:prstGeom>
          <a:noFill/>
        </p:spPr>
        <p:txBody>
          <a:bodyPr wrap="none" rtlCol="0">
            <a:spAutoFit/>
          </a:bodyPr>
          <a:lstStyle/>
          <a:p>
            <a:r>
              <a:rPr lang="en-IN" sz="4000" b="1" dirty="0"/>
              <a:t>Strategies for Effective Prompting</a:t>
            </a:r>
          </a:p>
        </p:txBody>
      </p:sp>
      <p:sp>
        <p:nvSpPr>
          <p:cNvPr id="15" name="TextBox 14">
            <a:extLst>
              <a:ext uri="{FF2B5EF4-FFF2-40B4-BE49-F238E27FC236}">
                <a16:creationId xmlns:a16="http://schemas.microsoft.com/office/drawing/2014/main" id="{7A8E3B3A-9447-7BDA-345D-4E1963E8B6C5}"/>
              </a:ext>
            </a:extLst>
          </p:cNvPr>
          <p:cNvSpPr txBox="1"/>
          <p:nvPr/>
        </p:nvSpPr>
        <p:spPr>
          <a:xfrm>
            <a:off x="0" y="6334780"/>
            <a:ext cx="11853332" cy="523220"/>
          </a:xfrm>
          <a:prstGeom prst="rect">
            <a:avLst/>
          </a:prstGeom>
          <a:noFill/>
        </p:spPr>
        <p:txBody>
          <a:bodyPr wrap="square">
            <a:spAutoFit/>
          </a:bodyPr>
          <a:lstStyle/>
          <a:p>
            <a:endParaRPr lang="en-US" sz="1400" dirty="0"/>
          </a:p>
          <a:p>
            <a:r>
              <a:rPr lang="en-US" sz="1400" dirty="0"/>
              <a:t>Phoenix, James; Taylor, Mike. Prompt Engineering for Generative AI (p. 29). O'Reilly Media. Kindle Edition. </a:t>
            </a:r>
          </a:p>
        </p:txBody>
      </p:sp>
      <p:sp>
        <p:nvSpPr>
          <p:cNvPr id="5" name="TextBox 4">
            <a:extLst>
              <a:ext uri="{FF2B5EF4-FFF2-40B4-BE49-F238E27FC236}">
                <a16:creationId xmlns:a16="http://schemas.microsoft.com/office/drawing/2014/main" id="{29973D0F-DA87-16CC-EF9F-AAC03D271C99}"/>
              </a:ext>
            </a:extLst>
          </p:cNvPr>
          <p:cNvSpPr txBox="1"/>
          <p:nvPr/>
        </p:nvSpPr>
        <p:spPr>
          <a:xfrm>
            <a:off x="383821" y="1126328"/>
            <a:ext cx="6107288" cy="461665"/>
          </a:xfrm>
          <a:prstGeom prst="rect">
            <a:avLst/>
          </a:prstGeom>
          <a:noFill/>
        </p:spPr>
        <p:txBody>
          <a:bodyPr wrap="square">
            <a:spAutoFit/>
          </a:bodyPr>
          <a:lstStyle/>
          <a:p>
            <a:r>
              <a:rPr lang="en-US" sz="2400" b="1" dirty="0"/>
              <a:t>Labor / Task division</a:t>
            </a:r>
          </a:p>
        </p:txBody>
      </p:sp>
      <p:sp>
        <p:nvSpPr>
          <p:cNvPr id="12" name="TextBox 11">
            <a:extLst>
              <a:ext uri="{FF2B5EF4-FFF2-40B4-BE49-F238E27FC236}">
                <a16:creationId xmlns:a16="http://schemas.microsoft.com/office/drawing/2014/main" id="{5B420804-6C6D-CA36-ADD5-165D3DD1983F}"/>
              </a:ext>
            </a:extLst>
          </p:cNvPr>
          <p:cNvSpPr txBox="1"/>
          <p:nvPr/>
        </p:nvSpPr>
        <p:spPr>
          <a:xfrm>
            <a:off x="383821" y="1587993"/>
            <a:ext cx="10772111"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Breaking your AI work into multiple calls that are chained together can help you accomplish more complex tasks, as well as provide more visibility into what part of the chain is failing.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Let us think step by step. Chain of thought prompts help in understanding the execution better.</a:t>
            </a:r>
          </a:p>
        </p:txBody>
      </p:sp>
    </p:spTree>
    <p:extLst>
      <p:ext uri="{BB962C8B-B14F-4D97-AF65-F5344CB8AC3E}">
        <p14:creationId xmlns:p14="http://schemas.microsoft.com/office/powerpoint/2010/main" val="1576898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7B44E-D84D-C83B-3CD6-A65EF2802B9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BF79976-0815-FD56-1658-AD1F392C8033}"/>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D5F0E1C2-B390-5113-BD38-A95D2D9041E2}"/>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5" name="TextBox 4">
            <a:extLst>
              <a:ext uri="{FF2B5EF4-FFF2-40B4-BE49-F238E27FC236}">
                <a16:creationId xmlns:a16="http://schemas.microsoft.com/office/drawing/2014/main" id="{B453465A-5F10-EBEB-AC13-C60DE1A35CF0}"/>
              </a:ext>
            </a:extLst>
          </p:cNvPr>
          <p:cNvSpPr txBox="1"/>
          <p:nvPr/>
        </p:nvSpPr>
        <p:spPr>
          <a:xfrm>
            <a:off x="383821" y="1126328"/>
            <a:ext cx="6107288" cy="461665"/>
          </a:xfrm>
          <a:prstGeom prst="rect">
            <a:avLst/>
          </a:prstGeom>
          <a:noFill/>
        </p:spPr>
        <p:txBody>
          <a:bodyPr wrap="square">
            <a:spAutoFit/>
          </a:bodyPr>
          <a:lstStyle/>
          <a:p>
            <a:r>
              <a:rPr lang="en-US" sz="2400" b="1" dirty="0"/>
              <a:t>Template based prompting</a:t>
            </a:r>
          </a:p>
        </p:txBody>
      </p:sp>
      <p:sp>
        <p:nvSpPr>
          <p:cNvPr id="12" name="TextBox 11">
            <a:extLst>
              <a:ext uri="{FF2B5EF4-FFF2-40B4-BE49-F238E27FC236}">
                <a16:creationId xmlns:a16="http://schemas.microsoft.com/office/drawing/2014/main" id="{4D7E455A-5A59-6CB2-7031-3A99C7995A40}"/>
              </a:ext>
            </a:extLst>
          </p:cNvPr>
          <p:cNvSpPr txBox="1"/>
          <p:nvPr/>
        </p:nvSpPr>
        <p:spPr>
          <a:xfrm>
            <a:off x="462844" y="2244330"/>
            <a:ext cx="11096979" cy="1938992"/>
          </a:xfrm>
          <a:prstGeom prst="rect">
            <a:avLst/>
          </a:prstGeom>
          <a:noFill/>
        </p:spPr>
        <p:txBody>
          <a:bodyPr wrap="square" rtlCol="0">
            <a:spAutoFit/>
          </a:bodyPr>
          <a:lstStyle/>
          <a:p>
            <a:r>
              <a:rPr lang="en-US" sz="2400" b="0" i="0" dirty="0">
                <a:solidFill>
                  <a:srgbClr val="434343"/>
                </a:solidFill>
                <a:effectLst/>
                <a:latin typeface="Arial" panose="020B0604020202020204" pitchFamily="34" charset="0"/>
              </a:rPr>
              <a:t>Template-based prompting is a powerful tool for harnessing the capabilities of large language models (LLMs) by providing them with a </a:t>
            </a:r>
            <a:r>
              <a:rPr lang="en-US" sz="2400" b="0" i="0" dirty="0">
                <a:solidFill>
                  <a:srgbClr val="434343"/>
                </a:solidFill>
                <a:effectLst/>
                <a:highlight>
                  <a:srgbClr val="FFFF00"/>
                </a:highlight>
                <a:latin typeface="Arial" panose="020B0604020202020204" pitchFamily="34" charset="0"/>
              </a:rPr>
              <a:t>structured framework </a:t>
            </a:r>
            <a:r>
              <a:rPr lang="en-US" sz="2400" b="0" i="0" dirty="0">
                <a:solidFill>
                  <a:srgbClr val="434343"/>
                </a:solidFill>
                <a:effectLst/>
                <a:latin typeface="Arial" panose="020B0604020202020204" pitchFamily="34" charset="0"/>
              </a:rPr>
              <a:t>for generating outputs. Think of it like giving your AI a pre-built house with defined rooms and functions, instead of just a pile of bricks. </a:t>
            </a:r>
            <a:r>
              <a:rPr lang="en-US" sz="2400" b="0" i="0" dirty="0">
                <a:solidFill>
                  <a:srgbClr val="434343"/>
                </a:solidFill>
                <a:effectLst/>
                <a:highlight>
                  <a:srgbClr val="FFFF00"/>
                </a:highlight>
                <a:latin typeface="Arial" panose="020B0604020202020204" pitchFamily="34" charset="0"/>
              </a:rPr>
              <a:t>This approach improves clarity, consistency, and reduces the risk of off-topic responses</a:t>
            </a:r>
            <a:r>
              <a:rPr lang="en-US" sz="2400" b="0" i="0" dirty="0">
                <a:solidFill>
                  <a:srgbClr val="434343"/>
                </a:solidFill>
                <a:effectLst/>
                <a:latin typeface="Arial" panose="020B0604020202020204" pitchFamily="34" charset="0"/>
              </a:rPr>
              <a:t>.</a:t>
            </a:r>
            <a:endParaRPr lang="en-US" sz="2400" dirty="0"/>
          </a:p>
        </p:txBody>
      </p:sp>
    </p:spTree>
    <p:extLst>
      <p:ext uri="{BB962C8B-B14F-4D97-AF65-F5344CB8AC3E}">
        <p14:creationId xmlns:p14="http://schemas.microsoft.com/office/powerpoint/2010/main" val="1298697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97DEB-3814-7F76-6A1D-99959B04AAD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910337-6A83-CB24-D3E9-AF8D0742F33D}"/>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7F860305-1568-4D31-6336-15153D17943A}"/>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5" name="TextBox 4">
            <a:extLst>
              <a:ext uri="{FF2B5EF4-FFF2-40B4-BE49-F238E27FC236}">
                <a16:creationId xmlns:a16="http://schemas.microsoft.com/office/drawing/2014/main" id="{9EA92ECA-5F08-B243-0823-890DB4CF29BD}"/>
              </a:ext>
            </a:extLst>
          </p:cNvPr>
          <p:cNvSpPr txBox="1"/>
          <p:nvPr/>
        </p:nvSpPr>
        <p:spPr>
          <a:xfrm>
            <a:off x="383821" y="1013439"/>
            <a:ext cx="6107288" cy="461665"/>
          </a:xfrm>
          <a:prstGeom prst="rect">
            <a:avLst/>
          </a:prstGeom>
          <a:noFill/>
        </p:spPr>
        <p:txBody>
          <a:bodyPr wrap="square">
            <a:spAutoFit/>
          </a:bodyPr>
          <a:lstStyle/>
          <a:p>
            <a:r>
              <a:rPr lang="en-US" sz="2400" b="1" dirty="0"/>
              <a:t>Template based prompting - Input</a:t>
            </a:r>
          </a:p>
        </p:txBody>
      </p:sp>
      <p:sp>
        <p:nvSpPr>
          <p:cNvPr id="3" name="TextBox 2">
            <a:extLst>
              <a:ext uri="{FF2B5EF4-FFF2-40B4-BE49-F238E27FC236}">
                <a16:creationId xmlns:a16="http://schemas.microsoft.com/office/drawing/2014/main" id="{686C2077-21C2-5182-2205-3F7E6EC5C02E}"/>
              </a:ext>
            </a:extLst>
          </p:cNvPr>
          <p:cNvSpPr txBox="1"/>
          <p:nvPr/>
        </p:nvSpPr>
        <p:spPr>
          <a:xfrm>
            <a:off x="479778" y="1729791"/>
            <a:ext cx="10212635" cy="4401205"/>
          </a:xfrm>
          <a:prstGeom prst="rect">
            <a:avLst/>
          </a:prstGeom>
          <a:noFill/>
        </p:spPr>
        <p:txBody>
          <a:bodyPr wrap="square">
            <a:spAutoFit/>
          </a:bodyPr>
          <a:lstStyle/>
          <a:p>
            <a:pPr marL="0" marR="0" algn="l" rtl="0" fontAlgn="base"/>
            <a:r>
              <a:rPr lang="en-US" sz="2000" b="0" i="0" u="none" strike="noStrike" dirty="0">
                <a:effectLst/>
                <a:latin typeface="Arial" panose="020B0604020202020204" pitchFamily="34" charset="0"/>
              </a:rPr>
              <a:t>I am a Product Analyst and I am trying to extract Product information from a given Paragraph in the following format:</a:t>
            </a:r>
          </a:p>
          <a:p>
            <a:pPr marL="0" marR="0" algn="l" rtl="0" fontAlgn="base"/>
            <a:br>
              <a:rPr lang="en-US" sz="2000" b="0" i="0" u="none" strike="noStrike" dirty="0">
                <a:effectLst/>
                <a:latin typeface="Arial" panose="020B0604020202020204" pitchFamily="34" charset="0"/>
              </a:rPr>
            </a:br>
            <a:r>
              <a:rPr lang="en-US" sz="2000" b="0" i="0" u="none" strike="noStrike" dirty="0">
                <a:effectLst/>
                <a:latin typeface="Arial" panose="020B0604020202020204" pitchFamily="34" charset="0"/>
              </a:rPr>
              <a:t>Product-Name: [Name of Product]</a:t>
            </a:r>
          </a:p>
          <a:p>
            <a:pPr marL="0" marR="0" algn="l" rtl="0" fontAlgn="base"/>
            <a:endParaRPr lang="en-US" sz="2000" b="0" i="0" u="none" strike="noStrike" dirty="0">
              <a:effectLst/>
              <a:latin typeface="Arial" panose="020B0604020202020204" pitchFamily="34" charset="0"/>
            </a:endParaRPr>
          </a:p>
          <a:p>
            <a:pPr marL="0" marR="0" algn="l" rtl="0" fontAlgn="base"/>
            <a:r>
              <a:rPr lang="en-US" sz="2000" b="0" i="0" u="none" strike="noStrike" dirty="0">
                <a:effectLst/>
                <a:latin typeface="Arial" panose="020B0604020202020204" pitchFamily="34" charset="0"/>
              </a:rPr>
              <a:t>Features:</a:t>
            </a:r>
          </a:p>
          <a:p>
            <a:pPr marL="457200" marR="0" indent="0" algn="l" rtl="0" fontAlgn="base"/>
            <a:r>
              <a:rPr lang="en-US" sz="2000" b="0" i="0" u="none" strike="noStrike" dirty="0">
                <a:effectLst/>
                <a:latin typeface="Arial" panose="020B0604020202020204" pitchFamily="34" charset="0"/>
              </a:rPr>
              <a:t>1) [Feature-1]</a:t>
            </a:r>
          </a:p>
          <a:p>
            <a:pPr marL="457200" marR="0" indent="0" algn="l" rtl="0" fontAlgn="base"/>
            <a:r>
              <a:rPr lang="en-US" sz="2000" b="0" i="0" u="none" strike="noStrike" dirty="0">
                <a:effectLst/>
                <a:latin typeface="Arial" panose="020B0604020202020204" pitchFamily="34" charset="0"/>
              </a:rPr>
              <a:t>2) [Feature-2]</a:t>
            </a:r>
          </a:p>
          <a:p>
            <a:pPr marL="457200" marR="0" indent="0" algn="l" rtl="0" fontAlgn="base"/>
            <a:r>
              <a:rPr lang="en-US" sz="2000" b="0" i="0" u="none" strike="noStrike" dirty="0">
                <a:effectLst/>
                <a:latin typeface="Arial" panose="020B0604020202020204" pitchFamily="34" charset="0"/>
              </a:rPr>
              <a:t>N) [Feature-N]</a:t>
            </a:r>
          </a:p>
          <a:p>
            <a:pPr marL="0" marR="0" algn="l" rtl="0" fontAlgn="base"/>
            <a:r>
              <a:rPr lang="en-US" sz="2000" b="0" i="0" u="none" strike="noStrike" dirty="0">
                <a:effectLst/>
                <a:latin typeface="Arial" panose="020B0604020202020204" pitchFamily="34" charset="0"/>
              </a:rPr>
              <a:t> </a:t>
            </a:r>
          </a:p>
          <a:p>
            <a:pPr marL="0" marR="0" algn="l" rtl="0" fontAlgn="base"/>
            <a:r>
              <a:rPr lang="en-US" sz="2000" b="0" i="0" u="none" strike="noStrike" dirty="0">
                <a:effectLst/>
                <a:latin typeface="Arial" panose="020B0604020202020204" pitchFamily="34" charset="0"/>
              </a:rPr>
              <a:t>Technical Specifications:</a:t>
            </a:r>
          </a:p>
          <a:p>
            <a:pPr marL="457200" marR="0" indent="0" algn="l" rtl="0" fontAlgn="base"/>
            <a:r>
              <a:rPr lang="en-US" sz="2000" b="0" i="0" u="none" strike="noStrike" dirty="0">
                <a:effectLst/>
                <a:latin typeface="Arial" panose="020B0604020202020204" pitchFamily="34" charset="0"/>
              </a:rPr>
              <a:t>1) [Specification-1]</a:t>
            </a:r>
          </a:p>
          <a:p>
            <a:pPr marL="457200" marR="0" indent="0" algn="l" rtl="0" fontAlgn="base"/>
            <a:r>
              <a:rPr lang="en-US" sz="2000" b="0" i="0" u="none" strike="noStrike" dirty="0">
                <a:effectLst/>
                <a:latin typeface="Arial" panose="020B0604020202020204" pitchFamily="34" charset="0"/>
              </a:rPr>
              <a:t>2) [Specification-2]</a:t>
            </a:r>
          </a:p>
          <a:p>
            <a:pPr marL="457200" marR="0" indent="0" algn="l" rtl="0" fontAlgn="base"/>
            <a:r>
              <a:rPr lang="en-US" sz="2000" b="0" i="0" u="none" strike="noStrike" dirty="0">
                <a:effectLst/>
                <a:latin typeface="Arial" panose="020B0604020202020204" pitchFamily="34" charset="0"/>
              </a:rPr>
              <a:t>n) [Specification-n]</a:t>
            </a:r>
          </a:p>
        </p:txBody>
      </p:sp>
      <p:sp>
        <p:nvSpPr>
          <p:cNvPr id="6" name="TextBox 5">
            <a:extLst>
              <a:ext uri="{FF2B5EF4-FFF2-40B4-BE49-F238E27FC236}">
                <a16:creationId xmlns:a16="http://schemas.microsoft.com/office/drawing/2014/main" id="{3EE9CD69-DAF8-EFF8-0CE8-1C36688A571F}"/>
              </a:ext>
            </a:extLst>
          </p:cNvPr>
          <p:cNvSpPr txBox="1"/>
          <p:nvPr/>
        </p:nvSpPr>
        <p:spPr>
          <a:xfrm>
            <a:off x="6491109" y="4143022"/>
            <a:ext cx="4048416" cy="461665"/>
          </a:xfrm>
          <a:prstGeom prst="rect">
            <a:avLst/>
          </a:prstGeom>
          <a:noFill/>
        </p:spPr>
        <p:txBody>
          <a:bodyPr wrap="none" rtlCol="0">
            <a:spAutoFit/>
          </a:bodyPr>
          <a:lstStyle/>
          <a:p>
            <a:r>
              <a:rPr lang="en-IN" sz="2400" dirty="0">
                <a:solidFill>
                  <a:srgbClr val="0070C0"/>
                </a:solidFill>
              </a:rPr>
              <a:t>Structure – Framework desired</a:t>
            </a:r>
          </a:p>
        </p:txBody>
      </p:sp>
    </p:spTree>
    <p:extLst>
      <p:ext uri="{BB962C8B-B14F-4D97-AF65-F5344CB8AC3E}">
        <p14:creationId xmlns:p14="http://schemas.microsoft.com/office/powerpoint/2010/main" val="1440442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ACAF5-3248-96C2-7D9B-C2CAD3AFB3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BCFE8A-35DC-2E49-F868-77DD07408C4C}"/>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AE77F78A-6ABB-107B-2649-FB256646ED2F}"/>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5" name="TextBox 4">
            <a:extLst>
              <a:ext uri="{FF2B5EF4-FFF2-40B4-BE49-F238E27FC236}">
                <a16:creationId xmlns:a16="http://schemas.microsoft.com/office/drawing/2014/main" id="{A28BB9E7-10B7-74C8-7792-E3DB50214858}"/>
              </a:ext>
            </a:extLst>
          </p:cNvPr>
          <p:cNvSpPr txBox="1"/>
          <p:nvPr/>
        </p:nvSpPr>
        <p:spPr>
          <a:xfrm>
            <a:off x="383821" y="1013439"/>
            <a:ext cx="6107288" cy="461665"/>
          </a:xfrm>
          <a:prstGeom prst="rect">
            <a:avLst/>
          </a:prstGeom>
          <a:noFill/>
        </p:spPr>
        <p:txBody>
          <a:bodyPr wrap="square">
            <a:spAutoFit/>
          </a:bodyPr>
          <a:lstStyle/>
          <a:p>
            <a:r>
              <a:rPr lang="en-US" sz="2400" b="1" dirty="0"/>
              <a:t>Template based prompting - Input</a:t>
            </a:r>
          </a:p>
        </p:txBody>
      </p:sp>
      <p:sp>
        <p:nvSpPr>
          <p:cNvPr id="3" name="TextBox 2">
            <a:extLst>
              <a:ext uri="{FF2B5EF4-FFF2-40B4-BE49-F238E27FC236}">
                <a16:creationId xmlns:a16="http://schemas.microsoft.com/office/drawing/2014/main" id="{35B7683F-8FC2-2461-3C0A-ED7E2CE579A5}"/>
              </a:ext>
            </a:extLst>
          </p:cNvPr>
          <p:cNvSpPr txBox="1"/>
          <p:nvPr/>
        </p:nvSpPr>
        <p:spPr>
          <a:xfrm>
            <a:off x="1078088" y="2116109"/>
            <a:ext cx="8641645" cy="3170099"/>
          </a:xfrm>
          <a:prstGeom prst="rect">
            <a:avLst/>
          </a:prstGeom>
          <a:noFill/>
        </p:spPr>
        <p:txBody>
          <a:bodyPr wrap="square">
            <a:spAutoFit/>
          </a:bodyPr>
          <a:lstStyle/>
          <a:p>
            <a:pPr marL="0" marR="0" algn="l" rtl="0" fontAlgn="base"/>
            <a:r>
              <a:rPr lang="en-US" sz="2000" b="0" i="0" u="none" strike="noStrike" dirty="0">
                <a:effectLst/>
                <a:latin typeface="Arial" panose="020B0604020202020204" pitchFamily="34" charset="0"/>
              </a:rPr>
              <a:t>While extracting the Product Information it should also follow below set rules:</a:t>
            </a:r>
          </a:p>
          <a:p>
            <a:pPr marL="0" marR="0" algn="l" rtl="0" fontAlgn="base"/>
            <a:endParaRPr lang="en-US" sz="2000" b="0" i="0" u="none" strike="noStrike" dirty="0">
              <a:effectLst/>
              <a:latin typeface="Arial" panose="020B0604020202020204" pitchFamily="34" charset="0"/>
            </a:endParaRPr>
          </a:p>
          <a:p>
            <a:pPr marL="0" marR="0" algn="l" rtl="0" fontAlgn="base"/>
            <a:r>
              <a:rPr lang="en-US" sz="2000" b="0" i="0" u="none" strike="noStrike" dirty="0">
                <a:effectLst/>
                <a:latin typeface="Arial" panose="020B0604020202020204" pitchFamily="34" charset="0"/>
              </a:rPr>
              <a:t>a) The Details in "Features" and "Technical Specifications" should not repeat</a:t>
            </a:r>
          </a:p>
          <a:p>
            <a:pPr marL="0" marR="0" algn="l" rtl="0" fontAlgn="base"/>
            <a:endParaRPr lang="en-US" sz="2000" b="0" i="0" u="none" strike="noStrike" dirty="0">
              <a:effectLst/>
              <a:latin typeface="Arial" panose="020B0604020202020204" pitchFamily="34" charset="0"/>
            </a:endParaRPr>
          </a:p>
          <a:p>
            <a:pPr marL="0" marR="0" algn="l" rtl="0" fontAlgn="base"/>
            <a:r>
              <a:rPr lang="en-US" sz="2000" b="0" i="0" u="none" strike="noStrike" dirty="0">
                <a:effectLst/>
                <a:latin typeface="Arial" panose="020B0604020202020204" pitchFamily="34" charset="0"/>
              </a:rPr>
              <a:t>b) Features should be mainly focused on Usability of the Product</a:t>
            </a:r>
          </a:p>
          <a:p>
            <a:pPr marL="0" marR="0" algn="l" rtl="0" fontAlgn="base"/>
            <a:endParaRPr lang="en-US" sz="2000" b="0" i="0" u="none" strike="noStrike" dirty="0">
              <a:effectLst/>
              <a:latin typeface="Arial" panose="020B0604020202020204" pitchFamily="34" charset="0"/>
            </a:endParaRPr>
          </a:p>
          <a:p>
            <a:pPr marL="0" marR="0" algn="l" rtl="0" fontAlgn="base"/>
            <a:r>
              <a:rPr lang="en-US" sz="2000" b="0" i="0" u="none" strike="noStrike" dirty="0">
                <a:effectLst/>
                <a:latin typeface="Arial" panose="020B0604020202020204" pitchFamily="34" charset="0"/>
              </a:rPr>
              <a:t>c) Technical Specifications should be focused on the Technical aspects of the Product</a:t>
            </a:r>
          </a:p>
        </p:txBody>
      </p:sp>
      <p:sp>
        <p:nvSpPr>
          <p:cNvPr id="2" name="TextBox 1">
            <a:extLst>
              <a:ext uri="{FF2B5EF4-FFF2-40B4-BE49-F238E27FC236}">
                <a16:creationId xmlns:a16="http://schemas.microsoft.com/office/drawing/2014/main" id="{5E8488C3-0470-0839-6270-2C87D19CB57C}"/>
              </a:ext>
            </a:extLst>
          </p:cNvPr>
          <p:cNvSpPr txBox="1"/>
          <p:nvPr/>
        </p:nvSpPr>
        <p:spPr>
          <a:xfrm>
            <a:off x="10058398" y="3125941"/>
            <a:ext cx="857927" cy="461665"/>
          </a:xfrm>
          <a:prstGeom prst="rect">
            <a:avLst/>
          </a:prstGeom>
          <a:noFill/>
        </p:spPr>
        <p:txBody>
          <a:bodyPr wrap="none" rtlCol="0">
            <a:spAutoFit/>
          </a:bodyPr>
          <a:lstStyle/>
          <a:p>
            <a:r>
              <a:rPr lang="en-IN" sz="2400" dirty="0">
                <a:solidFill>
                  <a:srgbClr val="0070C0"/>
                </a:solidFill>
              </a:rPr>
              <a:t>Rules</a:t>
            </a:r>
          </a:p>
        </p:txBody>
      </p:sp>
    </p:spTree>
    <p:extLst>
      <p:ext uri="{BB962C8B-B14F-4D97-AF65-F5344CB8AC3E}">
        <p14:creationId xmlns:p14="http://schemas.microsoft.com/office/powerpoint/2010/main" val="2482827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BBE75-FAAE-36E6-7572-B6361A70A2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1C179D-8AAF-6CC7-AEF0-CA3931ACBAF1}"/>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845614F1-0A80-5118-9190-E2EEDA2B3C87}"/>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5" name="TextBox 4">
            <a:extLst>
              <a:ext uri="{FF2B5EF4-FFF2-40B4-BE49-F238E27FC236}">
                <a16:creationId xmlns:a16="http://schemas.microsoft.com/office/drawing/2014/main" id="{7FC4151D-4951-389B-1719-8B211C6D6567}"/>
              </a:ext>
            </a:extLst>
          </p:cNvPr>
          <p:cNvSpPr txBox="1"/>
          <p:nvPr/>
        </p:nvSpPr>
        <p:spPr>
          <a:xfrm>
            <a:off x="338668" y="926936"/>
            <a:ext cx="6107288" cy="461665"/>
          </a:xfrm>
          <a:prstGeom prst="rect">
            <a:avLst/>
          </a:prstGeom>
          <a:noFill/>
        </p:spPr>
        <p:txBody>
          <a:bodyPr wrap="square">
            <a:spAutoFit/>
          </a:bodyPr>
          <a:lstStyle/>
          <a:p>
            <a:r>
              <a:rPr lang="en-US" sz="2400" b="1" dirty="0"/>
              <a:t>Template based prompting - Input</a:t>
            </a:r>
          </a:p>
        </p:txBody>
      </p:sp>
      <p:sp>
        <p:nvSpPr>
          <p:cNvPr id="6" name="TextBox 5">
            <a:extLst>
              <a:ext uri="{FF2B5EF4-FFF2-40B4-BE49-F238E27FC236}">
                <a16:creationId xmlns:a16="http://schemas.microsoft.com/office/drawing/2014/main" id="{4865A87F-0E0D-7AC4-5A29-90A3C64C7F46}"/>
              </a:ext>
            </a:extLst>
          </p:cNvPr>
          <p:cNvSpPr txBox="1"/>
          <p:nvPr/>
        </p:nvSpPr>
        <p:spPr>
          <a:xfrm>
            <a:off x="338668" y="1216253"/>
            <a:ext cx="11853332" cy="5509200"/>
          </a:xfrm>
          <a:prstGeom prst="rect">
            <a:avLst/>
          </a:prstGeom>
          <a:noFill/>
        </p:spPr>
        <p:txBody>
          <a:bodyPr wrap="square">
            <a:spAutoFit/>
          </a:bodyPr>
          <a:lstStyle/>
          <a:p>
            <a:pPr marL="0" marR="0" algn="l" rtl="0" fontAlgn="base"/>
            <a:r>
              <a:rPr lang="en-US" sz="1600" b="0" i="0" u="none" strike="noStrike" dirty="0">
                <a:effectLst/>
                <a:latin typeface="Arial" panose="020B0604020202020204" pitchFamily="34" charset="0"/>
              </a:rPr>
              <a:t>For Example:</a:t>
            </a:r>
          </a:p>
          <a:p>
            <a:pPr marL="0" marR="0" algn="l" rtl="0" fontAlgn="base"/>
            <a:r>
              <a:rPr lang="en-US" sz="1600" b="0" i="0" u="none" strike="noStrike" dirty="0">
                <a:effectLst/>
                <a:latin typeface="Arial" panose="020B0604020202020204" pitchFamily="34" charset="0"/>
              </a:rPr>
              <a:t>Input Paragraph is as follows: "Easy to grip. Satisfying to hold. With their unified design and satin finish, </a:t>
            </a:r>
            <a:r>
              <a:rPr lang="en-US" sz="1600" b="0" i="0" u="none" strike="noStrike" dirty="0" err="1">
                <a:effectLst/>
                <a:latin typeface="Arial" panose="020B0604020202020204" pitchFamily="34" charset="0"/>
              </a:rPr>
              <a:t>GPhone</a:t>
            </a:r>
            <a:r>
              <a:rPr lang="en-US" sz="1600" b="0" i="0" u="none" strike="noStrike" dirty="0">
                <a:effectLst/>
                <a:latin typeface="Arial" panose="020B0604020202020204" pitchFamily="34" charset="0"/>
              </a:rPr>
              <a:t> S24 feels as smooth as it looks. They're the upgrades you've waited for. More screen (7 Inch). More battery (6000mAh lithium-ion). More processing power (2.4GH 5nm processor) . There's so much more to love about Galaxy S24. A true pixel powerhouse that will not disappoint. Ever. Snap high-res pics for that will no doubt withstand the test of time for years to come. Search like never before with Circle to Search. Simply trace an object to get Google Search results. It's a new visual way to find what you're looking for. Get quick language translation on your next phone call. That's right, AI helps you communicate outside your own language while you talk on the phone. And get this, it even works on messaging."</a:t>
            </a:r>
            <a:br>
              <a:rPr lang="en-US" sz="1600" b="0" i="0" u="none" strike="noStrike" dirty="0">
                <a:effectLst/>
                <a:latin typeface="Arial" panose="020B0604020202020204" pitchFamily="34" charset="0"/>
              </a:rPr>
            </a:br>
            <a:br>
              <a:rPr lang="en-US" sz="1600" b="0" i="0" u="none" strike="noStrike" dirty="0">
                <a:effectLst/>
                <a:latin typeface="Arial" panose="020B0604020202020204" pitchFamily="34" charset="0"/>
              </a:rPr>
            </a:br>
            <a:r>
              <a:rPr lang="en-US" sz="1600" b="0" i="0" u="none" strike="noStrike" dirty="0">
                <a:effectLst/>
                <a:latin typeface="Arial" panose="020B0604020202020204" pitchFamily="34" charset="0"/>
              </a:rPr>
              <a:t>Output is:</a:t>
            </a:r>
          </a:p>
          <a:p>
            <a:pPr marL="0" marR="0" algn="l" rtl="0" fontAlgn="base"/>
            <a:r>
              <a:rPr lang="en-US" sz="1600" b="0" i="0" u="none" strike="noStrike" dirty="0">
                <a:effectLst/>
                <a:latin typeface="Arial" panose="020B0604020202020204" pitchFamily="34" charset="0"/>
              </a:rPr>
              <a:t>Product-Name: </a:t>
            </a:r>
            <a:r>
              <a:rPr lang="en-US" sz="1600" b="0" i="0" u="none" strike="noStrike" dirty="0" err="1">
                <a:effectLst/>
                <a:latin typeface="Arial" panose="020B0604020202020204" pitchFamily="34" charset="0"/>
              </a:rPr>
              <a:t>GPhone</a:t>
            </a:r>
            <a:r>
              <a:rPr lang="en-US" sz="1600" b="0" i="0" u="none" strike="noStrike" dirty="0">
                <a:effectLst/>
                <a:latin typeface="Arial" panose="020B0604020202020204" pitchFamily="34" charset="0"/>
              </a:rPr>
              <a:t> S24</a:t>
            </a:r>
          </a:p>
          <a:p>
            <a:pPr marL="0" marR="0" algn="l" rtl="0" fontAlgn="base"/>
            <a:r>
              <a:rPr lang="en-US" sz="1600" b="0" i="0" u="none" strike="noStrike" dirty="0">
                <a:effectLst/>
                <a:latin typeface="Arial" panose="020B0604020202020204" pitchFamily="34" charset="0"/>
              </a:rPr>
              <a:t>Features:</a:t>
            </a:r>
          </a:p>
          <a:p>
            <a:pPr marL="457200" marR="0" indent="0" algn="l" rtl="0" fontAlgn="base"/>
            <a:r>
              <a:rPr lang="en-US" sz="1600" b="0" i="0" u="none" strike="noStrike" dirty="0">
                <a:effectLst/>
                <a:latin typeface="Arial" panose="020B0604020202020204" pitchFamily="34" charset="0"/>
              </a:rPr>
              <a:t>1) Easy to Grip</a:t>
            </a:r>
          </a:p>
          <a:p>
            <a:pPr marL="457200" marR="0" indent="0" algn="l" rtl="0" fontAlgn="base"/>
            <a:r>
              <a:rPr lang="en-US" sz="1600" b="0" i="0" u="none" strike="noStrike" dirty="0">
                <a:effectLst/>
                <a:latin typeface="Arial" panose="020B0604020202020204" pitchFamily="34" charset="0"/>
              </a:rPr>
              <a:t>2) Satisfying to hold</a:t>
            </a:r>
          </a:p>
          <a:p>
            <a:pPr marL="457200" marR="0" indent="0" algn="l" rtl="0" fontAlgn="base"/>
            <a:r>
              <a:rPr lang="en-US" sz="1600" b="0" i="0" u="none" strike="noStrike" dirty="0">
                <a:effectLst/>
                <a:latin typeface="Arial" panose="020B0604020202020204" pitchFamily="34" charset="0"/>
              </a:rPr>
              <a:t>3) Unified Design and Satin Finish</a:t>
            </a:r>
          </a:p>
          <a:p>
            <a:pPr marL="457200" marR="0" indent="0" algn="l" rtl="0" fontAlgn="base"/>
            <a:r>
              <a:rPr lang="en-US" sz="1600" b="0" i="0" u="none" strike="noStrike" dirty="0">
                <a:effectLst/>
                <a:latin typeface="Arial" panose="020B0604020202020204" pitchFamily="34" charset="0"/>
              </a:rPr>
              <a:t>4) To search just Circle the content and go for Search</a:t>
            </a:r>
          </a:p>
          <a:p>
            <a:pPr marL="457200" marR="0" indent="0" algn="l" rtl="0" fontAlgn="base"/>
            <a:r>
              <a:rPr lang="en-US" sz="1600" b="0" i="0" u="none" strike="noStrike" dirty="0">
                <a:effectLst/>
                <a:latin typeface="Arial" panose="020B0604020202020204" pitchFamily="34" charset="0"/>
              </a:rPr>
              <a:t>5) Quick Language Translation</a:t>
            </a:r>
          </a:p>
          <a:p>
            <a:pPr marL="0" marR="0" algn="l" rtl="0" fontAlgn="base"/>
            <a:r>
              <a:rPr lang="en-US" sz="1600" b="0" i="0" u="none" strike="noStrike" dirty="0">
                <a:effectLst/>
                <a:latin typeface="Arial" panose="020B0604020202020204" pitchFamily="34" charset="0"/>
              </a:rPr>
              <a:t> </a:t>
            </a:r>
          </a:p>
          <a:p>
            <a:pPr marL="0" marR="0" algn="l" rtl="0" fontAlgn="base"/>
            <a:r>
              <a:rPr lang="en-US" sz="1600" b="0" i="0" u="none" strike="noStrike" dirty="0">
                <a:effectLst/>
                <a:latin typeface="Arial" panose="020B0604020202020204" pitchFamily="34" charset="0"/>
              </a:rPr>
              <a:t>Technical Specifications:</a:t>
            </a:r>
          </a:p>
          <a:p>
            <a:pPr marL="457200" marR="0" indent="0" algn="l" rtl="0" fontAlgn="base"/>
            <a:r>
              <a:rPr lang="en-US" sz="1600" b="0" i="0" u="none" strike="noStrike" dirty="0">
                <a:effectLst/>
                <a:latin typeface="Arial" panose="020B0604020202020204" pitchFamily="34" charset="0"/>
              </a:rPr>
              <a:t>1) More Battery - 6000mAh lithium-ion</a:t>
            </a:r>
          </a:p>
          <a:p>
            <a:pPr marL="457200" marR="0" indent="0" algn="l" rtl="0" fontAlgn="base"/>
            <a:r>
              <a:rPr lang="en-US" sz="1600" b="0" i="0" u="none" strike="noStrike" dirty="0">
                <a:effectLst/>
                <a:latin typeface="Arial" panose="020B0604020202020204" pitchFamily="34" charset="0"/>
              </a:rPr>
              <a:t>2) More Screen size - 7 Inch</a:t>
            </a:r>
          </a:p>
          <a:p>
            <a:pPr marL="457200" marR="0" indent="0" algn="l" rtl="0" fontAlgn="base"/>
            <a:r>
              <a:rPr lang="en-US" sz="1600" b="0" i="0" u="none" strike="noStrike" dirty="0">
                <a:effectLst/>
                <a:latin typeface="Arial" panose="020B0604020202020204" pitchFamily="34" charset="0"/>
              </a:rPr>
              <a:t>3) More Processing Power - 2.4GH 5nm processor</a:t>
            </a:r>
          </a:p>
        </p:txBody>
      </p:sp>
      <p:sp>
        <p:nvSpPr>
          <p:cNvPr id="7" name="TextBox 6">
            <a:extLst>
              <a:ext uri="{FF2B5EF4-FFF2-40B4-BE49-F238E27FC236}">
                <a16:creationId xmlns:a16="http://schemas.microsoft.com/office/drawing/2014/main" id="{1015F635-CDE4-B57A-2BBA-D325AB48B5D8}"/>
              </a:ext>
            </a:extLst>
          </p:cNvPr>
          <p:cNvSpPr txBox="1"/>
          <p:nvPr/>
        </p:nvSpPr>
        <p:spPr>
          <a:xfrm>
            <a:off x="8376354" y="3740020"/>
            <a:ext cx="1241878" cy="461665"/>
          </a:xfrm>
          <a:prstGeom prst="rect">
            <a:avLst/>
          </a:prstGeom>
          <a:noFill/>
        </p:spPr>
        <p:txBody>
          <a:bodyPr wrap="none" rtlCol="0">
            <a:spAutoFit/>
          </a:bodyPr>
          <a:lstStyle/>
          <a:p>
            <a:r>
              <a:rPr lang="en-IN" sz="2400" dirty="0">
                <a:solidFill>
                  <a:srgbClr val="0070C0"/>
                </a:solidFill>
              </a:rPr>
              <a:t>Example</a:t>
            </a:r>
          </a:p>
        </p:txBody>
      </p:sp>
    </p:spTree>
    <p:extLst>
      <p:ext uri="{BB962C8B-B14F-4D97-AF65-F5344CB8AC3E}">
        <p14:creationId xmlns:p14="http://schemas.microsoft.com/office/powerpoint/2010/main" val="3568689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638DF-0037-E740-F83C-A152350F97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1B0498-6B4C-488F-F440-7709822F9453}"/>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DE6C17CE-A825-DBF8-155F-D389AAD7F5F8}"/>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5" name="TextBox 4">
            <a:extLst>
              <a:ext uri="{FF2B5EF4-FFF2-40B4-BE49-F238E27FC236}">
                <a16:creationId xmlns:a16="http://schemas.microsoft.com/office/drawing/2014/main" id="{40EDF98A-73DD-7859-E53B-BBE0A97F2397}"/>
              </a:ext>
            </a:extLst>
          </p:cNvPr>
          <p:cNvSpPr txBox="1"/>
          <p:nvPr/>
        </p:nvSpPr>
        <p:spPr>
          <a:xfrm>
            <a:off x="338668" y="926936"/>
            <a:ext cx="6107288" cy="461665"/>
          </a:xfrm>
          <a:prstGeom prst="rect">
            <a:avLst/>
          </a:prstGeom>
          <a:noFill/>
        </p:spPr>
        <p:txBody>
          <a:bodyPr wrap="square">
            <a:spAutoFit/>
          </a:bodyPr>
          <a:lstStyle/>
          <a:p>
            <a:r>
              <a:rPr lang="en-US" sz="2400" b="1" dirty="0"/>
              <a:t>Template based prompting - Input</a:t>
            </a:r>
          </a:p>
        </p:txBody>
      </p:sp>
      <p:sp>
        <p:nvSpPr>
          <p:cNvPr id="6" name="TextBox 5">
            <a:extLst>
              <a:ext uri="{FF2B5EF4-FFF2-40B4-BE49-F238E27FC236}">
                <a16:creationId xmlns:a16="http://schemas.microsoft.com/office/drawing/2014/main" id="{F99F62A9-EBA4-68DB-731E-30FE63E5DD22}"/>
              </a:ext>
            </a:extLst>
          </p:cNvPr>
          <p:cNvSpPr txBox="1"/>
          <p:nvPr/>
        </p:nvSpPr>
        <p:spPr>
          <a:xfrm>
            <a:off x="338668" y="1656702"/>
            <a:ext cx="11187288" cy="2031325"/>
          </a:xfrm>
          <a:prstGeom prst="rect">
            <a:avLst/>
          </a:prstGeom>
          <a:noFill/>
        </p:spPr>
        <p:txBody>
          <a:bodyPr wrap="square">
            <a:spAutoFit/>
          </a:bodyPr>
          <a:lstStyle/>
          <a:p>
            <a:pPr marL="0" marR="0" algn="l" rtl="0" fontAlgn="base"/>
            <a:r>
              <a:rPr lang="en-US" b="0" i="0" dirty="0">
                <a:effectLst/>
                <a:latin typeface="Arial" panose="020B0604020202020204" pitchFamily="34" charset="0"/>
              </a:rPr>
              <a:t>Now give the Product output for the following paragraph "</a:t>
            </a:r>
            <a:r>
              <a:rPr lang="en-US" b="0" i="0" dirty="0" err="1">
                <a:effectLst/>
                <a:latin typeface="Arial" panose="020B0604020202020204" pitchFamily="34" charset="0"/>
              </a:rPr>
              <a:t>GPhone</a:t>
            </a:r>
            <a:r>
              <a:rPr lang="en-US" b="0" i="0" dirty="0">
                <a:effectLst/>
                <a:latin typeface="Arial" panose="020B0604020202020204" pitchFamily="34" charset="0"/>
              </a:rPr>
              <a:t> S24 5G has 16.42 Centimeters (6.5-Inch) Super AMOLED Display, FHD+ Resolution, 1080 x 2340 Pixels Protected by Corning Gorilla Glass 5 50MP+8MP+2MP Triple Camera Setup - True 50MP No Shake Cam (F1.8) Main Camera + 8MP (F2.2) + 2MP (F2.4)| 13MP (F2.0) Front Camera 6000mAH Lithium-ion battery, 1 Year Manufacturer Warranty for Device and 6 Months Manufacturer Warranty for Inbox Accessories including batteries from the date of purchase 4 Generations of OS Upgrades and 5 Years of Security Updates </a:t>
            </a:r>
            <a:r>
              <a:rPr lang="en-US" b="0" i="0" dirty="0" err="1">
                <a:effectLst/>
                <a:latin typeface="Arial" panose="020B0604020202020204" pitchFamily="34" charset="0"/>
              </a:rPr>
              <a:t>Exynos</a:t>
            </a:r>
            <a:r>
              <a:rPr lang="en-US" b="0" i="0" dirty="0">
                <a:effectLst/>
                <a:latin typeface="Arial" panose="020B0604020202020204" pitchFamily="34" charset="0"/>
              </a:rPr>
              <a:t> 1280 Octa Core 2.4GHz with the 12 Band Support for a True 5G Experience"</a:t>
            </a:r>
            <a:endParaRPr lang="en-US" b="0" i="0" u="none" strike="noStrike" dirty="0">
              <a:effectLst/>
              <a:latin typeface="Arial" panose="020B0604020202020204" pitchFamily="34" charset="0"/>
            </a:endParaRPr>
          </a:p>
        </p:txBody>
      </p:sp>
      <p:sp>
        <p:nvSpPr>
          <p:cNvPr id="2" name="TextBox 1">
            <a:extLst>
              <a:ext uri="{FF2B5EF4-FFF2-40B4-BE49-F238E27FC236}">
                <a16:creationId xmlns:a16="http://schemas.microsoft.com/office/drawing/2014/main" id="{FD8A9C58-0687-1D83-5509-4F0130264B80}"/>
              </a:ext>
            </a:extLst>
          </p:cNvPr>
          <p:cNvSpPr txBox="1"/>
          <p:nvPr/>
        </p:nvSpPr>
        <p:spPr>
          <a:xfrm>
            <a:off x="7337776" y="4042631"/>
            <a:ext cx="1644874" cy="461665"/>
          </a:xfrm>
          <a:prstGeom prst="rect">
            <a:avLst/>
          </a:prstGeom>
          <a:noFill/>
        </p:spPr>
        <p:txBody>
          <a:bodyPr wrap="none" rtlCol="0">
            <a:spAutoFit/>
          </a:bodyPr>
          <a:lstStyle/>
          <a:p>
            <a:r>
              <a:rPr lang="en-IN" sz="2400" dirty="0">
                <a:solidFill>
                  <a:srgbClr val="0070C0"/>
                </a:solidFill>
              </a:rPr>
              <a:t>Input query</a:t>
            </a:r>
          </a:p>
        </p:txBody>
      </p:sp>
    </p:spTree>
    <p:extLst>
      <p:ext uri="{BB962C8B-B14F-4D97-AF65-F5344CB8AC3E}">
        <p14:creationId xmlns:p14="http://schemas.microsoft.com/office/powerpoint/2010/main" val="3404185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4053A-8C0C-A691-D285-4F5CBE3C86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92D9D8-93E3-5062-0260-401CEC5D0E85}"/>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974A331C-0BE9-9EB1-2985-E9354DB0B74E}"/>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5" name="TextBox 4">
            <a:extLst>
              <a:ext uri="{FF2B5EF4-FFF2-40B4-BE49-F238E27FC236}">
                <a16:creationId xmlns:a16="http://schemas.microsoft.com/office/drawing/2014/main" id="{937C515B-E1BC-0212-B3AA-B668B7D8F430}"/>
              </a:ext>
            </a:extLst>
          </p:cNvPr>
          <p:cNvSpPr txBox="1"/>
          <p:nvPr/>
        </p:nvSpPr>
        <p:spPr>
          <a:xfrm>
            <a:off x="338668" y="926936"/>
            <a:ext cx="6107288" cy="461665"/>
          </a:xfrm>
          <a:prstGeom prst="rect">
            <a:avLst/>
          </a:prstGeom>
          <a:noFill/>
        </p:spPr>
        <p:txBody>
          <a:bodyPr wrap="square">
            <a:spAutoFit/>
          </a:bodyPr>
          <a:lstStyle/>
          <a:p>
            <a:r>
              <a:rPr lang="en-US" sz="2400" b="1" dirty="0"/>
              <a:t>Template based prompting - Output</a:t>
            </a:r>
          </a:p>
        </p:txBody>
      </p:sp>
      <p:sp>
        <p:nvSpPr>
          <p:cNvPr id="3" name="TextBox 2">
            <a:extLst>
              <a:ext uri="{FF2B5EF4-FFF2-40B4-BE49-F238E27FC236}">
                <a16:creationId xmlns:a16="http://schemas.microsoft.com/office/drawing/2014/main" id="{3808BB8E-08CE-712A-0E36-7C56F61E0B98}"/>
              </a:ext>
            </a:extLst>
          </p:cNvPr>
          <p:cNvSpPr txBox="1"/>
          <p:nvPr/>
        </p:nvSpPr>
        <p:spPr>
          <a:xfrm>
            <a:off x="618983" y="1388601"/>
            <a:ext cx="10615366" cy="5016758"/>
          </a:xfrm>
          <a:prstGeom prst="rect">
            <a:avLst/>
          </a:prstGeom>
          <a:noFill/>
        </p:spPr>
        <p:txBody>
          <a:bodyPr wrap="square">
            <a:spAutoFit/>
          </a:bodyPr>
          <a:lstStyle/>
          <a:p>
            <a:r>
              <a:rPr lang="en-IN" sz="2000" b="1" dirty="0">
                <a:solidFill>
                  <a:srgbClr val="0070C0"/>
                </a:solidFill>
              </a:rPr>
              <a:t>Sure! Here's the extracted product information from the provided paragraph:</a:t>
            </a:r>
          </a:p>
          <a:p>
            <a:endParaRPr lang="en-IN" sz="2000" b="1" dirty="0">
              <a:solidFill>
                <a:srgbClr val="0070C0"/>
              </a:solidFill>
            </a:endParaRPr>
          </a:p>
          <a:p>
            <a:r>
              <a:rPr lang="en-IN" sz="2000" b="1" dirty="0">
                <a:solidFill>
                  <a:srgbClr val="0070C0"/>
                </a:solidFill>
              </a:rPr>
              <a:t>Product-Name: </a:t>
            </a:r>
            <a:r>
              <a:rPr lang="en-IN" sz="2000" b="1" dirty="0" err="1">
                <a:solidFill>
                  <a:srgbClr val="0070C0"/>
                </a:solidFill>
              </a:rPr>
              <a:t>GPhone</a:t>
            </a:r>
            <a:r>
              <a:rPr lang="en-IN" sz="2000" b="1" dirty="0">
                <a:solidFill>
                  <a:srgbClr val="0070C0"/>
                </a:solidFill>
              </a:rPr>
              <a:t> S24 5G</a:t>
            </a:r>
          </a:p>
          <a:p>
            <a:endParaRPr lang="en-IN" sz="2000" b="1" dirty="0">
              <a:solidFill>
                <a:srgbClr val="0070C0"/>
              </a:solidFill>
            </a:endParaRPr>
          </a:p>
          <a:p>
            <a:r>
              <a:rPr lang="en-IN" sz="2000" b="1" dirty="0">
                <a:solidFill>
                  <a:srgbClr val="0070C0"/>
                </a:solidFill>
              </a:rPr>
              <a:t>Features:</a:t>
            </a:r>
          </a:p>
          <a:p>
            <a:pPr>
              <a:buFont typeface="+mj-lt"/>
              <a:buAutoNum type="arabicPeriod"/>
            </a:pPr>
            <a:r>
              <a:rPr lang="en-IN" sz="2000" b="1" dirty="0">
                <a:solidFill>
                  <a:srgbClr val="0070C0"/>
                </a:solidFill>
              </a:rPr>
              <a:t> Triple Camera Setup - True 50MP No Shake Cam (F1.8) Main Camera + 8MP (F2.2) + 2MP (F2.4)</a:t>
            </a:r>
          </a:p>
          <a:p>
            <a:pPr>
              <a:buFont typeface="+mj-lt"/>
              <a:buAutoNum type="arabicPeriod"/>
            </a:pPr>
            <a:r>
              <a:rPr lang="en-IN" sz="2000" b="1" dirty="0">
                <a:solidFill>
                  <a:srgbClr val="0070C0"/>
                </a:solidFill>
              </a:rPr>
              <a:t> 13MP (F2.0) Front Camera</a:t>
            </a:r>
          </a:p>
          <a:p>
            <a:pPr>
              <a:buFont typeface="+mj-lt"/>
              <a:buAutoNum type="arabicPeriod"/>
            </a:pPr>
            <a:r>
              <a:rPr lang="en-IN" sz="2000" b="1" dirty="0">
                <a:solidFill>
                  <a:srgbClr val="0070C0"/>
                </a:solidFill>
              </a:rPr>
              <a:t> 4 Generations of OS Upgrades</a:t>
            </a:r>
          </a:p>
          <a:p>
            <a:pPr>
              <a:buFont typeface="+mj-lt"/>
              <a:buAutoNum type="arabicPeriod"/>
            </a:pPr>
            <a:r>
              <a:rPr lang="en-IN" sz="2000" b="1" dirty="0">
                <a:solidFill>
                  <a:srgbClr val="0070C0"/>
                </a:solidFill>
              </a:rPr>
              <a:t> 5 Years of Security Updates</a:t>
            </a:r>
          </a:p>
          <a:p>
            <a:endParaRPr lang="en-IN" sz="2000" b="1" dirty="0">
              <a:solidFill>
                <a:srgbClr val="0070C0"/>
              </a:solidFill>
            </a:endParaRPr>
          </a:p>
          <a:p>
            <a:r>
              <a:rPr lang="en-IN" sz="2000" b="1" dirty="0">
                <a:solidFill>
                  <a:srgbClr val="0070C0"/>
                </a:solidFill>
              </a:rPr>
              <a:t>Technical Specifications:</a:t>
            </a:r>
          </a:p>
          <a:p>
            <a:pPr>
              <a:buFont typeface="+mj-lt"/>
              <a:buAutoNum type="arabicPeriod"/>
            </a:pPr>
            <a:r>
              <a:rPr lang="en-IN" sz="2000" b="1" dirty="0">
                <a:solidFill>
                  <a:srgbClr val="0070C0"/>
                </a:solidFill>
              </a:rPr>
              <a:t> 16.42 </a:t>
            </a:r>
            <a:r>
              <a:rPr lang="en-IN" sz="2000" b="1" dirty="0" err="1">
                <a:solidFill>
                  <a:srgbClr val="0070C0"/>
                </a:solidFill>
              </a:rPr>
              <a:t>Centimeters</a:t>
            </a:r>
            <a:r>
              <a:rPr lang="en-IN" sz="2000" b="1" dirty="0">
                <a:solidFill>
                  <a:srgbClr val="0070C0"/>
                </a:solidFill>
              </a:rPr>
              <a:t> (6.5-Inch) Super AMOLED Display</a:t>
            </a:r>
          </a:p>
          <a:p>
            <a:pPr>
              <a:buFont typeface="+mj-lt"/>
              <a:buAutoNum type="arabicPeriod"/>
            </a:pPr>
            <a:r>
              <a:rPr lang="en-IN" sz="2000" b="1" dirty="0">
                <a:solidFill>
                  <a:srgbClr val="0070C0"/>
                </a:solidFill>
              </a:rPr>
              <a:t> FHD+ Resolution, 1080 x 2340 Pixels</a:t>
            </a:r>
          </a:p>
          <a:p>
            <a:pPr>
              <a:buFont typeface="+mj-lt"/>
              <a:buAutoNum type="arabicPeriod"/>
            </a:pPr>
            <a:r>
              <a:rPr lang="en-IN" sz="2000" b="1" dirty="0">
                <a:solidFill>
                  <a:srgbClr val="0070C0"/>
                </a:solidFill>
              </a:rPr>
              <a:t> Protected by Corning Gorilla Glass 5</a:t>
            </a:r>
          </a:p>
          <a:p>
            <a:pPr>
              <a:buFont typeface="+mj-lt"/>
              <a:buAutoNum type="arabicPeriod"/>
            </a:pPr>
            <a:r>
              <a:rPr lang="en-IN" sz="2000" b="1" dirty="0">
                <a:solidFill>
                  <a:srgbClr val="0070C0"/>
                </a:solidFill>
              </a:rPr>
              <a:t> 6000mAH Lithium-ion battery</a:t>
            </a:r>
          </a:p>
          <a:p>
            <a:pPr>
              <a:buFont typeface="+mj-lt"/>
              <a:buAutoNum type="arabicPeriod"/>
            </a:pPr>
            <a:r>
              <a:rPr lang="en-IN" sz="2000" b="1" dirty="0">
                <a:solidFill>
                  <a:srgbClr val="0070C0"/>
                </a:solidFill>
              </a:rPr>
              <a:t> </a:t>
            </a:r>
            <a:r>
              <a:rPr lang="en-IN" sz="2000" b="1" dirty="0" err="1">
                <a:solidFill>
                  <a:srgbClr val="0070C0"/>
                </a:solidFill>
              </a:rPr>
              <a:t>Exynos</a:t>
            </a:r>
            <a:r>
              <a:rPr lang="en-IN" sz="2000" b="1" dirty="0">
                <a:solidFill>
                  <a:srgbClr val="0070C0"/>
                </a:solidFill>
              </a:rPr>
              <a:t> 1280 Octa Core 2.4GHz with the 12 Band Support for a True 5G Experience</a:t>
            </a:r>
          </a:p>
        </p:txBody>
      </p:sp>
    </p:spTree>
    <p:extLst>
      <p:ext uri="{BB962C8B-B14F-4D97-AF65-F5344CB8AC3E}">
        <p14:creationId xmlns:p14="http://schemas.microsoft.com/office/powerpoint/2010/main" val="3892210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BDF22-08A7-629E-C49B-2D6A1C9872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84D683-843D-5484-E8CE-1707942D88FC}"/>
              </a:ext>
            </a:extLst>
          </p:cNvPr>
          <p:cNvSpPr txBox="1"/>
          <p:nvPr/>
        </p:nvSpPr>
        <p:spPr>
          <a:xfrm>
            <a:off x="3098294" y="132547"/>
            <a:ext cx="7288855" cy="707886"/>
          </a:xfrm>
          <a:prstGeom prst="rect">
            <a:avLst/>
          </a:prstGeom>
          <a:noFill/>
        </p:spPr>
        <p:txBody>
          <a:bodyPr wrap="none" rtlCol="0">
            <a:spAutoFit/>
          </a:bodyPr>
          <a:lstStyle/>
          <a:p>
            <a:r>
              <a:rPr lang="en-IN" sz="4000" b="1" dirty="0"/>
              <a:t>Reusable Templates for Prompts</a:t>
            </a:r>
          </a:p>
        </p:txBody>
      </p:sp>
      <p:sp>
        <p:nvSpPr>
          <p:cNvPr id="3" name="Rectangle 1">
            <a:extLst>
              <a:ext uri="{FF2B5EF4-FFF2-40B4-BE49-F238E27FC236}">
                <a16:creationId xmlns:a16="http://schemas.microsoft.com/office/drawing/2014/main" id="{79E7594C-D75F-264A-DB03-278613E9A5F3}"/>
              </a:ext>
            </a:extLst>
          </p:cNvPr>
          <p:cNvSpPr>
            <a:spLocks noChangeArrowheads="1"/>
          </p:cNvSpPr>
          <p:nvPr/>
        </p:nvSpPr>
        <p:spPr bwMode="auto">
          <a:xfrm>
            <a:off x="201561" y="1296026"/>
            <a:ext cx="117888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var(--artdeco-typography-mono)"/>
              </a:rPr>
              <a:t>Write a blog post on [topic] which will be published on [platform], focusing on [audience] with [SEO keywords].</a:t>
            </a:r>
            <a:r>
              <a:rPr kumimoji="0" lang="en-US" altLang="en-US" sz="1100" b="0" i="0" u="none" strike="noStrike" cap="none" normalizeH="0" baseline="0">
                <a:ln>
                  <a:noFill/>
                </a:ln>
                <a:solidFill>
                  <a:schemeClr val="tx1"/>
                </a:solidFill>
                <a:effectLst/>
              </a:rPr>
              <a:t> </a:t>
            </a:r>
            <a:endParaRPr kumimoji="0" lang="en-US" altLang="en-US" sz="32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E36B329D-94F8-ADEF-E624-B215570EB880}"/>
              </a:ext>
            </a:extLst>
          </p:cNvPr>
          <p:cNvSpPr txBox="1"/>
          <p:nvPr/>
        </p:nvSpPr>
        <p:spPr>
          <a:xfrm>
            <a:off x="1194618" y="1917481"/>
            <a:ext cx="8272540" cy="2862322"/>
          </a:xfrm>
          <a:prstGeom prst="rect">
            <a:avLst/>
          </a:prstGeom>
          <a:noFill/>
        </p:spPr>
        <p:txBody>
          <a:bodyPr wrap="square">
            <a:spAutoFit/>
          </a:bodyPr>
          <a:lstStyle>
            <a:defPPr>
              <a:defRPr lang="en-US"/>
            </a:defPPr>
            <a:lvl1pPr fontAlgn="auto">
              <a:defRPr sz="2400" b="1" i="0">
                <a:effectLst/>
                <a:highlight>
                  <a:srgbClr val="FFFFFF"/>
                </a:highlight>
                <a:latin typeface="-apple-system"/>
              </a:defRPr>
            </a:lvl1pPr>
          </a:lstStyle>
          <a:p>
            <a:pPr>
              <a:lnSpc>
                <a:spcPct val="150000"/>
              </a:lnSpc>
            </a:pPr>
            <a:r>
              <a:rPr lang="en-US" dirty="0"/>
              <a:t>Defined Placeholders:</a:t>
            </a:r>
          </a:p>
          <a:p>
            <a:pPr>
              <a:lnSpc>
                <a:spcPct val="150000"/>
              </a:lnSpc>
            </a:pPr>
            <a:r>
              <a:rPr lang="en-US" b="0" dirty="0"/>
              <a:t>[topic]: The subject of the blog post</a:t>
            </a:r>
          </a:p>
          <a:p>
            <a:pPr>
              <a:lnSpc>
                <a:spcPct val="150000"/>
              </a:lnSpc>
            </a:pPr>
            <a:r>
              <a:rPr lang="en-US" b="0" dirty="0"/>
              <a:t>[platform]: Where the blog post will be published</a:t>
            </a:r>
          </a:p>
          <a:p>
            <a:pPr>
              <a:lnSpc>
                <a:spcPct val="150000"/>
              </a:lnSpc>
            </a:pPr>
            <a:r>
              <a:rPr lang="en-US" b="0" dirty="0"/>
              <a:t>[audience]: The target audience</a:t>
            </a:r>
          </a:p>
          <a:p>
            <a:pPr>
              <a:lnSpc>
                <a:spcPct val="150000"/>
              </a:lnSpc>
            </a:pPr>
            <a:r>
              <a:rPr lang="en-US" b="0" dirty="0"/>
              <a:t>[SEO keywords]: Keywords for search engine optimization</a:t>
            </a:r>
          </a:p>
        </p:txBody>
      </p:sp>
      <p:sp>
        <p:nvSpPr>
          <p:cNvPr id="8" name="Rectangle 2">
            <a:extLst>
              <a:ext uri="{FF2B5EF4-FFF2-40B4-BE49-F238E27FC236}">
                <a16:creationId xmlns:a16="http://schemas.microsoft.com/office/drawing/2014/main" id="{654D6356-4068-DF5B-6734-53E5F87AD34C}"/>
              </a:ext>
            </a:extLst>
          </p:cNvPr>
          <p:cNvSpPr>
            <a:spLocks noChangeArrowheads="1"/>
          </p:cNvSpPr>
          <p:nvPr/>
        </p:nvSpPr>
        <p:spPr bwMode="auto">
          <a:xfrm>
            <a:off x="201561" y="5171301"/>
            <a:ext cx="1178887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var(--artdeco-typography-mono)"/>
              </a:rPr>
              <a:t>Write a blog post on </a:t>
            </a:r>
            <a:r>
              <a:rPr kumimoji="0" lang="en-US" altLang="en-US" sz="2000" b="0" i="0" u="none" strike="noStrike" cap="none" normalizeH="0" baseline="0" dirty="0">
                <a:ln>
                  <a:noFill/>
                </a:ln>
                <a:solidFill>
                  <a:srgbClr val="0070C0"/>
                </a:solidFill>
                <a:effectLst/>
                <a:latin typeface="var(--artdeco-typography-mono)"/>
              </a:rPr>
              <a:t>the importance of data visualization</a:t>
            </a:r>
            <a:r>
              <a:rPr kumimoji="0" lang="en-US" altLang="en-US" sz="2000" b="0" i="0" u="none" strike="noStrike" cap="none" normalizeH="0" baseline="0" dirty="0">
                <a:ln>
                  <a:noFill/>
                </a:ln>
                <a:solidFill>
                  <a:schemeClr val="tx1"/>
                </a:solidFill>
                <a:effectLst/>
                <a:latin typeface="var(--artdeco-typography-mono)"/>
              </a:rPr>
              <a:t> which will be published on </a:t>
            </a:r>
            <a:r>
              <a:rPr kumimoji="0" lang="en-US" altLang="en-US" sz="2000" b="0" i="0" u="none" strike="noStrike" cap="none" normalizeH="0" baseline="0" dirty="0">
                <a:ln>
                  <a:noFill/>
                </a:ln>
                <a:solidFill>
                  <a:srgbClr val="0070C0"/>
                </a:solidFill>
                <a:effectLst/>
                <a:latin typeface="var(--artdeco-typography-mono)"/>
              </a:rPr>
              <a:t>the Jeda.ai website</a:t>
            </a:r>
            <a:r>
              <a:rPr kumimoji="0" lang="en-US" altLang="en-US" sz="2000" b="0" i="0" u="none" strike="noStrike" cap="none" normalizeH="0" baseline="0" dirty="0">
                <a:ln>
                  <a:noFill/>
                </a:ln>
                <a:solidFill>
                  <a:schemeClr val="tx1"/>
                </a:solidFill>
                <a:effectLst/>
                <a:latin typeface="var(--artdeco-typography-mono)"/>
              </a:rPr>
              <a:t>, </a:t>
            </a:r>
            <a:r>
              <a:rPr kumimoji="0" lang="en-US" altLang="en-US" sz="2000" b="0" i="0" u="none" strike="noStrike" cap="none" normalizeH="0" baseline="0" dirty="0">
                <a:ln>
                  <a:noFill/>
                </a:ln>
                <a:effectLst/>
                <a:latin typeface="var(--artdeco-typography-mono)"/>
              </a:rPr>
              <a:t>focusing on </a:t>
            </a:r>
            <a:r>
              <a:rPr kumimoji="0" lang="en-US" altLang="en-US" sz="2000" b="0" i="0" u="none" strike="noStrike" cap="none" normalizeH="0" baseline="0" dirty="0">
                <a:ln>
                  <a:noFill/>
                </a:ln>
                <a:solidFill>
                  <a:srgbClr val="0070C0"/>
                </a:solidFill>
                <a:effectLst/>
                <a:latin typeface="var(--artdeco-typography-mono)"/>
              </a:rPr>
              <a:t>data analysts </a:t>
            </a:r>
            <a:r>
              <a:rPr kumimoji="0" lang="en-US" altLang="en-US" sz="2000" b="0" i="0" u="none" strike="noStrike" cap="none" normalizeH="0" baseline="0" dirty="0">
                <a:ln>
                  <a:noFill/>
                </a:ln>
                <a:solidFill>
                  <a:schemeClr val="tx1"/>
                </a:solidFill>
                <a:effectLst/>
                <a:latin typeface="var(--artdeco-typography-mono)"/>
              </a:rPr>
              <a:t>with </a:t>
            </a:r>
            <a:r>
              <a:rPr kumimoji="0" lang="en-US" altLang="en-US" sz="2000" b="0" i="0" u="none" strike="noStrike" cap="none" normalizeH="0" baseline="0" dirty="0">
                <a:ln>
                  <a:noFill/>
                </a:ln>
                <a:solidFill>
                  <a:srgbClr val="0070C0"/>
                </a:solidFill>
                <a:effectLst/>
                <a:latin typeface="var(--artdeco-typography-mono)"/>
              </a:rPr>
              <a:t>keywords like "data visualization tips" and "improve data insights".</a:t>
            </a:r>
            <a:r>
              <a:rPr kumimoji="0" lang="en-US" altLang="en-US" sz="1100" b="0" i="0" u="none" strike="noStrike" cap="none" normalizeH="0" baseline="0" dirty="0">
                <a:ln>
                  <a:noFill/>
                </a:ln>
                <a:solidFill>
                  <a:srgbClr val="0070C0"/>
                </a:solidFill>
                <a:effectLst/>
              </a:rPr>
              <a:t> </a:t>
            </a:r>
            <a:endParaRPr kumimoji="0" lang="en-US" altLang="en-US" sz="3200" b="0" i="0" u="none" strike="noStrike" cap="none" normalizeH="0" baseline="0" dirty="0">
              <a:ln>
                <a:noFill/>
              </a:ln>
              <a:solidFill>
                <a:srgbClr val="0070C0"/>
              </a:solidFill>
              <a:effectLst/>
              <a:latin typeface="Arial" panose="020B0604020202020204" pitchFamily="34" charset="0"/>
            </a:endParaRPr>
          </a:p>
        </p:txBody>
      </p:sp>
      <p:sp>
        <p:nvSpPr>
          <p:cNvPr id="9" name="TextBox 8">
            <a:extLst>
              <a:ext uri="{FF2B5EF4-FFF2-40B4-BE49-F238E27FC236}">
                <a16:creationId xmlns:a16="http://schemas.microsoft.com/office/drawing/2014/main" id="{109DE7A8-1C09-3233-F936-495098900595}"/>
              </a:ext>
            </a:extLst>
          </p:cNvPr>
          <p:cNvSpPr txBox="1"/>
          <p:nvPr/>
        </p:nvSpPr>
        <p:spPr>
          <a:xfrm>
            <a:off x="293875" y="6350184"/>
            <a:ext cx="8573729" cy="369332"/>
          </a:xfrm>
          <a:prstGeom prst="rect">
            <a:avLst/>
          </a:prstGeom>
          <a:noFill/>
        </p:spPr>
        <p:txBody>
          <a:bodyPr wrap="square">
            <a:spAutoFit/>
          </a:bodyPr>
          <a:lstStyle/>
          <a:p>
            <a:r>
              <a:rPr lang="en-US" dirty="0">
                <a:hlinkClick r:id="rId2"/>
              </a:rPr>
              <a:t>Crafting AI Prompt Templates: Reusable Prompt Engineering | LinkedIn</a:t>
            </a:r>
            <a:endParaRPr lang="en-IN" dirty="0"/>
          </a:p>
        </p:txBody>
      </p:sp>
    </p:spTree>
    <p:extLst>
      <p:ext uri="{BB962C8B-B14F-4D97-AF65-F5344CB8AC3E}">
        <p14:creationId xmlns:p14="http://schemas.microsoft.com/office/powerpoint/2010/main" val="7344171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D25A1-E9CC-751F-1C6A-980F5CC7B3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032B36-1843-0DF6-516B-73D8A123535E}"/>
              </a:ext>
            </a:extLst>
          </p:cNvPr>
          <p:cNvSpPr txBox="1"/>
          <p:nvPr/>
        </p:nvSpPr>
        <p:spPr>
          <a:xfrm>
            <a:off x="3098294" y="132547"/>
            <a:ext cx="7288855" cy="707886"/>
          </a:xfrm>
          <a:prstGeom prst="rect">
            <a:avLst/>
          </a:prstGeom>
          <a:noFill/>
        </p:spPr>
        <p:txBody>
          <a:bodyPr wrap="none" rtlCol="0">
            <a:spAutoFit/>
          </a:bodyPr>
          <a:lstStyle/>
          <a:p>
            <a:r>
              <a:rPr lang="en-IN" sz="4000" b="1" dirty="0"/>
              <a:t>Reusable Templates for Prompts</a:t>
            </a:r>
          </a:p>
        </p:txBody>
      </p:sp>
      <p:sp>
        <p:nvSpPr>
          <p:cNvPr id="9" name="TextBox 8">
            <a:extLst>
              <a:ext uri="{FF2B5EF4-FFF2-40B4-BE49-F238E27FC236}">
                <a16:creationId xmlns:a16="http://schemas.microsoft.com/office/drawing/2014/main" id="{8085E465-2DFE-75DB-80A0-71C25503E316}"/>
              </a:ext>
            </a:extLst>
          </p:cNvPr>
          <p:cNvSpPr txBox="1"/>
          <p:nvPr/>
        </p:nvSpPr>
        <p:spPr>
          <a:xfrm>
            <a:off x="293875" y="6350184"/>
            <a:ext cx="8573729" cy="369332"/>
          </a:xfrm>
          <a:prstGeom prst="rect">
            <a:avLst/>
          </a:prstGeom>
          <a:noFill/>
        </p:spPr>
        <p:txBody>
          <a:bodyPr wrap="square">
            <a:spAutoFit/>
          </a:bodyPr>
          <a:lstStyle/>
          <a:p>
            <a:r>
              <a:rPr lang="en-US" dirty="0">
                <a:hlinkClick r:id="rId2"/>
              </a:rPr>
              <a:t>Crafting AI Prompt Templates: Reusable Prompt Engineering | LinkedIn</a:t>
            </a:r>
            <a:endParaRPr lang="en-IN" dirty="0"/>
          </a:p>
        </p:txBody>
      </p:sp>
      <p:sp>
        <p:nvSpPr>
          <p:cNvPr id="2" name="Rectangle 1">
            <a:extLst>
              <a:ext uri="{FF2B5EF4-FFF2-40B4-BE49-F238E27FC236}">
                <a16:creationId xmlns:a16="http://schemas.microsoft.com/office/drawing/2014/main" id="{581EF54D-A6D3-205E-21FA-41E13388E5AE}"/>
              </a:ext>
            </a:extLst>
          </p:cNvPr>
          <p:cNvSpPr>
            <a:spLocks noChangeArrowheads="1"/>
          </p:cNvSpPr>
          <p:nvPr/>
        </p:nvSpPr>
        <p:spPr bwMode="auto">
          <a:xfrm>
            <a:off x="334297" y="1271931"/>
            <a:ext cx="104488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var(--artdeco-typography-mono)"/>
              </a:rPr>
              <a:t>Draft a response to a customer query about [issue], offering [solution] and suggesting [next steps].</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4ECD037-CD5F-6360-CEEC-15BF2A36F14D}"/>
              </a:ext>
            </a:extLst>
          </p:cNvPr>
          <p:cNvSpPr txBox="1"/>
          <p:nvPr/>
        </p:nvSpPr>
        <p:spPr>
          <a:xfrm>
            <a:off x="698091" y="1973243"/>
            <a:ext cx="6698132" cy="2308324"/>
          </a:xfrm>
          <a:prstGeom prst="rect">
            <a:avLst/>
          </a:prstGeom>
          <a:noFill/>
        </p:spPr>
        <p:txBody>
          <a:bodyPr wrap="square">
            <a:spAutoFit/>
          </a:bodyPr>
          <a:lstStyle/>
          <a:p>
            <a:pPr algn="l" fontAlgn="auto">
              <a:lnSpc>
                <a:spcPct val="150000"/>
              </a:lnSpc>
            </a:pPr>
            <a:r>
              <a:rPr lang="en-US" sz="2400" b="1" i="0" dirty="0">
                <a:effectLst/>
                <a:highlight>
                  <a:srgbClr val="FFFFFF"/>
                </a:highlight>
                <a:latin typeface="var(--artdeco-reset-typography-font-family-sans)"/>
              </a:rPr>
              <a:t>Defined Placeholders:</a:t>
            </a:r>
            <a:endParaRPr lang="en-US" sz="2400" b="0" i="0" dirty="0">
              <a:effectLst/>
              <a:highlight>
                <a:srgbClr val="FFFFFF"/>
              </a:highlight>
              <a:latin typeface="-apple-system"/>
            </a:endParaRPr>
          </a:p>
          <a:p>
            <a:pPr fontAlgn="auto">
              <a:lnSpc>
                <a:spcPct val="150000"/>
              </a:lnSpc>
              <a:buFont typeface="Arial" panose="020B0604020202020204" pitchFamily="34" charset="0"/>
              <a:buChar char="•"/>
            </a:pPr>
            <a:r>
              <a:rPr lang="en-US" sz="2400" dirty="0">
                <a:effectLst/>
                <a:latin typeface="var(--artdeco-reset-typography-font-family-sans)"/>
              </a:rPr>
              <a:t>[issue]: The customer’s problem</a:t>
            </a:r>
          </a:p>
          <a:p>
            <a:pPr fontAlgn="auto">
              <a:lnSpc>
                <a:spcPct val="150000"/>
              </a:lnSpc>
              <a:buFont typeface="Arial" panose="020B0604020202020204" pitchFamily="34" charset="0"/>
              <a:buChar char="•"/>
            </a:pPr>
            <a:r>
              <a:rPr lang="en-US" sz="2400" dirty="0">
                <a:effectLst/>
                <a:latin typeface="var(--artdeco-reset-typography-font-family-sans)"/>
              </a:rPr>
              <a:t>[solution]: The proposed solution</a:t>
            </a:r>
          </a:p>
          <a:p>
            <a:pPr fontAlgn="auto">
              <a:lnSpc>
                <a:spcPct val="150000"/>
              </a:lnSpc>
              <a:buFont typeface="Arial" panose="020B0604020202020204" pitchFamily="34" charset="0"/>
              <a:buChar char="•"/>
            </a:pPr>
            <a:r>
              <a:rPr lang="en-US" sz="2400" dirty="0">
                <a:effectLst/>
                <a:latin typeface="var(--artdeco-reset-typography-font-family-sans)"/>
              </a:rPr>
              <a:t>[next steps]: The recommended next actions</a:t>
            </a:r>
          </a:p>
        </p:txBody>
      </p:sp>
      <p:sp>
        <p:nvSpPr>
          <p:cNvPr id="6" name="Rectangle 3">
            <a:extLst>
              <a:ext uri="{FF2B5EF4-FFF2-40B4-BE49-F238E27FC236}">
                <a16:creationId xmlns:a16="http://schemas.microsoft.com/office/drawing/2014/main" id="{78351980-97FB-F46D-6F09-34F3CA2AF0CB}"/>
              </a:ext>
            </a:extLst>
          </p:cNvPr>
          <p:cNvSpPr>
            <a:spLocks noChangeArrowheads="1"/>
          </p:cNvSpPr>
          <p:nvPr/>
        </p:nvSpPr>
        <p:spPr bwMode="auto">
          <a:xfrm>
            <a:off x="212377" y="4724294"/>
            <a:ext cx="1163549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var(--artdeco-typography-mono)"/>
              </a:rPr>
              <a:t>Draft a response to a customer query about </a:t>
            </a:r>
            <a:r>
              <a:rPr kumimoji="0" lang="en-US" altLang="en-US" sz="2000" b="0" i="0" u="none" strike="noStrike" cap="none" normalizeH="0" baseline="0" dirty="0">
                <a:ln>
                  <a:noFill/>
                </a:ln>
                <a:solidFill>
                  <a:srgbClr val="0070C0"/>
                </a:solidFill>
                <a:effectLst/>
                <a:latin typeface="var(--artdeco-typography-mono)"/>
              </a:rPr>
              <a:t>account login issues</a:t>
            </a:r>
            <a:r>
              <a:rPr kumimoji="0" lang="en-US" altLang="en-US" sz="2000" b="0" i="0" u="none" strike="noStrike" cap="none" normalizeH="0" baseline="0" dirty="0">
                <a:ln>
                  <a:noFill/>
                </a:ln>
                <a:solidFill>
                  <a:schemeClr val="tx1"/>
                </a:solidFill>
                <a:effectLst/>
                <a:latin typeface="var(--artdeco-typography-mono)"/>
              </a:rPr>
              <a:t>, offering </a:t>
            </a:r>
            <a:r>
              <a:rPr kumimoji="0" lang="en-US" altLang="en-US" sz="2000" b="0" i="0" u="none" strike="noStrike" cap="none" normalizeH="0" baseline="0" dirty="0">
                <a:ln>
                  <a:noFill/>
                </a:ln>
                <a:solidFill>
                  <a:srgbClr val="0070C0"/>
                </a:solidFill>
                <a:effectLst/>
                <a:latin typeface="var(--artdeco-typography-mono)"/>
              </a:rPr>
              <a:t>a password reset link </a:t>
            </a:r>
            <a:r>
              <a:rPr kumimoji="0" lang="en-US" altLang="en-US" sz="2000" b="0" i="0" u="none" strike="noStrike" cap="none" normalizeH="0" baseline="0" dirty="0">
                <a:ln>
                  <a:noFill/>
                </a:ln>
                <a:solidFill>
                  <a:schemeClr val="tx1"/>
                </a:solidFill>
                <a:effectLst/>
                <a:latin typeface="var(--artdeco-typography-mono)"/>
              </a:rPr>
              <a:t>and suggesting </a:t>
            </a:r>
            <a:r>
              <a:rPr kumimoji="0" lang="en-US" altLang="en-US" sz="2000" b="0" i="0" u="none" strike="noStrike" cap="none" normalizeH="0" baseline="0" dirty="0">
                <a:ln>
                  <a:noFill/>
                </a:ln>
                <a:solidFill>
                  <a:srgbClr val="0070C0"/>
                </a:solidFill>
                <a:effectLst/>
                <a:latin typeface="var(--artdeco-typography-mono)"/>
              </a:rPr>
              <a:t>contacting support if the problem persists</a:t>
            </a:r>
            <a:r>
              <a:rPr kumimoji="0" lang="en-US" altLang="en-US" sz="2000" b="0" i="0" u="none" strike="noStrike" cap="none" normalizeH="0" baseline="0" dirty="0">
                <a:ln>
                  <a:noFill/>
                </a:ln>
                <a:solidFill>
                  <a:schemeClr val="tx1"/>
                </a:solidFill>
                <a:effectLst/>
                <a:latin typeface="var(--artdeco-typography-mono)"/>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0573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CF215-979A-450D-A9A5-A49C25C603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7F88DC-561A-01BA-8FAD-2537F77BF21D}"/>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A0EABD0E-EAA6-D34F-2CED-9A3FA088B170}"/>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6" name="TextBox 5">
            <a:extLst>
              <a:ext uri="{FF2B5EF4-FFF2-40B4-BE49-F238E27FC236}">
                <a16:creationId xmlns:a16="http://schemas.microsoft.com/office/drawing/2014/main" id="{ECC48643-0DF5-01BE-3A7C-233FF0EA51FF}"/>
              </a:ext>
            </a:extLst>
          </p:cNvPr>
          <p:cNvSpPr txBox="1"/>
          <p:nvPr/>
        </p:nvSpPr>
        <p:spPr>
          <a:xfrm>
            <a:off x="338668" y="995236"/>
            <a:ext cx="11537243" cy="5416868"/>
          </a:xfrm>
          <a:prstGeom prst="rect">
            <a:avLst/>
          </a:prstGeom>
          <a:noFill/>
        </p:spPr>
        <p:txBody>
          <a:bodyPr wrap="square">
            <a:spAutoFit/>
          </a:bodyPr>
          <a:lstStyle/>
          <a:p>
            <a:r>
              <a:rPr lang="en-US" sz="2400" b="1" dirty="0"/>
              <a:t>Rule-based prompts are a way to give specific instructions to AI models like ChatGPT. They're like giving the AI a set of rules to follow when it generates a response. </a:t>
            </a:r>
          </a:p>
          <a:p>
            <a:endParaRPr lang="en-US" dirty="0"/>
          </a:p>
          <a:p>
            <a:r>
              <a:rPr lang="en-US" sz="2000" b="1" dirty="0"/>
              <a:t>Here's what makes a prompt "rule-based":</a:t>
            </a:r>
          </a:p>
          <a:p>
            <a:endParaRPr lang="en-US" sz="2000" dirty="0"/>
          </a:p>
          <a:p>
            <a:pPr marL="285750" indent="-285750">
              <a:buFont typeface="Arial" panose="020B0604020202020204" pitchFamily="34" charset="0"/>
              <a:buChar char="•"/>
            </a:pPr>
            <a:r>
              <a:rPr lang="en-US" sz="2000" b="1" dirty="0"/>
              <a:t>Specific Structure:</a:t>
            </a:r>
            <a:r>
              <a:rPr lang="en-US" sz="2000" dirty="0"/>
              <a:t> Rule-based prompts have a defined format, often with sections for roles, instructions, rules, and topics.</a:t>
            </a:r>
          </a:p>
          <a:p>
            <a:pPr marL="285750" indent="-285750">
              <a:buFont typeface="Arial" panose="020B0604020202020204" pitchFamily="34" charset="0"/>
              <a:buChar char="•"/>
            </a:pPr>
            <a:r>
              <a:rPr lang="en-US" sz="2000" b="1" dirty="0"/>
              <a:t>Greater Control:</a:t>
            </a:r>
            <a:r>
              <a:rPr lang="en-US" sz="2000" dirty="0"/>
              <a:t> They give you more control over the AI's output, ensuring it follows your guidelines.</a:t>
            </a:r>
          </a:p>
          <a:p>
            <a:pPr marL="285750" indent="-285750">
              <a:buFont typeface="Arial" panose="020B0604020202020204" pitchFamily="34" charset="0"/>
              <a:buChar char="•"/>
            </a:pPr>
            <a:r>
              <a:rPr lang="en-US" sz="2000" b="1" dirty="0"/>
              <a:t>Reusability:</a:t>
            </a:r>
            <a:r>
              <a:rPr lang="en-US" sz="2000" dirty="0"/>
              <a:t> You can often reuse these prompts for similar tasks, saving time and effort.</a:t>
            </a:r>
          </a:p>
          <a:p>
            <a:endParaRPr lang="en-US" sz="2000" dirty="0"/>
          </a:p>
          <a:p>
            <a:r>
              <a:rPr lang="en-US" sz="2000" b="1" dirty="0"/>
              <a:t>Here are some examples of how rule-based prompts can be used:</a:t>
            </a:r>
          </a:p>
          <a:p>
            <a:endParaRPr lang="en-US" sz="2000" dirty="0"/>
          </a:p>
          <a:p>
            <a:pPr marL="285750" indent="-285750">
              <a:buFont typeface="Arial" panose="020B0604020202020204" pitchFamily="34" charset="0"/>
              <a:buChar char="•"/>
            </a:pPr>
            <a:r>
              <a:rPr lang="en-US" sz="2000" b="1" dirty="0"/>
              <a:t>Software Development:</a:t>
            </a:r>
            <a:r>
              <a:rPr lang="en-US" sz="2000" dirty="0"/>
              <a:t> You can create prompts that guide the AI to write user stories, generate code, or even help with error handling.</a:t>
            </a:r>
          </a:p>
          <a:p>
            <a:pPr marL="285750" indent="-285750">
              <a:buFont typeface="Arial" panose="020B0604020202020204" pitchFamily="34" charset="0"/>
              <a:buChar char="•"/>
            </a:pPr>
            <a:r>
              <a:rPr lang="en-US" sz="2000" b="1" dirty="0"/>
              <a:t>Game Development:</a:t>
            </a:r>
            <a:r>
              <a:rPr lang="en-US" sz="2000" dirty="0"/>
              <a:t> Rule-based prompts can help create characters, storylines, and dialogues based on predefined rules.</a:t>
            </a:r>
          </a:p>
          <a:p>
            <a:pPr marL="285750" indent="-285750">
              <a:buFont typeface="Arial" panose="020B0604020202020204" pitchFamily="34" charset="0"/>
              <a:buChar char="•"/>
            </a:pPr>
            <a:r>
              <a:rPr lang="en-US" sz="2000" b="1" dirty="0"/>
              <a:t>Healthcare:</a:t>
            </a:r>
            <a:r>
              <a:rPr lang="en-US" sz="2000" dirty="0"/>
              <a:t> They can be used to generate synthetic data that simulates different customer interactions.</a:t>
            </a:r>
          </a:p>
        </p:txBody>
      </p:sp>
    </p:spTree>
    <p:extLst>
      <p:ext uri="{BB962C8B-B14F-4D97-AF65-F5344CB8AC3E}">
        <p14:creationId xmlns:p14="http://schemas.microsoft.com/office/powerpoint/2010/main" val="2434176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5499E-AA3F-FE45-A77D-DE8CDB4269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60E252-1780-32F7-94D4-0DAD8A0C261F}"/>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98C228DD-166D-BFAC-7172-278821D63F00}"/>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6" name="TextBox 5">
            <a:extLst>
              <a:ext uri="{FF2B5EF4-FFF2-40B4-BE49-F238E27FC236}">
                <a16:creationId xmlns:a16="http://schemas.microsoft.com/office/drawing/2014/main" id="{A6C253FA-6379-BA3C-9414-7E8DC8A3CE04}"/>
              </a:ext>
            </a:extLst>
          </p:cNvPr>
          <p:cNvSpPr txBox="1"/>
          <p:nvPr/>
        </p:nvSpPr>
        <p:spPr>
          <a:xfrm>
            <a:off x="338668" y="1093142"/>
            <a:ext cx="11537243" cy="5632311"/>
          </a:xfrm>
          <a:prstGeom prst="rect">
            <a:avLst/>
          </a:prstGeom>
          <a:noFill/>
        </p:spPr>
        <p:txBody>
          <a:bodyPr wrap="square">
            <a:spAutoFit/>
          </a:bodyPr>
          <a:lstStyle/>
          <a:p>
            <a:r>
              <a:rPr lang="en-US" sz="2400" b="1" dirty="0"/>
              <a:t>Benefits of using rule-based prompts:</a:t>
            </a:r>
            <a:endParaRPr lang="en-US" sz="2400" dirty="0"/>
          </a:p>
          <a:p>
            <a:pPr marL="342900" indent="-342900">
              <a:buFont typeface="Arial" panose="020B0604020202020204" pitchFamily="34" charset="0"/>
              <a:buChar char="•"/>
            </a:pPr>
            <a:r>
              <a:rPr lang="en-US" sz="2400" b="1" dirty="0"/>
              <a:t>Increased Efficiency:</a:t>
            </a:r>
            <a:r>
              <a:rPr lang="en-US" sz="2400" dirty="0"/>
              <a:t> They can automate tasks and speed up workflows.</a:t>
            </a:r>
          </a:p>
          <a:p>
            <a:pPr marL="342900" indent="-342900">
              <a:buFont typeface="Arial" panose="020B0604020202020204" pitchFamily="34" charset="0"/>
              <a:buChar char="•"/>
            </a:pPr>
            <a:r>
              <a:rPr lang="en-US" sz="2400" b="1" dirty="0"/>
              <a:t>Improved Accuracy:</a:t>
            </a:r>
            <a:r>
              <a:rPr lang="en-US" sz="2400" dirty="0"/>
              <a:t> They can help ensure that the AI's responses are accurate and relevant.</a:t>
            </a:r>
          </a:p>
          <a:p>
            <a:pPr marL="342900" indent="-342900">
              <a:buFont typeface="Arial" panose="020B0604020202020204" pitchFamily="34" charset="0"/>
              <a:buChar char="•"/>
            </a:pPr>
            <a:r>
              <a:rPr lang="en-US" sz="2400" b="1" dirty="0"/>
              <a:t>Reduced Reliance on Human Intervention:</a:t>
            </a:r>
            <a:r>
              <a:rPr lang="en-US" sz="2400" dirty="0"/>
              <a:t> They can decrease the need for manual input and review.</a:t>
            </a:r>
          </a:p>
          <a:p>
            <a:endParaRPr lang="en-US" sz="2400" dirty="0"/>
          </a:p>
          <a:p>
            <a:r>
              <a:rPr lang="en-US" sz="2400" b="1" dirty="0"/>
              <a:t>However, there are also some potential drawbacks:</a:t>
            </a:r>
            <a:endParaRPr lang="en-US" sz="2400" dirty="0"/>
          </a:p>
          <a:p>
            <a:pPr marL="342900" indent="-342900">
              <a:buFont typeface="Arial" panose="020B0604020202020204" pitchFamily="34" charset="0"/>
              <a:buChar char="•"/>
            </a:pPr>
            <a:r>
              <a:rPr lang="en-US" sz="2400" b="1" dirty="0"/>
              <a:t>Complexity:</a:t>
            </a:r>
            <a:r>
              <a:rPr lang="en-US" sz="2400" dirty="0"/>
              <a:t> Creating effective rule-based prompts can be challenging and require careful planning.</a:t>
            </a:r>
          </a:p>
          <a:p>
            <a:pPr marL="342900" indent="-342900">
              <a:buFont typeface="Arial" panose="020B0604020202020204" pitchFamily="34" charset="0"/>
              <a:buChar char="•"/>
            </a:pPr>
            <a:r>
              <a:rPr lang="en-US" sz="2400" b="1" dirty="0"/>
              <a:t>Limited Creativity:</a:t>
            </a:r>
            <a:r>
              <a:rPr lang="en-US" sz="2400" dirty="0"/>
              <a:t> If the rules are too strict, they can stifle the AI's creativity and ability to generate novel solutions.</a:t>
            </a:r>
          </a:p>
          <a:p>
            <a:pPr marL="342900" indent="-342900">
              <a:buFont typeface="Arial" panose="020B0604020202020204" pitchFamily="34" charset="0"/>
              <a:buChar char="•"/>
            </a:pPr>
            <a:r>
              <a:rPr lang="en-US" sz="2400" b="1" dirty="0"/>
              <a:t>May Not Capture Full Complexity:</a:t>
            </a:r>
            <a:r>
              <a:rPr lang="en-US" sz="2400" dirty="0"/>
              <a:t> Rule-based prompts may not always be able to capture the nuances and complexities of real-world tasks.</a:t>
            </a:r>
          </a:p>
          <a:p>
            <a:endParaRPr lang="en-US" sz="2400" dirty="0"/>
          </a:p>
        </p:txBody>
      </p:sp>
    </p:spTree>
    <p:extLst>
      <p:ext uri="{BB962C8B-B14F-4D97-AF65-F5344CB8AC3E}">
        <p14:creationId xmlns:p14="http://schemas.microsoft.com/office/powerpoint/2010/main" val="4008985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DFFBB-D67C-3235-D32E-3E4851D121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571A38-3631-8EAE-A2E7-FBB737D2103D}"/>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FD1F5CB0-7170-0A0F-9188-78E64873D70E}"/>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3" name="TextBox 2">
            <a:extLst>
              <a:ext uri="{FF2B5EF4-FFF2-40B4-BE49-F238E27FC236}">
                <a16:creationId xmlns:a16="http://schemas.microsoft.com/office/drawing/2014/main" id="{0FF909D0-F738-277E-59FA-6A007F41FA9A}"/>
              </a:ext>
            </a:extLst>
          </p:cNvPr>
          <p:cNvSpPr txBox="1"/>
          <p:nvPr/>
        </p:nvSpPr>
        <p:spPr>
          <a:xfrm>
            <a:off x="468489" y="975768"/>
            <a:ext cx="4329289" cy="707886"/>
          </a:xfrm>
          <a:prstGeom prst="rect">
            <a:avLst/>
          </a:prstGeom>
          <a:noFill/>
        </p:spPr>
        <p:txBody>
          <a:bodyPr wrap="square">
            <a:spAutoFit/>
          </a:bodyPr>
          <a:lstStyle/>
          <a:p>
            <a:r>
              <a:rPr lang="en-US" sz="2000" dirty="0"/>
              <a:t>Rule-based prompts – Python Code Generation - Output</a:t>
            </a:r>
            <a:endParaRPr lang="en-IN" sz="2000" dirty="0"/>
          </a:p>
        </p:txBody>
      </p:sp>
      <p:pic>
        <p:nvPicPr>
          <p:cNvPr id="13" name="Picture 12">
            <a:extLst>
              <a:ext uri="{FF2B5EF4-FFF2-40B4-BE49-F238E27FC236}">
                <a16:creationId xmlns:a16="http://schemas.microsoft.com/office/drawing/2014/main" id="{3CD9BDCC-FF2F-02EE-6459-72A5B9B20EED}"/>
              </a:ext>
            </a:extLst>
          </p:cNvPr>
          <p:cNvPicPr>
            <a:picLocks noChangeAspect="1"/>
          </p:cNvPicPr>
          <p:nvPr/>
        </p:nvPicPr>
        <p:blipFill>
          <a:blip r:embed="rId3"/>
          <a:stretch>
            <a:fillRect/>
          </a:stretch>
        </p:blipFill>
        <p:spPr>
          <a:xfrm>
            <a:off x="4888089" y="854178"/>
            <a:ext cx="5915379" cy="5742212"/>
          </a:xfrm>
          <a:prstGeom prst="rect">
            <a:avLst/>
          </a:prstGeom>
        </p:spPr>
      </p:pic>
      <p:pic>
        <p:nvPicPr>
          <p:cNvPr id="14" name="Picture 13">
            <a:extLst>
              <a:ext uri="{FF2B5EF4-FFF2-40B4-BE49-F238E27FC236}">
                <a16:creationId xmlns:a16="http://schemas.microsoft.com/office/drawing/2014/main" id="{C3A76B2D-14CE-8D91-F271-ADF6E328E713}"/>
              </a:ext>
            </a:extLst>
          </p:cNvPr>
          <p:cNvPicPr>
            <a:picLocks noChangeAspect="1"/>
          </p:cNvPicPr>
          <p:nvPr/>
        </p:nvPicPr>
        <p:blipFill>
          <a:blip r:embed="rId4"/>
          <a:stretch>
            <a:fillRect/>
          </a:stretch>
        </p:blipFill>
        <p:spPr>
          <a:xfrm>
            <a:off x="204105" y="1667764"/>
            <a:ext cx="4593673" cy="4783299"/>
          </a:xfrm>
          <a:prstGeom prst="rect">
            <a:avLst/>
          </a:prstGeom>
        </p:spPr>
      </p:pic>
    </p:spTree>
    <p:extLst>
      <p:ext uri="{BB962C8B-B14F-4D97-AF65-F5344CB8AC3E}">
        <p14:creationId xmlns:p14="http://schemas.microsoft.com/office/powerpoint/2010/main" val="3170835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DE76-C195-485E-40D9-ED93545CA9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1B1D2E-592C-86F4-8BFD-3C49F6D86F5A}"/>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15" name="TextBox 14">
            <a:extLst>
              <a:ext uri="{FF2B5EF4-FFF2-40B4-BE49-F238E27FC236}">
                <a16:creationId xmlns:a16="http://schemas.microsoft.com/office/drawing/2014/main" id="{A5B50182-BE5C-7079-D730-2CE0A4D8AAB7}"/>
              </a:ext>
            </a:extLst>
          </p:cNvPr>
          <p:cNvSpPr txBox="1"/>
          <p:nvPr/>
        </p:nvSpPr>
        <p:spPr>
          <a:xfrm>
            <a:off x="0" y="6334780"/>
            <a:ext cx="11853332" cy="523220"/>
          </a:xfrm>
          <a:prstGeom prst="rect">
            <a:avLst/>
          </a:prstGeom>
          <a:noFill/>
        </p:spPr>
        <p:txBody>
          <a:bodyPr wrap="square">
            <a:spAutoFit/>
          </a:bodyPr>
          <a:lstStyle/>
          <a:p>
            <a:endParaRPr lang="en-US" sz="1400" dirty="0"/>
          </a:p>
          <a:p>
            <a:r>
              <a:rPr lang="en-IN" sz="1400" dirty="0">
                <a:hlinkClick r:id="rId2"/>
              </a:rPr>
              <a:t>Prompt Engineering 4U - Template Based Prompting</a:t>
            </a:r>
            <a:r>
              <a:rPr lang="en-US" sz="1400" dirty="0"/>
              <a:t> </a:t>
            </a:r>
          </a:p>
        </p:txBody>
      </p:sp>
      <p:sp>
        <p:nvSpPr>
          <p:cNvPr id="3" name="TextBox 2">
            <a:extLst>
              <a:ext uri="{FF2B5EF4-FFF2-40B4-BE49-F238E27FC236}">
                <a16:creationId xmlns:a16="http://schemas.microsoft.com/office/drawing/2014/main" id="{CF5A164E-6CD6-2BD7-5D75-4F4969EAE8F0}"/>
              </a:ext>
            </a:extLst>
          </p:cNvPr>
          <p:cNvSpPr txBox="1"/>
          <p:nvPr/>
        </p:nvSpPr>
        <p:spPr>
          <a:xfrm>
            <a:off x="603955" y="1040177"/>
            <a:ext cx="8325555" cy="461665"/>
          </a:xfrm>
          <a:prstGeom prst="rect">
            <a:avLst/>
          </a:prstGeom>
          <a:noFill/>
        </p:spPr>
        <p:txBody>
          <a:bodyPr wrap="square">
            <a:spAutoFit/>
          </a:bodyPr>
          <a:lstStyle/>
          <a:p>
            <a:r>
              <a:rPr lang="en-US" sz="2400" dirty="0"/>
              <a:t>Rule-based prompts – Customer Interaction Simulator - Input</a:t>
            </a:r>
            <a:endParaRPr lang="en-IN" sz="2400" dirty="0"/>
          </a:p>
        </p:txBody>
      </p:sp>
      <p:pic>
        <p:nvPicPr>
          <p:cNvPr id="11" name="Picture 10">
            <a:extLst>
              <a:ext uri="{FF2B5EF4-FFF2-40B4-BE49-F238E27FC236}">
                <a16:creationId xmlns:a16="http://schemas.microsoft.com/office/drawing/2014/main" id="{786B612D-C42C-9AE7-FC86-1382233B0902}"/>
              </a:ext>
            </a:extLst>
          </p:cNvPr>
          <p:cNvPicPr>
            <a:picLocks noChangeAspect="1"/>
          </p:cNvPicPr>
          <p:nvPr/>
        </p:nvPicPr>
        <p:blipFill>
          <a:blip r:embed="rId3"/>
          <a:stretch>
            <a:fillRect/>
          </a:stretch>
        </p:blipFill>
        <p:spPr>
          <a:xfrm>
            <a:off x="3220244" y="1701586"/>
            <a:ext cx="5110956" cy="4586756"/>
          </a:xfrm>
          <a:prstGeom prst="rect">
            <a:avLst/>
          </a:prstGeom>
        </p:spPr>
      </p:pic>
    </p:spTree>
    <p:extLst>
      <p:ext uri="{BB962C8B-B14F-4D97-AF65-F5344CB8AC3E}">
        <p14:creationId xmlns:p14="http://schemas.microsoft.com/office/powerpoint/2010/main" val="664777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E588E-49D2-9B8F-25B8-DC49818862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940515-2DEB-A665-A4C5-1044154214AB}"/>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3" name="TextBox 2">
            <a:extLst>
              <a:ext uri="{FF2B5EF4-FFF2-40B4-BE49-F238E27FC236}">
                <a16:creationId xmlns:a16="http://schemas.microsoft.com/office/drawing/2014/main" id="{27A51D4D-6A11-A52B-B3B2-9703E37DD294}"/>
              </a:ext>
            </a:extLst>
          </p:cNvPr>
          <p:cNvSpPr txBox="1"/>
          <p:nvPr/>
        </p:nvSpPr>
        <p:spPr>
          <a:xfrm>
            <a:off x="603955" y="1040177"/>
            <a:ext cx="8325555" cy="461665"/>
          </a:xfrm>
          <a:prstGeom prst="rect">
            <a:avLst/>
          </a:prstGeom>
          <a:noFill/>
        </p:spPr>
        <p:txBody>
          <a:bodyPr wrap="square">
            <a:spAutoFit/>
          </a:bodyPr>
          <a:lstStyle/>
          <a:p>
            <a:r>
              <a:rPr lang="en-US" sz="2400" dirty="0"/>
              <a:t>Rule-based prompts – Customer Interaction Simulator - Output</a:t>
            </a:r>
            <a:endParaRPr lang="en-IN" sz="2400" dirty="0"/>
          </a:p>
        </p:txBody>
      </p:sp>
      <p:pic>
        <p:nvPicPr>
          <p:cNvPr id="5" name="Picture 4">
            <a:extLst>
              <a:ext uri="{FF2B5EF4-FFF2-40B4-BE49-F238E27FC236}">
                <a16:creationId xmlns:a16="http://schemas.microsoft.com/office/drawing/2014/main" id="{C9521607-0885-20D3-4891-0459E4C9F3F1}"/>
              </a:ext>
            </a:extLst>
          </p:cNvPr>
          <p:cNvPicPr>
            <a:picLocks noChangeAspect="1"/>
          </p:cNvPicPr>
          <p:nvPr/>
        </p:nvPicPr>
        <p:blipFill>
          <a:blip r:embed="rId2"/>
          <a:stretch>
            <a:fillRect/>
          </a:stretch>
        </p:blipFill>
        <p:spPr>
          <a:xfrm>
            <a:off x="2222790" y="1501842"/>
            <a:ext cx="6797032" cy="5128057"/>
          </a:xfrm>
          <a:prstGeom prst="rect">
            <a:avLst/>
          </a:prstGeom>
        </p:spPr>
      </p:pic>
    </p:spTree>
    <p:extLst>
      <p:ext uri="{BB962C8B-B14F-4D97-AF65-F5344CB8AC3E}">
        <p14:creationId xmlns:p14="http://schemas.microsoft.com/office/powerpoint/2010/main" val="4018959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20E23-B24D-E82F-B2B1-4874BE5DDA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0537F2-4826-5729-19C9-0061242D933D}"/>
              </a:ext>
            </a:extLst>
          </p:cNvPr>
          <p:cNvSpPr txBox="1"/>
          <p:nvPr/>
        </p:nvSpPr>
        <p:spPr>
          <a:xfrm>
            <a:off x="3064427" y="132547"/>
            <a:ext cx="7627986" cy="707886"/>
          </a:xfrm>
          <a:prstGeom prst="rect">
            <a:avLst/>
          </a:prstGeom>
          <a:noFill/>
        </p:spPr>
        <p:txBody>
          <a:bodyPr wrap="none" rtlCol="0">
            <a:spAutoFit/>
          </a:bodyPr>
          <a:lstStyle/>
          <a:p>
            <a:r>
              <a:rPr lang="en-IN" sz="4000" b="1" dirty="0"/>
              <a:t>Techniques for Prompt Engineering</a:t>
            </a:r>
          </a:p>
        </p:txBody>
      </p:sp>
      <p:sp>
        <p:nvSpPr>
          <p:cNvPr id="3" name="TextBox 2">
            <a:extLst>
              <a:ext uri="{FF2B5EF4-FFF2-40B4-BE49-F238E27FC236}">
                <a16:creationId xmlns:a16="http://schemas.microsoft.com/office/drawing/2014/main" id="{2EA9B534-4CD7-2AC4-02E4-E708FB8C547B}"/>
              </a:ext>
            </a:extLst>
          </p:cNvPr>
          <p:cNvSpPr txBox="1"/>
          <p:nvPr/>
        </p:nvSpPr>
        <p:spPr>
          <a:xfrm>
            <a:off x="603955" y="1040177"/>
            <a:ext cx="8325555" cy="461665"/>
          </a:xfrm>
          <a:prstGeom prst="rect">
            <a:avLst/>
          </a:prstGeom>
          <a:noFill/>
        </p:spPr>
        <p:txBody>
          <a:bodyPr wrap="square">
            <a:spAutoFit/>
          </a:bodyPr>
          <a:lstStyle/>
          <a:p>
            <a:r>
              <a:rPr lang="en-US" sz="2400" dirty="0"/>
              <a:t>Rule-based prompts – Customer Interaction Simulator - Output</a:t>
            </a:r>
            <a:endParaRPr lang="en-IN" sz="2400" dirty="0"/>
          </a:p>
        </p:txBody>
      </p:sp>
      <p:pic>
        <p:nvPicPr>
          <p:cNvPr id="6" name="Picture 5">
            <a:extLst>
              <a:ext uri="{FF2B5EF4-FFF2-40B4-BE49-F238E27FC236}">
                <a16:creationId xmlns:a16="http://schemas.microsoft.com/office/drawing/2014/main" id="{27F29B79-002D-1460-0813-E46EB4858210}"/>
              </a:ext>
            </a:extLst>
          </p:cNvPr>
          <p:cNvPicPr>
            <a:picLocks noChangeAspect="1"/>
          </p:cNvPicPr>
          <p:nvPr/>
        </p:nvPicPr>
        <p:blipFill>
          <a:blip r:embed="rId2"/>
          <a:stretch>
            <a:fillRect/>
          </a:stretch>
        </p:blipFill>
        <p:spPr>
          <a:xfrm>
            <a:off x="1135825" y="2057691"/>
            <a:ext cx="9288171" cy="3419952"/>
          </a:xfrm>
          <a:prstGeom prst="rect">
            <a:avLst/>
          </a:prstGeom>
        </p:spPr>
      </p:pic>
    </p:spTree>
    <p:extLst>
      <p:ext uri="{BB962C8B-B14F-4D97-AF65-F5344CB8AC3E}">
        <p14:creationId xmlns:p14="http://schemas.microsoft.com/office/powerpoint/2010/main" val="2503548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2C57-915D-76C5-F156-DC855F52DC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033D53-C490-087C-FB01-483978DADE24}"/>
              </a:ext>
            </a:extLst>
          </p:cNvPr>
          <p:cNvSpPr txBox="1"/>
          <p:nvPr/>
        </p:nvSpPr>
        <p:spPr>
          <a:xfrm>
            <a:off x="4827153" y="54817"/>
            <a:ext cx="3317639" cy="707886"/>
          </a:xfrm>
          <a:prstGeom prst="rect">
            <a:avLst/>
          </a:prstGeom>
          <a:noFill/>
        </p:spPr>
        <p:txBody>
          <a:bodyPr wrap="none" rtlCol="0">
            <a:spAutoFit/>
          </a:bodyPr>
          <a:lstStyle/>
          <a:p>
            <a:r>
              <a:rPr lang="en-IN" sz="4000" b="1" dirty="0"/>
              <a:t>Prompt Tuning</a:t>
            </a:r>
          </a:p>
        </p:txBody>
      </p:sp>
      <p:sp>
        <p:nvSpPr>
          <p:cNvPr id="5" name="TextBox 4">
            <a:extLst>
              <a:ext uri="{FF2B5EF4-FFF2-40B4-BE49-F238E27FC236}">
                <a16:creationId xmlns:a16="http://schemas.microsoft.com/office/drawing/2014/main" id="{4167E411-BB52-0B83-28FA-34970033E01C}"/>
              </a:ext>
            </a:extLst>
          </p:cNvPr>
          <p:cNvSpPr txBox="1"/>
          <p:nvPr/>
        </p:nvSpPr>
        <p:spPr>
          <a:xfrm>
            <a:off x="1521683" y="1874728"/>
            <a:ext cx="9928578" cy="3108543"/>
          </a:xfrm>
          <a:prstGeom prst="rect">
            <a:avLst/>
          </a:prstGeom>
          <a:noFill/>
        </p:spPr>
        <p:txBody>
          <a:bodyPr wrap="square">
            <a:spAutoFit/>
          </a:bodyPr>
          <a:lstStyle/>
          <a:p>
            <a:pPr marL="457200" indent="-457200">
              <a:buFont typeface="Arial" panose="020B0604020202020204" pitchFamily="34" charset="0"/>
              <a:buChar char="•"/>
            </a:pPr>
            <a:r>
              <a:rPr lang="en-US" sz="2800" dirty="0">
                <a:solidFill>
                  <a:srgbClr val="000000"/>
                </a:solidFill>
                <a:effectLst/>
                <a:latin typeface="Calibri" panose="020F0502020204030204" pitchFamily="34" charset="0"/>
              </a:rPr>
              <a:t>Prompt tuning enhances the effectiveness of a pre-trained language model without altering its core architecture.</a:t>
            </a:r>
          </a:p>
          <a:p>
            <a:pPr marL="457200" indent="-457200">
              <a:buFont typeface="Arial" panose="020B0604020202020204" pitchFamily="34" charset="0"/>
              <a:buChar char="•"/>
            </a:pPr>
            <a:endParaRPr lang="en-US" sz="2800" dirty="0">
              <a:solidFill>
                <a:srgbClr val="000000"/>
              </a:solidFill>
              <a:latin typeface="Calibri" panose="020F0502020204030204" pitchFamily="34" charset="0"/>
            </a:endParaRPr>
          </a:p>
          <a:p>
            <a:pPr marL="457200" indent="-457200">
              <a:buFont typeface="Arial" panose="020B0604020202020204" pitchFamily="34" charset="0"/>
              <a:buChar char="•"/>
            </a:pPr>
            <a:r>
              <a:rPr lang="en-US" sz="2800" dirty="0">
                <a:solidFill>
                  <a:srgbClr val="000000"/>
                </a:solidFill>
                <a:effectLst/>
                <a:latin typeface="Calibri" panose="020F0502020204030204" pitchFamily="34" charset="0"/>
              </a:rPr>
              <a:t>Instead of modifying the model's deep structural weights, this technique refines the prompts that guide its outputs, using "soft prompts" made up of adjustable parameters at the beginning of the input sequence.</a:t>
            </a:r>
            <a:endParaRPr lang="en-IN" sz="2800" dirty="0"/>
          </a:p>
        </p:txBody>
      </p:sp>
      <p:sp>
        <p:nvSpPr>
          <p:cNvPr id="7" name="TextBox 6">
            <a:extLst>
              <a:ext uri="{FF2B5EF4-FFF2-40B4-BE49-F238E27FC236}">
                <a16:creationId xmlns:a16="http://schemas.microsoft.com/office/drawing/2014/main" id="{93AA6E4E-7869-EF22-FBBC-A25A2234ED92}"/>
              </a:ext>
            </a:extLst>
          </p:cNvPr>
          <p:cNvSpPr txBox="1"/>
          <p:nvPr/>
        </p:nvSpPr>
        <p:spPr>
          <a:xfrm>
            <a:off x="0" y="6433851"/>
            <a:ext cx="6485973" cy="369332"/>
          </a:xfrm>
          <a:prstGeom prst="rect">
            <a:avLst/>
          </a:prstGeom>
          <a:noFill/>
        </p:spPr>
        <p:txBody>
          <a:bodyPr wrap="square">
            <a:spAutoFit/>
          </a:bodyPr>
          <a:lstStyle/>
          <a:p>
            <a:r>
              <a:rPr lang="en-IN" dirty="0"/>
              <a:t>https://www.datacamp.com/tutorial/understanding-prompt-tuning</a:t>
            </a:r>
          </a:p>
        </p:txBody>
      </p:sp>
    </p:spTree>
    <p:extLst>
      <p:ext uri="{BB962C8B-B14F-4D97-AF65-F5344CB8AC3E}">
        <p14:creationId xmlns:p14="http://schemas.microsoft.com/office/powerpoint/2010/main" val="504989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BB3B0-419D-11A0-DBC3-57CDA3318B0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A4CDC2-198B-E81D-1C6E-106B30D14262}"/>
              </a:ext>
            </a:extLst>
          </p:cNvPr>
          <p:cNvSpPr txBox="1"/>
          <p:nvPr/>
        </p:nvSpPr>
        <p:spPr>
          <a:xfrm>
            <a:off x="4827153" y="54817"/>
            <a:ext cx="3317639" cy="707886"/>
          </a:xfrm>
          <a:prstGeom prst="rect">
            <a:avLst/>
          </a:prstGeom>
          <a:noFill/>
        </p:spPr>
        <p:txBody>
          <a:bodyPr wrap="none" rtlCol="0">
            <a:spAutoFit/>
          </a:bodyPr>
          <a:lstStyle/>
          <a:p>
            <a:r>
              <a:rPr lang="en-IN" sz="4000" b="1" dirty="0"/>
              <a:t>Prompt Tuning</a:t>
            </a:r>
          </a:p>
        </p:txBody>
      </p:sp>
      <p:pic>
        <p:nvPicPr>
          <p:cNvPr id="3" name="Picture 2">
            <a:extLst>
              <a:ext uri="{FF2B5EF4-FFF2-40B4-BE49-F238E27FC236}">
                <a16:creationId xmlns:a16="http://schemas.microsoft.com/office/drawing/2014/main" id="{CA45BB8F-5C9A-3A86-0794-FA81D9C51642}"/>
              </a:ext>
            </a:extLst>
          </p:cNvPr>
          <p:cNvPicPr>
            <a:picLocks noChangeAspect="1"/>
          </p:cNvPicPr>
          <p:nvPr/>
        </p:nvPicPr>
        <p:blipFill>
          <a:blip r:embed="rId2"/>
          <a:srcRect b="50000"/>
          <a:stretch/>
        </p:blipFill>
        <p:spPr>
          <a:xfrm>
            <a:off x="745066" y="1130216"/>
            <a:ext cx="10950222" cy="4178875"/>
          </a:xfrm>
          <a:prstGeom prst="rect">
            <a:avLst/>
          </a:prstGeom>
        </p:spPr>
      </p:pic>
      <p:graphicFrame>
        <p:nvGraphicFramePr>
          <p:cNvPr id="6" name="Table 5">
            <a:extLst>
              <a:ext uri="{FF2B5EF4-FFF2-40B4-BE49-F238E27FC236}">
                <a16:creationId xmlns:a16="http://schemas.microsoft.com/office/drawing/2014/main" id="{F3A9BA92-536B-50E6-FCDE-D16C4A3FC7E3}"/>
              </a:ext>
            </a:extLst>
          </p:cNvPr>
          <p:cNvGraphicFramePr>
            <a:graphicFrameLocks noGrp="1"/>
          </p:cNvGraphicFramePr>
          <p:nvPr>
            <p:extLst>
              <p:ext uri="{D42A27DB-BD31-4B8C-83A1-F6EECF244321}">
                <p14:modId xmlns:p14="http://schemas.microsoft.com/office/powerpoint/2010/main" val="4208482210"/>
              </p:ext>
            </p:extLst>
          </p:nvPr>
        </p:nvGraphicFramePr>
        <p:xfrm>
          <a:off x="0" y="6104028"/>
          <a:ext cx="10515600" cy="640080"/>
        </p:xfrm>
        <a:graphic>
          <a:graphicData uri="http://schemas.openxmlformats.org/drawingml/2006/table">
            <a:tbl>
              <a:tblPr/>
              <a:tblGrid>
                <a:gridCol w="10515600">
                  <a:extLst>
                    <a:ext uri="{9D8B030D-6E8A-4147-A177-3AD203B41FA5}">
                      <a16:colId xmlns:a16="http://schemas.microsoft.com/office/drawing/2014/main" val="3167096799"/>
                    </a:ext>
                  </a:extLst>
                </a:gridCol>
              </a:tblGrid>
              <a:tr h="0">
                <a:tc>
                  <a:txBody>
                    <a:bodyPr/>
                    <a:lstStyle/>
                    <a:p>
                      <a:pPr algn="l" fontAlgn="t"/>
                      <a:br>
                        <a:rPr lang="en-US" b="0" i="0" u="none" strike="noStrike" dirty="0">
                          <a:solidFill>
                            <a:srgbClr val="000000"/>
                          </a:solidFill>
                          <a:effectLst/>
                          <a:latin typeface="Lucida Grande"/>
                          <a:hlinkClick r:id="rId3"/>
                        </a:rPr>
                      </a:br>
                      <a:r>
                        <a:rPr lang="en-US" b="0" i="0" u="none" strike="noStrike" dirty="0">
                          <a:solidFill>
                            <a:srgbClr val="000000"/>
                          </a:solidFill>
                          <a:effectLst/>
                          <a:latin typeface="Lucida Grande"/>
                          <a:hlinkClick r:id="rId3"/>
                        </a:rPr>
                        <a:t>https://doi.org/10.48550/arXiv.2104.08691</a:t>
                      </a:r>
                      <a:endParaRPr lang="en-US" b="0" i="0" dirty="0">
                        <a:solidFill>
                          <a:srgbClr val="000000"/>
                        </a:solidFill>
                        <a:effectLst/>
                        <a:latin typeface="Lucida Grande"/>
                      </a:endParaRPr>
                    </a:p>
                  </a:txBody>
                  <a:tcPr marR="49530">
                    <a:lnL>
                      <a:noFill/>
                    </a:lnL>
                    <a:lnR>
                      <a:noFill/>
                    </a:lnR>
                    <a:lnT>
                      <a:noFill/>
                    </a:lnT>
                    <a:lnB>
                      <a:noFill/>
                    </a:lnB>
                    <a:solidFill>
                      <a:srgbClr val="FFFFFF"/>
                    </a:solidFill>
                  </a:tcPr>
                </a:tc>
                <a:extLst>
                  <a:ext uri="{0D108BD9-81ED-4DB2-BD59-A6C34878D82A}">
                    <a16:rowId xmlns:a16="http://schemas.microsoft.com/office/drawing/2014/main" val="4163435264"/>
                  </a:ext>
                </a:extLst>
              </a:tr>
            </a:tbl>
          </a:graphicData>
        </a:graphic>
      </p:graphicFrame>
    </p:spTree>
    <p:extLst>
      <p:ext uri="{BB962C8B-B14F-4D97-AF65-F5344CB8AC3E}">
        <p14:creationId xmlns:p14="http://schemas.microsoft.com/office/powerpoint/2010/main" val="1368148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05860-0D56-7560-BF0F-034298A660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2960EF-3FCB-B670-5B02-01C5D38B8681}"/>
              </a:ext>
            </a:extLst>
          </p:cNvPr>
          <p:cNvSpPr txBox="1"/>
          <p:nvPr/>
        </p:nvSpPr>
        <p:spPr>
          <a:xfrm>
            <a:off x="2872516" y="113892"/>
            <a:ext cx="7773475" cy="707886"/>
          </a:xfrm>
          <a:prstGeom prst="rect">
            <a:avLst/>
          </a:prstGeom>
          <a:noFill/>
        </p:spPr>
        <p:txBody>
          <a:bodyPr wrap="none" rtlCol="0">
            <a:spAutoFit/>
          </a:bodyPr>
          <a:lstStyle/>
          <a:p>
            <a:r>
              <a:rPr lang="en-IN" sz="4000" b="1" dirty="0"/>
              <a:t>Techniques for Tuning - Comparison</a:t>
            </a:r>
          </a:p>
        </p:txBody>
      </p:sp>
      <p:pic>
        <p:nvPicPr>
          <p:cNvPr id="3" name="Picture 2">
            <a:extLst>
              <a:ext uri="{FF2B5EF4-FFF2-40B4-BE49-F238E27FC236}">
                <a16:creationId xmlns:a16="http://schemas.microsoft.com/office/drawing/2014/main" id="{572CF919-5A77-3DB8-9B73-DC6F5492ED5D}"/>
              </a:ext>
            </a:extLst>
          </p:cNvPr>
          <p:cNvPicPr>
            <a:picLocks noChangeAspect="1"/>
          </p:cNvPicPr>
          <p:nvPr/>
        </p:nvPicPr>
        <p:blipFill>
          <a:blip r:embed="rId2"/>
          <a:stretch>
            <a:fillRect/>
          </a:stretch>
        </p:blipFill>
        <p:spPr>
          <a:xfrm>
            <a:off x="5979071" y="1209926"/>
            <a:ext cx="6201640" cy="4505954"/>
          </a:xfrm>
          <a:prstGeom prst="rect">
            <a:avLst/>
          </a:prstGeom>
        </p:spPr>
      </p:pic>
      <p:graphicFrame>
        <p:nvGraphicFramePr>
          <p:cNvPr id="5" name="Table 4">
            <a:extLst>
              <a:ext uri="{FF2B5EF4-FFF2-40B4-BE49-F238E27FC236}">
                <a16:creationId xmlns:a16="http://schemas.microsoft.com/office/drawing/2014/main" id="{C04CC32D-C358-3363-A69A-74D36AB951F9}"/>
              </a:ext>
            </a:extLst>
          </p:cNvPr>
          <p:cNvGraphicFramePr>
            <a:graphicFrameLocks noGrp="1"/>
          </p:cNvGraphicFramePr>
          <p:nvPr>
            <p:extLst>
              <p:ext uri="{D42A27DB-BD31-4B8C-83A1-F6EECF244321}">
                <p14:modId xmlns:p14="http://schemas.microsoft.com/office/powerpoint/2010/main" val="1182319826"/>
              </p:ext>
            </p:extLst>
          </p:nvPr>
        </p:nvGraphicFramePr>
        <p:xfrm>
          <a:off x="0" y="6104028"/>
          <a:ext cx="10515600" cy="640080"/>
        </p:xfrm>
        <a:graphic>
          <a:graphicData uri="http://schemas.openxmlformats.org/drawingml/2006/table">
            <a:tbl>
              <a:tblPr/>
              <a:tblGrid>
                <a:gridCol w="10515600">
                  <a:extLst>
                    <a:ext uri="{9D8B030D-6E8A-4147-A177-3AD203B41FA5}">
                      <a16:colId xmlns:a16="http://schemas.microsoft.com/office/drawing/2014/main" val="3167096799"/>
                    </a:ext>
                  </a:extLst>
                </a:gridCol>
              </a:tblGrid>
              <a:tr h="0">
                <a:tc>
                  <a:txBody>
                    <a:bodyPr/>
                    <a:lstStyle/>
                    <a:p>
                      <a:pPr algn="l" fontAlgn="t"/>
                      <a:br>
                        <a:rPr lang="en-US" b="0" i="0" u="none" strike="noStrike" dirty="0">
                          <a:solidFill>
                            <a:srgbClr val="000000"/>
                          </a:solidFill>
                          <a:effectLst/>
                          <a:latin typeface="Lucida Grande"/>
                          <a:hlinkClick r:id="rId3"/>
                        </a:rPr>
                      </a:br>
                      <a:r>
                        <a:rPr lang="en-US" b="0" i="0" u="none" strike="noStrike" dirty="0">
                          <a:solidFill>
                            <a:srgbClr val="000000"/>
                          </a:solidFill>
                          <a:effectLst/>
                          <a:latin typeface="Lucida Grande"/>
                          <a:hlinkClick r:id="rId3"/>
                        </a:rPr>
                        <a:t>https://doi.org/10.48550/arXiv.2104.08691</a:t>
                      </a:r>
                      <a:endParaRPr lang="en-US" b="0" i="0" dirty="0">
                        <a:solidFill>
                          <a:srgbClr val="000000"/>
                        </a:solidFill>
                        <a:effectLst/>
                        <a:latin typeface="Lucida Grande"/>
                      </a:endParaRPr>
                    </a:p>
                  </a:txBody>
                  <a:tcPr marR="49530">
                    <a:lnL>
                      <a:noFill/>
                    </a:lnL>
                    <a:lnR>
                      <a:noFill/>
                    </a:lnR>
                    <a:lnT>
                      <a:noFill/>
                    </a:lnT>
                    <a:lnB>
                      <a:noFill/>
                    </a:lnB>
                    <a:solidFill>
                      <a:srgbClr val="FFFFFF"/>
                    </a:solidFill>
                  </a:tcPr>
                </a:tc>
                <a:extLst>
                  <a:ext uri="{0D108BD9-81ED-4DB2-BD59-A6C34878D82A}">
                    <a16:rowId xmlns:a16="http://schemas.microsoft.com/office/drawing/2014/main" val="4163435264"/>
                  </a:ext>
                </a:extLst>
              </a:tr>
            </a:tbl>
          </a:graphicData>
        </a:graphic>
      </p:graphicFrame>
      <p:sp>
        <p:nvSpPr>
          <p:cNvPr id="9" name="TextBox 8">
            <a:extLst>
              <a:ext uri="{FF2B5EF4-FFF2-40B4-BE49-F238E27FC236}">
                <a16:creationId xmlns:a16="http://schemas.microsoft.com/office/drawing/2014/main" id="{EAE0DD10-A269-C349-0ECC-EDE7EAFEEB18}"/>
              </a:ext>
            </a:extLst>
          </p:cNvPr>
          <p:cNvSpPr txBox="1"/>
          <p:nvPr/>
        </p:nvSpPr>
        <p:spPr>
          <a:xfrm>
            <a:off x="259644" y="2551259"/>
            <a:ext cx="6096000" cy="2031325"/>
          </a:xfrm>
          <a:prstGeom prst="rect">
            <a:avLst/>
          </a:prstGeom>
          <a:noFill/>
        </p:spPr>
        <p:txBody>
          <a:bodyPr wrap="square">
            <a:spAutoFit/>
          </a:bodyPr>
          <a:lstStyle/>
          <a:p>
            <a:r>
              <a:rPr lang="en-US" sz="1800" dirty="0">
                <a:solidFill>
                  <a:srgbClr val="000000"/>
                </a:solidFill>
                <a:effectLst/>
                <a:latin typeface="Calibri" panose="020F0502020204030204" pitchFamily="34" charset="0"/>
              </a:rPr>
              <a:t>T5 standard model tuning yields excellent results but needs multiple model copies for different tasks. </a:t>
            </a:r>
          </a:p>
          <a:p>
            <a:endParaRPr lang="en-US" dirty="0">
              <a:solidFill>
                <a:srgbClr val="000000"/>
              </a:solidFill>
              <a:latin typeface="Calibri" panose="020F0502020204030204" pitchFamily="34" charset="0"/>
            </a:endParaRPr>
          </a:p>
          <a:p>
            <a:r>
              <a:rPr lang="en-US" sz="1800" dirty="0">
                <a:solidFill>
                  <a:srgbClr val="000000"/>
                </a:solidFill>
                <a:effectLst/>
                <a:latin typeface="Calibri" panose="020F0502020204030204" pitchFamily="34" charset="0"/>
              </a:rPr>
              <a:t>In contrast, our prompt tuning method achieves comparable performance while enabling the use of one frozen model for various tasks, surpassing few-shot prompt design with GPT-3, as demonstrated by results from three tuning runs.</a:t>
            </a:r>
            <a:endParaRPr lang="en-IN" dirty="0"/>
          </a:p>
        </p:txBody>
      </p:sp>
    </p:spTree>
    <p:extLst>
      <p:ext uri="{BB962C8B-B14F-4D97-AF65-F5344CB8AC3E}">
        <p14:creationId xmlns:p14="http://schemas.microsoft.com/office/powerpoint/2010/main" val="924851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59283-EAF8-261F-CFC2-AC93559DB1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4B88B1-83E2-0248-D066-31E2D3E34A55}"/>
              </a:ext>
            </a:extLst>
          </p:cNvPr>
          <p:cNvSpPr txBox="1"/>
          <p:nvPr/>
        </p:nvSpPr>
        <p:spPr>
          <a:xfrm>
            <a:off x="2872516" y="113892"/>
            <a:ext cx="7773475" cy="707886"/>
          </a:xfrm>
          <a:prstGeom prst="rect">
            <a:avLst/>
          </a:prstGeom>
          <a:noFill/>
        </p:spPr>
        <p:txBody>
          <a:bodyPr wrap="none" rtlCol="0">
            <a:spAutoFit/>
          </a:bodyPr>
          <a:lstStyle/>
          <a:p>
            <a:r>
              <a:rPr lang="en-IN" sz="4000" b="1" dirty="0"/>
              <a:t>Techniques for Tuning - Comparison</a:t>
            </a:r>
          </a:p>
        </p:txBody>
      </p:sp>
      <p:sp>
        <p:nvSpPr>
          <p:cNvPr id="7" name="TextBox 6">
            <a:extLst>
              <a:ext uri="{FF2B5EF4-FFF2-40B4-BE49-F238E27FC236}">
                <a16:creationId xmlns:a16="http://schemas.microsoft.com/office/drawing/2014/main" id="{0786834A-6709-1A9B-F963-0B03F427EB87}"/>
              </a:ext>
            </a:extLst>
          </p:cNvPr>
          <p:cNvSpPr txBox="1"/>
          <p:nvPr/>
        </p:nvSpPr>
        <p:spPr>
          <a:xfrm>
            <a:off x="0" y="6433851"/>
            <a:ext cx="6485973" cy="369332"/>
          </a:xfrm>
          <a:prstGeom prst="rect">
            <a:avLst/>
          </a:prstGeom>
          <a:noFill/>
        </p:spPr>
        <p:txBody>
          <a:bodyPr wrap="square">
            <a:spAutoFit/>
          </a:bodyPr>
          <a:lstStyle/>
          <a:p>
            <a:r>
              <a:rPr lang="en-IN" dirty="0"/>
              <a:t>https://www.datacamp.com/tutorial/understanding-prompt-tuning</a:t>
            </a:r>
          </a:p>
        </p:txBody>
      </p:sp>
      <p:sp>
        <p:nvSpPr>
          <p:cNvPr id="6" name="TextBox 5">
            <a:extLst>
              <a:ext uri="{FF2B5EF4-FFF2-40B4-BE49-F238E27FC236}">
                <a16:creationId xmlns:a16="http://schemas.microsoft.com/office/drawing/2014/main" id="{B7C88EE0-D052-0225-0E92-48F1BE619E68}"/>
              </a:ext>
            </a:extLst>
          </p:cNvPr>
          <p:cNvSpPr txBox="1"/>
          <p:nvPr/>
        </p:nvSpPr>
        <p:spPr>
          <a:xfrm>
            <a:off x="431547" y="1363906"/>
            <a:ext cx="11328906" cy="4798750"/>
          </a:xfrm>
          <a:prstGeom prst="rect">
            <a:avLst/>
          </a:prstGeom>
          <a:noFill/>
        </p:spPr>
        <p:txBody>
          <a:bodyPr wrap="square">
            <a:spAutoFit/>
          </a:bodyPr>
          <a:lstStyle/>
          <a:p>
            <a:pPr marL="0" indent="0" algn="l" rtl="0" eaLnBrk="1" latinLnBrk="0" hangingPunct="1">
              <a:spcAft>
                <a:spcPts val="1050"/>
              </a:spcAft>
              <a:buNone/>
            </a:pPr>
            <a:r>
              <a:rPr lang="en-US" sz="2000" b="1" dirty="0">
                <a:solidFill>
                  <a:srgbClr val="05192D"/>
                </a:solidFill>
                <a:effectLst/>
                <a:latin typeface="Studio-Feixen-Sans"/>
              </a:rPr>
              <a:t>Fine-tuning</a:t>
            </a:r>
            <a:endParaRPr lang="en-US" sz="2000" dirty="0">
              <a:solidFill>
                <a:srgbClr val="05192D"/>
              </a:solidFill>
              <a:effectLst/>
              <a:latin typeface="Studio-Feixen-Sans"/>
            </a:endParaRPr>
          </a:p>
          <a:p>
            <a:pPr marL="0" indent="0" algn="l" rtl="0" eaLnBrk="1" latinLnBrk="0" hangingPunct="1">
              <a:spcAft>
                <a:spcPts val="1050"/>
              </a:spcAft>
              <a:buNone/>
            </a:pPr>
            <a:r>
              <a:rPr lang="en-US" sz="2000" dirty="0">
                <a:solidFill>
                  <a:srgbClr val="05192D"/>
                </a:solidFill>
                <a:effectLst/>
                <a:latin typeface="Studio-Feixen-Sans"/>
              </a:rPr>
              <a:t>Fine-tuning is a comprehensive process aimed at retraining a model using a specific dataset to improve its performance on particular tasks. This method modifies the weights of a pre-existing model.</a:t>
            </a:r>
          </a:p>
          <a:p>
            <a:pPr marL="0" indent="0" algn="l" rtl="0" eaLnBrk="1" latinLnBrk="0" hangingPunct="1">
              <a:spcAft>
                <a:spcPts val="1050"/>
              </a:spcAft>
              <a:buNone/>
            </a:pPr>
            <a:r>
              <a:rPr lang="en-US" sz="2000" b="1" dirty="0">
                <a:solidFill>
                  <a:srgbClr val="05192D"/>
                </a:solidFill>
                <a:effectLst/>
                <a:latin typeface="Studio-Feixen-Sans"/>
              </a:rPr>
              <a:t>Prompt tuning</a:t>
            </a:r>
            <a:endParaRPr lang="en-US" sz="2000" dirty="0">
              <a:solidFill>
                <a:srgbClr val="05192D"/>
              </a:solidFill>
              <a:effectLst/>
              <a:latin typeface="Studio-Feixen-Sans"/>
            </a:endParaRPr>
          </a:p>
          <a:p>
            <a:pPr marL="0" indent="0" algn="l" rtl="0" eaLnBrk="1" latinLnBrk="0" hangingPunct="1">
              <a:spcAft>
                <a:spcPts val="1050"/>
              </a:spcAft>
              <a:buNone/>
            </a:pPr>
            <a:r>
              <a:rPr lang="en-US" sz="2000" dirty="0">
                <a:solidFill>
                  <a:srgbClr val="05192D"/>
                </a:solidFill>
                <a:effectLst/>
                <a:latin typeface="Studio-Feixen-Sans"/>
              </a:rPr>
              <a:t>Prompt tuning refers to the adjustment of a set of additional parameters, known as "soft prompts," which are added to the model's input. This approach changes how the model understands inputs without altering its fundamental weights, allowing for a balance between enhanced performance and efficient resource use. It is especially useful in situations where computational resources are limited or when there is a need to handle a variety of tasks.</a:t>
            </a:r>
          </a:p>
          <a:p>
            <a:pPr marL="0" indent="0" algn="l" rtl="0" eaLnBrk="1" latinLnBrk="0" hangingPunct="1">
              <a:spcAft>
                <a:spcPts val="1050"/>
              </a:spcAft>
              <a:buNone/>
            </a:pPr>
            <a:r>
              <a:rPr lang="en-US" sz="2000" b="1" dirty="0">
                <a:solidFill>
                  <a:srgbClr val="05192D"/>
                </a:solidFill>
                <a:effectLst/>
                <a:latin typeface="Studio-Feixen-Sans"/>
              </a:rPr>
              <a:t>Prompt engineering</a:t>
            </a:r>
            <a:endParaRPr lang="en-US" sz="2000" dirty="0">
              <a:solidFill>
                <a:srgbClr val="05192D"/>
              </a:solidFill>
              <a:effectLst/>
              <a:latin typeface="Studio-Feixen-Sans"/>
            </a:endParaRPr>
          </a:p>
          <a:p>
            <a:pPr marL="0" indent="0" algn="l" rtl="0" eaLnBrk="1" latinLnBrk="0" hangingPunct="1">
              <a:spcAft>
                <a:spcPts val="1050"/>
              </a:spcAft>
              <a:buNone/>
            </a:pPr>
            <a:r>
              <a:rPr lang="en-US" sz="2000" dirty="0">
                <a:solidFill>
                  <a:srgbClr val="05192D"/>
                </a:solidFill>
                <a:effectLst/>
                <a:latin typeface="Studio-Feixen-Sans"/>
              </a:rPr>
              <a:t>Prompt engineering does not require retraining; rather, it focuses on users crafting prompts specifically designed for the model. This technique utilizes the model's existing knowledge and capabilities without the necessity for extra computational resources.</a:t>
            </a:r>
            <a:endParaRPr lang="en-US" sz="2000" b="0" i="0" dirty="0">
              <a:solidFill>
                <a:srgbClr val="05192D"/>
              </a:solidFill>
              <a:effectLst/>
              <a:latin typeface="Studio-Feixen-Sans"/>
            </a:endParaRPr>
          </a:p>
        </p:txBody>
      </p:sp>
    </p:spTree>
    <p:extLst>
      <p:ext uri="{BB962C8B-B14F-4D97-AF65-F5344CB8AC3E}">
        <p14:creationId xmlns:p14="http://schemas.microsoft.com/office/powerpoint/2010/main" val="22764926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E6E84-6557-42B3-95E1-386F1CD4CD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1A282C-012A-5523-EA67-43DAC7420283}"/>
              </a:ext>
            </a:extLst>
          </p:cNvPr>
          <p:cNvSpPr txBox="1"/>
          <p:nvPr/>
        </p:nvSpPr>
        <p:spPr>
          <a:xfrm>
            <a:off x="2872516" y="113892"/>
            <a:ext cx="5718938" cy="707886"/>
          </a:xfrm>
          <a:prstGeom prst="rect">
            <a:avLst/>
          </a:prstGeom>
          <a:noFill/>
        </p:spPr>
        <p:txBody>
          <a:bodyPr wrap="none" rtlCol="0">
            <a:spAutoFit/>
          </a:bodyPr>
          <a:lstStyle/>
          <a:p>
            <a:r>
              <a:rPr lang="en-IN" sz="4000" b="1" dirty="0"/>
              <a:t>Prompt Tuning - Examples</a:t>
            </a:r>
          </a:p>
        </p:txBody>
      </p:sp>
      <p:sp>
        <p:nvSpPr>
          <p:cNvPr id="6" name="TextBox 5">
            <a:extLst>
              <a:ext uri="{FF2B5EF4-FFF2-40B4-BE49-F238E27FC236}">
                <a16:creationId xmlns:a16="http://schemas.microsoft.com/office/drawing/2014/main" id="{B60731CC-BCF3-000D-27DD-A7C6F14FAF52}"/>
              </a:ext>
            </a:extLst>
          </p:cNvPr>
          <p:cNvSpPr txBox="1"/>
          <p:nvPr/>
        </p:nvSpPr>
        <p:spPr>
          <a:xfrm>
            <a:off x="666043" y="1396284"/>
            <a:ext cx="10848624" cy="3970318"/>
          </a:xfrm>
          <a:prstGeom prst="rect">
            <a:avLst/>
          </a:prstGeom>
          <a:noFill/>
        </p:spPr>
        <p:txBody>
          <a:bodyPr wrap="square">
            <a:spAutoFit/>
          </a:bodyPr>
          <a:lstStyle/>
          <a:p>
            <a:r>
              <a:rPr lang="en-US" sz="2800" b="1" dirty="0"/>
              <a:t>Changing Tone</a:t>
            </a:r>
          </a:p>
          <a:p>
            <a:endParaRPr lang="en-US" sz="2800" b="1" dirty="0"/>
          </a:p>
          <a:p>
            <a:r>
              <a:rPr lang="en-US" sz="2800" b="1" dirty="0"/>
              <a:t>Default Behavior</a:t>
            </a:r>
            <a:r>
              <a:rPr lang="en-US" sz="2800" dirty="0"/>
              <a:t>: Respond in a neutral, helpful tone (like now).</a:t>
            </a:r>
          </a:p>
          <a:p>
            <a:br>
              <a:rPr lang="en-US" sz="2800" dirty="0"/>
            </a:br>
            <a:r>
              <a:rPr lang="en-US" sz="2800" b="1" dirty="0"/>
              <a:t>Soft Prompt Tuning</a:t>
            </a:r>
            <a:r>
              <a:rPr lang="en-US" sz="2800" dirty="0"/>
              <a:t>: Add a soft prompt like "Speak in a cheerful, upbeat manner."</a:t>
            </a:r>
          </a:p>
          <a:p>
            <a:br>
              <a:rPr lang="en-US" sz="2800" dirty="0"/>
            </a:br>
            <a:r>
              <a:rPr lang="en-US" sz="2800" b="1" dirty="0"/>
              <a:t>Result</a:t>
            </a:r>
            <a:r>
              <a:rPr lang="en-US" sz="2800" dirty="0"/>
              <a:t>: Instead of "Here’s some info," say, "Hey, awesome! I’ve got some super cool info for you!"</a:t>
            </a:r>
          </a:p>
        </p:txBody>
      </p:sp>
    </p:spTree>
    <p:extLst>
      <p:ext uri="{BB962C8B-B14F-4D97-AF65-F5344CB8AC3E}">
        <p14:creationId xmlns:p14="http://schemas.microsoft.com/office/powerpoint/2010/main" val="441912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98CF5-A52C-5568-68A1-5A83B4571F8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944B40-576C-11C9-1F1A-401A8BBBD147}"/>
              </a:ext>
            </a:extLst>
          </p:cNvPr>
          <p:cNvSpPr txBox="1"/>
          <p:nvPr/>
        </p:nvSpPr>
        <p:spPr>
          <a:xfrm>
            <a:off x="2872516" y="113892"/>
            <a:ext cx="5718938" cy="707886"/>
          </a:xfrm>
          <a:prstGeom prst="rect">
            <a:avLst/>
          </a:prstGeom>
          <a:noFill/>
        </p:spPr>
        <p:txBody>
          <a:bodyPr wrap="none" rtlCol="0">
            <a:spAutoFit/>
          </a:bodyPr>
          <a:lstStyle/>
          <a:p>
            <a:r>
              <a:rPr lang="en-IN" sz="4000" b="1" dirty="0"/>
              <a:t>Prompt Tuning - Examples</a:t>
            </a:r>
          </a:p>
        </p:txBody>
      </p:sp>
      <p:sp>
        <p:nvSpPr>
          <p:cNvPr id="3" name="TextBox 2">
            <a:extLst>
              <a:ext uri="{FF2B5EF4-FFF2-40B4-BE49-F238E27FC236}">
                <a16:creationId xmlns:a16="http://schemas.microsoft.com/office/drawing/2014/main" id="{7C2EAFAF-89B3-C82F-163E-93CC6968F42C}"/>
              </a:ext>
            </a:extLst>
          </p:cNvPr>
          <p:cNvSpPr txBox="1"/>
          <p:nvPr/>
        </p:nvSpPr>
        <p:spPr>
          <a:xfrm>
            <a:off x="812799" y="1294683"/>
            <a:ext cx="10193867" cy="4832092"/>
          </a:xfrm>
          <a:prstGeom prst="rect">
            <a:avLst/>
          </a:prstGeom>
          <a:noFill/>
        </p:spPr>
        <p:txBody>
          <a:bodyPr wrap="square">
            <a:spAutoFit/>
          </a:bodyPr>
          <a:lstStyle>
            <a:defPPr>
              <a:defRPr lang="en-US"/>
            </a:defPPr>
            <a:lvl1pPr>
              <a:defRPr sz="2800" b="1"/>
            </a:lvl1pPr>
          </a:lstStyle>
          <a:p>
            <a:r>
              <a:rPr lang="en-US" dirty="0"/>
              <a:t>Task-Specific Focus</a:t>
            </a:r>
          </a:p>
          <a:p>
            <a:br>
              <a:rPr lang="en-US" dirty="0"/>
            </a:br>
            <a:r>
              <a:rPr lang="en-US" dirty="0"/>
              <a:t>Default Behavior: </a:t>
            </a:r>
            <a:r>
              <a:rPr lang="en-US" b="0" dirty="0"/>
              <a:t>Give general answers to a question like "What’s the best way to learn?"</a:t>
            </a:r>
          </a:p>
          <a:p>
            <a:br>
              <a:rPr lang="en-US" dirty="0"/>
            </a:br>
            <a:r>
              <a:rPr lang="en-US" dirty="0"/>
              <a:t>Soft Prompt Tuning: </a:t>
            </a:r>
            <a:r>
              <a:rPr lang="en-US" b="0" dirty="0"/>
              <a:t>Add a soft prompt like "Focus on programming education."</a:t>
            </a:r>
          </a:p>
          <a:p>
            <a:br>
              <a:rPr lang="en-US" dirty="0"/>
            </a:br>
            <a:r>
              <a:rPr lang="en-US" dirty="0"/>
              <a:t>Result: </a:t>
            </a:r>
            <a:r>
              <a:rPr lang="en-US" b="0" dirty="0"/>
              <a:t>Instead of a broad answer, say, "The best way to learn programming is to start with Python, practice on sites like </a:t>
            </a:r>
            <a:r>
              <a:rPr lang="en-US" b="0" dirty="0" err="1"/>
              <a:t>LeetCode</a:t>
            </a:r>
            <a:r>
              <a:rPr lang="en-US" b="0" dirty="0"/>
              <a:t>, and build small projects like a calculator or web scraper."</a:t>
            </a:r>
          </a:p>
        </p:txBody>
      </p:sp>
    </p:spTree>
    <p:extLst>
      <p:ext uri="{BB962C8B-B14F-4D97-AF65-F5344CB8AC3E}">
        <p14:creationId xmlns:p14="http://schemas.microsoft.com/office/powerpoint/2010/main" val="32060375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3ACA4-E2C5-8CBF-4C87-A74CDAC455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5482F4-BD0F-2094-92AE-AD298DE2DAC2}"/>
              </a:ext>
            </a:extLst>
          </p:cNvPr>
          <p:cNvSpPr txBox="1"/>
          <p:nvPr/>
        </p:nvSpPr>
        <p:spPr>
          <a:xfrm>
            <a:off x="2872516" y="113892"/>
            <a:ext cx="5718938" cy="707886"/>
          </a:xfrm>
          <a:prstGeom prst="rect">
            <a:avLst/>
          </a:prstGeom>
          <a:noFill/>
        </p:spPr>
        <p:txBody>
          <a:bodyPr wrap="none" rtlCol="0">
            <a:spAutoFit/>
          </a:bodyPr>
          <a:lstStyle/>
          <a:p>
            <a:r>
              <a:rPr lang="en-IN" sz="4000" b="1" dirty="0"/>
              <a:t>Prompt Tuning - Examples</a:t>
            </a:r>
          </a:p>
        </p:txBody>
      </p:sp>
      <p:sp>
        <p:nvSpPr>
          <p:cNvPr id="3" name="TextBox 2">
            <a:extLst>
              <a:ext uri="{FF2B5EF4-FFF2-40B4-BE49-F238E27FC236}">
                <a16:creationId xmlns:a16="http://schemas.microsoft.com/office/drawing/2014/main" id="{527D8E8A-4339-167A-1A7E-80A7315665D1}"/>
              </a:ext>
            </a:extLst>
          </p:cNvPr>
          <p:cNvSpPr txBox="1"/>
          <p:nvPr/>
        </p:nvSpPr>
        <p:spPr>
          <a:xfrm>
            <a:off x="756354" y="1452727"/>
            <a:ext cx="10668002" cy="3970318"/>
          </a:xfrm>
          <a:prstGeom prst="rect">
            <a:avLst/>
          </a:prstGeom>
          <a:noFill/>
        </p:spPr>
        <p:txBody>
          <a:bodyPr wrap="square">
            <a:spAutoFit/>
          </a:bodyPr>
          <a:lstStyle>
            <a:defPPr>
              <a:defRPr lang="en-US"/>
            </a:defPPr>
            <a:lvl1pPr>
              <a:defRPr sz="2800" b="1"/>
            </a:lvl1pPr>
          </a:lstStyle>
          <a:p>
            <a:r>
              <a:rPr lang="en-US" dirty="0"/>
              <a:t>Mimicking a Style</a:t>
            </a:r>
          </a:p>
          <a:p>
            <a:br>
              <a:rPr lang="en-US" dirty="0"/>
            </a:br>
            <a:r>
              <a:rPr lang="en-US" b="1" dirty="0"/>
              <a:t>Default Behavior</a:t>
            </a:r>
            <a:r>
              <a:rPr lang="en-US" dirty="0"/>
              <a:t>: </a:t>
            </a:r>
            <a:r>
              <a:rPr lang="en-US" b="0" dirty="0"/>
              <a:t>Write in a modern, conversational style.</a:t>
            </a:r>
          </a:p>
          <a:p>
            <a:br>
              <a:rPr lang="en-US" dirty="0"/>
            </a:br>
            <a:r>
              <a:rPr lang="en-US" b="1" dirty="0"/>
              <a:t>Soft Prompt Tuning</a:t>
            </a:r>
            <a:r>
              <a:rPr lang="en-US" dirty="0"/>
              <a:t>: </a:t>
            </a:r>
            <a:r>
              <a:rPr lang="en-US" b="0" dirty="0"/>
              <a:t>Add a soft prompt like "Respond like Shakespeare."</a:t>
            </a:r>
          </a:p>
          <a:p>
            <a:br>
              <a:rPr lang="en-US" dirty="0"/>
            </a:br>
            <a:r>
              <a:rPr lang="en-US" b="1" dirty="0"/>
              <a:t>Result</a:t>
            </a:r>
            <a:r>
              <a:rPr lang="en-US" dirty="0"/>
              <a:t>: </a:t>
            </a:r>
            <a:r>
              <a:rPr lang="en-US" b="0" dirty="0"/>
              <a:t>To a question like "What’s the weather like?" reply, "Fair or foul, the heavens do proclaim their mood upon the morrow, perchance with sun or storm as nature wills."</a:t>
            </a:r>
            <a:endParaRPr lang="en-US" dirty="0"/>
          </a:p>
        </p:txBody>
      </p:sp>
    </p:spTree>
    <p:extLst>
      <p:ext uri="{BB962C8B-B14F-4D97-AF65-F5344CB8AC3E}">
        <p14:creationId xmlns:p14="http://schemas.microsoft.com/office/powerpoint/2010/main" val="2345311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97EA-CBE2-00F6-3CB1-F11DD58168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7E1C16-E2C1-977C-345F-73F23B47611C}"/>
              </a:ext>
            </a:extLst>
          </p:cNvPr>
          <p:cNvSpPr txBox="1"/>
          <p:nvPr/>
        </p:nvSpPr>
        <p:spPr>
          <a:xfrm>
            <a:off x="2872516" y="113892"/>
            <a:ext cx="5718938" cy="707886"/>
          </a:xfrm>
          <a:prstGeom prst="rect">
            <a:avLst/>
          </a:prstGeom>
          <a:noFill/>
        </p:spPr>
        <p:txBody>
          <a:bodyPr wrap="none" rtlCol="0">
            <a:spAutoFit/>
          </a:bodyPr>
          <a:lstStyle/>
          <a:p>
            <a:r>
              <a:rPr lang="en-IN" sz="4000" b="1" dirty="0"/>
              <a:t>Prompt Tuning - Examples</a:t>
            </a:r>
          </a:p>
        </p:txBody>
      </p:sp>
      <p:sp>
        <p:nvSpPr>
          <p:cNvPr id="3" name="TextBox 2">
            <a:extLst>
              <a:ext uri="{FF2B5EF4-FFF2-40B4-BE49-F238E27FC236}">
                <a16:creationId xmlns:a16="http://schemas.microsoft.com/office/drawing/2014/main" id="{C1055FB6-1370-A648-B4D0-117E3B95C634}"/>
              </a:ext>
            </a:extLst>
          </p:cNvPr>
          <p:cNvSpPr txBox="1"/>
          <p:nvPr/>
        </p:nvSpPr>
        <p:spPr>
          <a:xfrm>
            <a:off x="846666" y="1373705"/>
            <a:ext cx="10193867" cy="4401205"/>
          </a:xfrm>
          <a:prstGeom prst="rect">
            <a:avLst/>
          </a:prstGeom>
          <a:noFill/>
        </p:spPr>
        <p:txBody>
          <a:bodyPr wrap="square">
            <a:spAutoFit/>
          </a:bodyPr>
          <a:lstStyle>
            <a:defPPr>
              <a:defRPr lang="en-US"/>
            </a:defPPr>
            <a:lvl1pPr>
              <a:defRPr sz="2800" b="1"/>
            </a:lvl1pPr>
          </a:lstStyle>
          <a:p>
            <a:r>
              <a:rPr lang="en-US" dirty="0"/>
              <a:t>Simplifying Language</a:t>
            </a:r>
          </a:p>
          <a:p>
            <a:br>
              <a:rPr lang="en-US" dirty="0"/>
            </a:br>
            <a:r>
              <a:rPr lang="en-US" b="1" dirty="0"/>
              <a:t>Default Behavior</a:t>
            </a:r>
            <a:r>
              <a:rPr lang="en-US" dirty="0"/>
              <a:t>: </a:t>
            </a:r>
            <a:r>
              <a:rPr lang="en-US" b="0" dirty="0"/>
              <a:t>Use standard vocabulary and sentence structure.</a:t>
            </a:r>
          </a:p>
          <a:p>
            <a:br>
              <a:rPr lang="en-US" dirty="0"/>
            </a:br>
            <a:r>
              <a:rPr lang="en-US" b="1" dirty="0"/>
              <a:t>Soft Prompt Tuning</a:t>
            </a:r>
            <a:r>
              <a:rPr lang="en-US" dirty="0"/>
              <a:t>: </a:t>
            </a:r>
            <a:r>
              <a:rPr lang="en-US" b="0" dirty="0"/>
              <a:t>Add a soft prompt like "Explain like I’m 5 years old."</a:t>
            </a:r>
          </a:p>
          <a:p>
            <a:br>
              <a:rPr lang="en-US" dirty="0"/>
            </a:br>
            <a:r>
              <a:rPr lang="en-US" b="1" dirty="0"/>
              <a:t>Result</a:t>
            </a:r>
            <a:r>
              <a:rPr lang="en-US" dirty="0"/>
              <a:t>: </a:t>
            </a:r>
            <a:r>
              <a:rPr lang="en-US" b="0" dirty="0"/>
              <a:t>To "How does a car work?", "A car is like a big toy that drinks gas to run. You press a pedal, and it goes vroom because the engine makes power!"</a:t>
            </a:r>
          </a:p>
        </p:txBody>
      </p:sp>
    </p:spTree>
    <p:extLst>
      <p:ext uri="{BB962C8B-B14F-4D97-AF65-F5344CB8AC3E}">
        <p14:creationId xmlns:p14="http://schemas.microsoft.com/office/powerpoint/2010/main" val="13937250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83E1A-1B7C-0AB7-5153-DC5D9C4DDA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368E6E-7FC2-E264-9498-92064CEC54CC}"/>
              </a:ext>
            </a:extLst>
          </p:cNvPr>
          <p:cNvSpPr txBox="1"/>
          <p:nvPr/>
        </p:nvSpPr>
        <p:spPr>
          <a:xfrm>
            <a:off x="2861227" y="70206"/>
            <a:ext cx="7192482" cy="707886"/>
          </a:xfrm>
          <a:prstGeom prst="rect">
            <a:avLst/>
          </a:prstGeom>
          <a:noFill/>
        </p:spPr>
        <p:txBody>
          <a:bodyPr wrap="none" rtlCol="0">
            <a:spAutoFit/>
          </a:bodyPr>
          <a:lstStyle/>
          <a:p>
            <a:r>
              <a:rPr lang="en-IN" sz="4000" b="1" dirty="0"/>
              <a:t>Tuning Approaches - Comparison</a:t>
            </a:r>
          </a:p>
        </p:txBody>
      </p:sp>
      <p:sp>
        <p:nvSpPr>
          <p:cNvPr id="7" name="TextBox 6">
            <a:extLst>
              <a:ext uri="{FF2B5EF4-FFF2-40B4-BE49-F238E27FC236}">
                <a16:creationId xmlns:a16="http://schemas.microsoft.com/office/drawing/2014/main" id="{B5E02CE3-9BCA-A233-27C2-9D332E53AAB4}"/>
              </a:ext>
            </a:extLst>
          </p:cNvPr>
          <p:cNvSpPr txBox="1"/>
          <p:nvPr/>
        </p:nvSpPr>
        <p:spPr>
          <a:xfrm>
            <a:off x="0" y="6433851"/>
            <a:ext cx="6485973" cy="369332"/>
          </a:xfrm>
          <a:prstGeom prst="rect">
            <a:avLst/>
          </a:prstGeom>
          <a:noFill/>
        </p:spPr>
        <p:txBody>
          <a:bodyPr wrap="square">
            <a:spAutoFit/>
          </a:bodyPr>
          <a:lstStyle/>
          <a:p>
            <a:r>
              <a:rPr lang="en-IN" dirty="0"/>
              <a:t>https://nexla.com/ai-infrastructure/prompt-tuning-vs-fine-tuning/</a:t>
            </a:r>
          </a:p>
        </p:txBody>
      </p:sp>
      <p:graphicFrame>
        <p:nvGraphicFramePr>
          <p:cNvPr id="6" name="Table 5">
            <a:extLst>
              <a:ext uri="{FF2B5EF4-FFF2-40B4-BE49-F238E27FC236}">
                <a16:creationId xmlns:a16="http://schemas.microsoft.com/office/drawing/2014/main" id="{9798559D-1754-F652-6887-4689020E5814}"/>
              </a:ext>
            </a:extLst>
          </p:cNvPr>
          <p:cNvGraphicFramePr>
            <a:graphicFrameLocks noGrp="1"/>
          </p:cNvGraphicFramePr>
          <p:nvPr>
            <p:extLst>
              <p:ext uri="{D42A27DB-BD31-4B8C-83A1-F6EECF244321}">
                <p14:modId xmlns:p14="http://schemas.microsoft.com/office/powerpoint/2010/main" val="3419007881"/>
              </p:ext>
            </p:extLst>
          </p:nvPr>
        </p:nvGraphicFramePr>
        <p:xfrm>
          <a:off x="237068" y="996913"/>
          <a:ext cx="11717864" cy="5538538"/>
        </p:xfrm>
        <a:graphic>
          <a:graphicData uri="http://schemas.openxmlformats.org/drawingml/2006/table">
            <a:tbl>
              <a:tblPr/>
              <a:tblGrid>
                <a:gridCol w="2929466">
                  <a:extLst>
                    <a:ext uri="{9D8B030D-6E8A-4147-A177-3AD203B41FA5}">
                      <a16:colId xmlns:a16="http://schemas.microsoft.com/office/drawing/2014/main" val="2900268008"/>
                    </a:ext>
                  </a:extLst>
                </a:gridCol>
                <a:gridCol w="2929466">
                  <a:extLst>
                    <a:ext uri="{9D8B030D-6E8A-4147-A177-3AD203B41FA5}">
                      <a16:colId xmlns:a16="http://schemas.microsoft.com/office/drawing/2014/main" val="2459543685"/>
                    </a:ext>
                  </a:extLst>
                </a:gridCol>
                <a:gridCol w="2929466">
                  <a:extLst>
                    <a:ext uri="{9D8B030D-6E8A-4147-A177-3AD203B41FA5}">
                      <a16:colId xmlns:a16="http://schemas.microsoft.com/office/drawing/2014/main" val="93718982"/>
                    </a:ext>
                  </a:extLst>
                </a:gridCol>
                <a:gridCol w="2929466">
                  <a:extLst>
                    <a:ext uri="{9D8B030D-6E8A-4147-A177-3AD203B41FA5}">
                      <a16:colId xmlns:a16="http://schemas.microsoft.com/office/drawing/2014/main" val="3275666427"/>
                    </a:ext>
                  </a:extLst>
                </a:gridCol>
              </a:tblGrid>
              <a:tr h="275577">
                <a:tc>
                  <a:txBody>
                    <a:bodyPr/>
                    <a:lstStyle/>
                    <a:p>
                      <a:pPr algn="l" fontAlgn="ctr"/>
                      <a:r>
                        <a:rPr lang="en-IN" sz="1600" b="0" dirty="0">
                          <a:solidFill>
                            <a:srgbClr val="FFFFFF"/>
                          </a:solidFill>
                          <a:effectLst/>
                        </a:rPr>
                        <a:t>Task</a:t>
                      </a:r>
                      <a:endParaRPr lang="en-IN" sz="1600" b="1" dirty="0">
                        <a:solidFill>
                          <a:srgbClr val="FFFFFF"/>
                        </a:solidFill>
                        <a:effectLst/>
                      </a:endParaRPr>
                    </a:p>
                  </a:txBody>
                  <a:tcPr marL="24865" marR="24865" marT="20721" marB="20721" anchor="ctr">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252531"/>
                    </a:solidFill>
                  </a:tcPr>
                </a:tc>
                <a:tc>
                  <a:txBody>
                    <a:bodyPr/>
                    <a:lstStyle/>
                    <a:p>
                      <a:pPr algn="l" fontAlgn="ctr"/>
                      <a:r>
                        <a:rPr lang="en-IN" sz="1600" b="0">
                          <a:solidFill>
                            <a:srgbClr val="FFFFFF"/>
                          </a:solidFill>
                          <a:effectLst/>
                        </a:rPr>
                        <a:t>Fine-tuning approach</a:t>
                      </a:r>
                      <a:endParaRPr lang="en-IN" sz="1600" b="1">
                        <a:solidFill>
                          <a:srgbClr val="FFFFFF"/>
                        </a:solidFill>
                        <a:effectLst/>
                      </a:endParaRPr>
                    </a:p>
                  </a:txBody>
                  <a:tcPr marL="24865" marR="24865" marT="20721" marB="20721" anchor="ctr">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252531"/>
                    </a:solidFill>
                  </a:tcPr>
                </a:tc>
                <a:tc>
                  <a:txBody>
                    <a:bodyPr/>
                    <a:lstStyle/>
                    <a:p>
                      <a:pPr algn="l" fontAlgn="ctr"/>
                      <a:r>
                        <a:rPr lang="en-IN" sz="1600" b="0">
                          <a:solidFill>
                            <a:srgbClr val="FFFFFF"/>
                          </a:solidFill>
                          <a:effectLst/>
                        </a:rPr>
                        <a:t>Prompt tuning Approach</a:t>
                      </a:r>
                      <a:endParaRPr lang="en-IN" sz="1600" b="1">
                        <a:solidFill>
                          <a:srgbClr val="FFFFFF"/>
                        </a:solidFill>
                        <a:effectLst/>
                      </a:endParaRPr>
                    </a:p>
                  </a:txBody>
                  <a:tcPr marL="24865" marR="24865" marT="20721" marB="20721" anchor="ctr">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252531"/>
                    </a:solidFill>
                  </a:tcPr>
                </a:tc>
                <a:tc>
                  <a:txBody>
                    <a:bodyPr/>
                    <a:lstStyle/>
                    <a:p>
                      <a:pPr algn="l" fontAlgn="ctr"/>
                      <a:r>
                        <a:rPr lang="en-IN" sz="1600" b="0">
                          <a:solidFill>
                            <a:srgbClr val="FFFFFF"/>
                          </a:solidFill>
                          <a:effectLst/>
                        </a:rPr>
                        <a:t>Preference</a:t>
                      </a:r>
                      <a:endParaRPr lang="en-IN" sz="1600" b="1">
                        <a:solidFill>
                          <a:srgbClr val="FFFFFF"/>
                        </a:solidFill>
                        <a:effectLst/>
                      </a:endParaRPr>
                    </a:p>
                  </a:txBody>
                  <a:tcPr marL="24865" marR="24865" marT="20721" marB="20721" anchor="ctr">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252531"/>
                    </a:solidFill>
                  </a:tcPr>
                </a:tc>
                <a:extLst>
                  <a:ext uri="{0D108BD9-81ED-4DB2-BD59-A6C34878D82A}">
                    <a16:rowId xmlns:a16="http://schemas.microsoft.com/office/drawing/2014/main" val="4248334217"/>
                  </a:ext>
                </a:extLst>
              </a:tr>
              <a:tr h="974205">
                <a:tc>
                  <a:txBody>
                    <a:bodyPr/>
                    <a:lstStyle/>
                    <a:p>
                      <a:pPr algn="l" fontAlgn="t"/>
                      <a:r>
                        <a:rPr lang="en-IN" sz="1600" b="0">
                          <a:solidFill>
                            <a:srgbClr val="000000"/>
                          </a:solidFill>
                          <a:effectLst/>
                        </a:rPr>
                        <a:t>Code summarization</a:t>
                      </a:r>
                      <a:endParaRPr lang="en-IN"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tc>
                  <a:txBody>
                    <a:bodyPr/>
                    <a:lstStyle/>
                    <a:p>
                      <a:pPr algn="l" fontAlgn="t"/>
                      <a:r>
                        <a:rPr lang="en-US" sz="1600" b="0">
                          <a:solidFill>
                            <a:srgbClr val="000000"/>
                          </a:solidFill>
                          <a:effectLst/>
                        </a:rPr>
                        <a:t>Adapts the model by training on pairs of code and their summaries.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tc>
                  <a:txBody>
                    <a:bodyPr/>
                    <a:lstStyle/>
                    <a:p>
                      <a:pPr algn="l" fontAlgn="t"/>
                      <a:r>
                        <a:rPr lang="en-US" sz="1600" b="0">
                          <a:solidFill>
                            <a:srgbClr val="000000"/>
                          </a:solidFill>
                          <a:effectLst/>
                        </a:rPr>
                        <a:t>Enhances summarization by crafting prompts that highlight key functionalities.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tc>
                  <a:txBody>
                    <a:bodyPr/>
                    <a:lstStyle/>
                    <a:p>
                      <a:pPr algn="l" fontAlgn="t"/>
                      <a:r>
                        <a:rPr lang="en-US" sz="1600" b="0">
                          <a:solidFill>
                            <a:srgbClr val="000000"/>
                          </a:solidFill>
                          <a:effectLst/>
                        </a:rPr>
                        <a:t>Prompt tuning may provide more accurate summaries by directly leveraging the model’s pre-trained knowledge with specific prompts.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extLst>
                  <a:ext uri="{0D108BD9-81ED-4DB2-BD59-A6C34878D82A}">
                    <a16:rowId xmlns:a16="http://schemas.microsoft.com/office/drawing/2014/main" val="2255923894"/>
                  </a:ext>
                </a:extLst>
              </a:tr>
              <a:tr h="1445294">
                <a:tc>
                  <a:txBody>
                    <a:bodyPr/>
                    <a:lstStyle/>
                    <a:p>
                      <a:pPr algn="l" fontAlgn="t"/>
                      <a:r>
                        <a:rPr lang="en-IN" sz="1600" b="0">
                          <a:solidFill>
                            <a:srgbClr val="000000"/>
                          </a:solidFill>
                          <a:effectLst/>
                        </a:rPr>
                        <a:t>Code translation</a:t>
                      </a:r>
                      <a:endParaRPr lang="en-IN"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tc>
                  <a:txBody>
                    <a:bodyPr/>
                    <a:lstStyle/>
                    <a:p>
                      <a:pPr algn="l" fontAlgn="t"/>
                      <a:r>
                        <a:rPr lang="en-US" sz="1600" b="0">
                          <a:solidFill>
                            <a:srgbClr val="000000"/>
                          </a:solidFill>
                          <a:effectLst/>
                        </a:rPr>
                        <a:t>Retrains the model on bilingual code datasets for accurate translations.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tc>
                  <a:txBody>
                    <a:bodyPr/>
                    <a:lstStyle/>
                    <a:p>
                      <a:pPr algn="l" fontAlgn="t"/>
                      <a:r>
                        <a:rPr lang="en-US" sz="1600" b="0">
                          <a:solidFill>
                            <a:srgbClr val="000000"/>
                          </a:solidFill>
                          <a:effectLst/>
                        </a:rPr>
                        <a:t>Uses prompts to provide context and guide the model in translating code between languages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tc>
                  <a:txBody>
                    <a:bodyPr/>
                    <a:lstStyle/>
                    <a:p>
                      <a:pPr algn="l" fontAlgn="t"/>
                      <a:r>
                        <a:rPr lang="en-US" sz="1600" b="0">
                          <a:solidFill>
                            <a:srgbClr val="000000"/>
                          </a:solidFill>
                          <a:effectLst/>
                        </a:rPr>
                        <a:t>Prompt tuning potentially offers more precise translations by adding contextual knowledge through prompts, making it highly effective for translating nuanced code.</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extLst>
                  <a:ext uri="{0D108BD9-81ED-4DB2-BD59-A6C34878D82A}">
                    <a16:rowId xmlns:a16="http://schemas.microsoft.com/office/drawing/2014/main" val="2452367623"/>
                  </a:ext>
                </a:extLst>
              </a:tr>
              <a:tr h="1209749">
                <a:tc>
                  <a:txBody>
                    <a:bodyPr/>
                    <a:lstStyle/>
                    <a:p>
                      <a:pPr algn="l" fontAlgn="t"/>
                      <a:r>
                        <a:rPr lang="en-IN" sz="1600" b="0">
                          <a:solidFill>
                            <a:srgbClr val="000000"/>
                          </a:solidFill>
                          <a:effectLst/>
                        </a:rPr>
                        <a:t>Emotion detection in text</a:t>
                      </a:r>
                      <a:endParaRPr lang="en-IN"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tc>
                  <a:txBody>
                    <a:bodyPr/>
                    <a:lstStyle/>
                    <a:p>
                      <a:pPr algn="l" fontAlgn="t"/>
                      <a:r>
                        <a:rPr lang="en-US" sz="1600" b="0">
                          <a:solidFill>
                            <a:srgbClr val="000000"/>
                          </a:solidFill>
                          <a:effectLst/>
                        </a:rPr>
                        <a:t>Modifies the model to recognize and categorize emotional cues within large, diverse text datasets.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tc>
                  <a:txBody>
                    <a:bodyPr/>
                    <a:lstStyle/>
                    <a:p>
                      <a:pPr algn="l" fontAlgn="t"/>
                      <a:r>
                        <a:rPr lang="en-US" sz="1600" b="0">
                          <a:solidFill>
                            <a:srgbClr val="000000"/>
                          </a:solidFill>
                          <a:effectLst/>
                        </a:rPr>
                        <a:t>Applies prompts that cue the model to identify keywords and phrases indicative of emotional tone.</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tc>
                  <a:txBody>
                    <a:bodyPr/>
                    <a:lstStyle/>
                    <a:p>
                      <a:pPr algn="l" fontAlgn="t"/>
                      <a:r>
                        <a:rPr lang="en-US" sz="1600" b="0">
                          <a:solidFill>
                            <a:srgbClr val="000000"/>
                          </a:solidFill>
                          <a:effectLst/>
                        </a:rPr>
                        <a:t>Fine-tuning is preferred to deeply integrate the subtleties and complexities of emotional expression into the model’s understanding.</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9F9F9"/>
                    </a:solidFill>
                  </a:tcPr>
                </a:tc>
                <a:extLst>
                  <a:ext uri="{0D108BD9-81ED-4DB2-BD59-A6C34878D82A}">
                    <a16:rowId xmlns:a16="http://schemas.microsoft.com/office/drawing/2014/main" val="948000313"/>
                  </a:ext>
                </a:extLst>
              </a:tr>
              <a:tr h="1445294">
                <a:tc>
                  <a:txBody>
                    <a:bodyPr/>
                    <a:lstStyle/>
                    <a:p>
                      <a:pPr algn="l" fontAlgn="t"/>
                      <a:r>
                        <a:rPr lang="en-US" sz="1600" b="0">
                          <a:solidFill>
                            <a:srgbClr val="000000"/>
                          </a:solidFill>
                          <a:effectLst/>
                        </a:rPr>
                        <a:t>Medical diagnosis from patient records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tc>
                  <a:txBody>
                    <a:bodyPr/>
                    <a:lstStyle/>
                    <a:p>
                      <a:pPr algn="l" fontAlgn="t"/>
                      <a:r>
                        <a:rPr lang="en-US" sz="1600" b="0">
                          <a:solidFill>
                            <a:srgbClr val="000000"/>
                          </a:solidFill>
                          <a:effectLst/>
                        </a:rPr>
                        <a:t>Trains the model on medical datasets to understand and diagnose based on complex medical histories.</a:t>
                      </a:r>
                      <a:endParaRPr lang="en-US" sz="160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tc>
                  <a:txBody>
                    <a:bodyPr/>
                    <a:lstStyle/>
                    <a:p>
                      <a:pPr algn="l" fontAlgn="t"/>
                      <a:r>
                        <a:rPr lang="en-US" sz="1600" b="0" dirty="0">
                          <a:solidFill>
                            <a:srgbClr val="000000"/>
                          </a:solidFill>
                          <a:effectLst/>
                        </a:rPr>
                        <a:t>Uses prompts that mimic medical questioning to elicit diagnostic information.</a:t>
                      </a:r>
                      <a:endParaRPr lang="en-US" sz="1600" dirty="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tc>
                  <a:txBody>
                    <a:bodyPr/>
                    <a:lstStyle/>
                    <a:p>
                      <a:pPr algn="l" fontAlgn="t"/>
                      <a:r>
                        <a:rPr lang="en-US" sz="1600" b="0" dirty="0">
                          <a:solidFill>
                            <a:srgbClr val="000000"/>
                          </a:solidFill>
                          <a:effectLst/>
                        </a:rPr>
                        <a:t>Fine-tuning is the choice here due to the need for in-depth learning of medical terminologies and decision-making processes, which goes beyond the scope of prompt tuning.</a:t>
                      </a:r>
                      <a:endParaRPr lang="en-US" sz="1600" dirty="0">
                        <a:solidFill>
                          <a:srgbClr val="000000"/>
                        </a:solidFill>
                        <a:effectLst/>
                      </a:endParaRPr>
                    </a:p>
                  </a:txBody>
                  <a:tcPr marL="24865" marR="24865" marT="16577" marB="16577">
                    <a:lnL w="3810" cap="flat" cmpd="sng" algn="ctr">
                      <a:solidFill>
                        <a:srgbClr val="E9E9EA"/>
                      </a:solidFill>
                      <a:prstDash val="solid"/>
                      <a:round/>
                      <a:headEnd type="none" w="med" len="med"/>
                      <a:tailEnd type="none" w="med" len="med"/>
                    </a:lnL>
                    <a:lnR w="3810" cap="flat" cmpd="sng" algn="ctr">
                      <a:solidFill>
                        <a:srgbClr val="E9E9EA"/>
                      </a:solidFill>
                      <a:prstDash val="solid"/>
                      <a:round/>
                      <a:headEnd type="none" w="med" len="med"/>
                      <a:tailEnd type="none" w="med" len="med"/>
                    </a:lnR>
                    <a:lnT w="3810" cap="flat" cmpd="sng" algn="ctr">
                      <a:solidFill>
                        <a:srgbClr val="E9E9EA"/>
                      </a:solidFill>
                      <a:prstDash val="solid"/>
                      <a:round/>
                      <a:headEnd type="none" w="med" len="med"/>
                      <a:tailEnd type="none" w="med" len="med"/>
                    </a:lnT>
                    <a:lnB w="3810" cap="flat" cmpd="sng" algn="ctr">
                      <a:solidFill>
                        <a:srgbClr val="E9E9EA"/>
                      </a:solidFill>
                      <a:prstDash val="solid"/>
                      <a:round/>
                      <a:headEnd type="none" w="med" len="med"/>
                      <a:tailEnd type="none" w="med" len="med"/>
                    </a:lnB>
                    <a:solidFill>
                      <a:srgbClr val="FFFFFF"/>
                    </a:solidFill>
                  </a:tcPr>
                </a:tc>
                <a:extLst>
                  <a:ext uri="{0D108BD9-81ED-4DB2-BD59-A6C34878D82A}">
                    <a16:rowId xmlns:a16="http://schemas.microsoft.com/office/drawing/2014/main" val="1580356118"/>
                  </a:ext>
                </a:extLst>
              </a:tr>
            </a:tbl>
          </a:graphicData>
        </a:graphic>
      </p:graphicFrame>
    </p:spTree>
    <p:extLst>
      <p:ext uri="{BB962C8B-B14F-4D97-AF65-F5344CB8AC3E}">
        <p14:creationId xmlns:p14="http://schemas.microsoft.com/office/powerpoint/2010/main" val="4238549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CC18C-BA3A-45FE-53D0-469FC80C25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08C7FB-4FF7-4C6C-B0DD-C2CDE87C9E08}"/>
              </a:ext>
            </a:extLst>
          </p:cNvPr>
          <p:cNvSpPr txBox="1"/>
          <p:nvPr/>
        </p:nvSpPr>
        <p:spPr>
          <a:xfrm>
            <a:off x="3707894" y="159048"/>
            <a:ext cx="5732788" cy="707886"/>
          </a:xfrm>
          <a:prstGeom prst="rect">
            <a:avLst/>
          </a:prstGeom>
          <a:noFill/>
        </p:spPr>
        <p:txBody>
          <a:bodyPr wrap="none" rtlCol="0">
            <a:spAutoFit/>
          </a:bodyPr>
          <a:lstStyle/>
          <a:p>
            <a:r>
              <a:rPr lang="en-IN" sz="4000" b="1" dirty="0"/>
              <a:t>Benefits of Prompt Tuning</a:t>
            </a:r>
          </a:p>
        </p:txBody>
      </p:sp>
      <p:sp>
        <p:nvSpPr>
          <p:cNvPr id="7" name="TextBox 6">
            <a:extLst>
              <a:ext uri="{FF2B5EF4-FFF2-40B4-BE49-F238E27FC236}">
                <a16:creationId xmlns:a16="http://schemas.microsoft.com/office/drawing/2014/main" id="{FE2C5D35-72CE-2A0F-BA01-E68DB6F9A98C}"/>
              </a:ext>
            </a:extLst>
          </p:cNvPr>
          <p:cNvSpPr txBox="1"/>
          <p:nvPr/>
        </p:nvSpPr>
        <p:spPr>
          <a:xfrm>
            <a:off x="0" y="6433851"/>
            <a:ext cx="6485973" cy="369332"/>
          </a:xfrm>
          <a:prstGeom prst="rect">
            <a:avLst/>
          </a:prstGeom>
          <a:noFill/>
        </p:spPr>
        <p:txBody>
          <a:bodyPr wrap="square">
            <a:spAutoFit/>
          </a:bodyPr>
          <a:lstStyle/>
          <a:p>
            <a:r>
              <a:rPr lang="en-IN" dirty="0"/>
              <a:t>https://www.datacamp.com/tutorial/understanding-prompt-tuning</a:t>
            </a:r>
          </a:p>
        </p:txBody>
      </p:sp>
      <p:sp>
        <p:nvSpPr>
          <p:cNvPr id="3" name="TextBox 2">
            <a:extLst>
              <a:ext uri="{FF2B5EF4-FFF2-40B4-BE49-F238E27FC236}">
                <a16:creationId xmlns:a16="http://schemas.microsoft.com/office/drawing/2014/main" id="{84CAFDB3-2012-E2D9-C27E-CEDBD0ED8BF3}"/>
              </a:ext>
            </a:extLst>
          </p:cNvPr>
          <p:cNvSpPr txBox="1"/>
          <p:nvPr/>
        </p:nvSpPr>
        <p:spPr>
          <a:xfrm>
            <a:off x="547511" y="1499795"/>
            <a:ext cx="11096977" cy="4398640"/>
          </a:xfrm>
          <a:prstGeom prst="rect">
            <a:avLst/>
          </a:prstGeom>
          <a:noFill/>
        </p:spPr>
        <p:txBody>
          <a:bodyPr wrap="square">
            <a:spAutoFit/>
          </a:bodyPr>
          <a:lstStyle/>
          <a:p>
            <a:pPr marL="283464" indent="-283464" algn="l" rtl="0" eaLnBrk="1" latinLnBrk="0" hangingPunct="1">
              <a:spcAft>
                <a:spcPts val="1050"/>
              </a:spcAft>
              <a:buFont typeface="Arial" panose="020B0604020202020204" pitchFamily="34" charset="0"/>
              <a:buChar char="•"/>
            </a:pPr>
            <a:r>
              <a:rPr lang="en-US" sz="1800" b="1" dirty="0">
                <a:solidFill>
                  <a:srgbClr val="05192D"/>
                </a:solidFill>
                <a:effectLst/>
                <a:latin typeface="Studio-Feixen-Sans"/>
              </a:rPr>
              <a:t>Resource Efficiency</a:t>
            </a:r>
            <a:r>
              <a:rPr lang="en-US" sz="1800" dirty="0">
                <a:solidFill>
                  <a:srgbClr val="05192D"/>
                </a:solidFill>
                <a:effectLst/>
                <a:latin typeface="Studio-Feixen-Sans"/>
              </a:rPr>
              <a:t>: Prompt tuning keeps model parameters fixed, lowering computational needs, especially in low-resource environments. This approach is appealing as foundational models expand, eliminating the necessity for multiple models for different tasks.</a:t>
            </a:r>
          </a:p>
          <a:p>
            <a:pPr marL="283464" indent="-283464" algn="l" rtl="0" eaLnBrk="1" latinLnBrk="0" hangingPunct="1">
              <a:spcAft>
                <a:spcPts val="1050"/>
              </a:spcAft>
              <a:buFont typeface="Arial" panose="020B0604020202020204" pitchFamily="34" charset="0"/>
              <a:buChar char="•"/>
            </a:pPr>
            <a:r>
              <a:rPr lang="en-US" sz="1800" b="1" dirty="0">
                <a:solidFill>
                  <a:srgbClr val="05192D"/>
                </a:solidFill>
                <a:effectLst/>
                <a:latin typeface="Studio-Feixen-Sans"/>
              </a:rPr>
              <a:t>Rapid Deployment</a:t>
            </a:r>
            <a:r>
              <a:rPr lang="en-US" sz="1800" dirty="0">
                <a:solidFill>
                  <a:srgbClr val="05192D"/>
                </a:solidFill>
                <a:effectLst/>
                <a:latin typeface="Studio-Feixen-Sans"/>
              </a:rPr>
              <a:t>: By adjusting only a few soft prompt parameters, prompt tuning enables quicker task adaptations with minimal downtime.</a:t>
            </a:r>
          </a:p>
          <a:p>
            <a:pPr marL="283464" indent="-283464" algn="l" rtl="0" eaLnBrk="1" latinLnBrk="0" hangingPunct="1">
              <a:spcAft>
                <a:spcPts val="1050"/>
              </a:spcAft>
              <a:buFont typeface="Arial" panose="020B0604020202020204" pitchFamily="34" charset="0"/>
              <a:buChar char="•"/>
            </a:pPr>
            <a:r>
              <a:rPr lang="en-US" sz="1800" b="1" dirty="0">
                <a:solidFill>
                  <a:srgbClr val="05192D"/>
                </a:solidFill>
                <a:effectLst/>
                <a:latin typeface="Studio-Feixen-Sans"/>
              </a:rPr>
              <a:t>Model Integrity and Knowledge Retention</a:t>
            </a:r>
            <a:r>
              <a:rPr lang="en-US" sz="1800" dirty="0">
                <a:solidFill>
                  <a:srgbClr val="05192D"/>
                </a:solidFill>
                <a:effectLst/>
                <a:latin typeface="Studio-Feixen-Sans"/>
              </a:rPr>
              <a:t>: This method preserves the model's original structure and knowledge, ensuring reliability across various applications.</a:t>
            </a:r>
          </a:p>
          <a:p>
            <a:pPr marL="283464" indent="-283464" algn="l" rtl="0" eaLnBrk="1" latinLnBrk="0" hangingPunct="1">
              <a:spcAft>
                <a:spcPts val="1050"/>
              </a:spcAft>
              <a:buFont typeface="Arial" panose="020B0604020202020204" pitchFamily="34" charset="0"/>
              <a:buChar char="•"/>
            </a:pPr>
            <a:r>
              <a:rPr lang="en-US" sz="1800" b="1" dirty="0">
                <a:solidFill>
                  <a:srgbClr val="05192D"/>
                </a:solidFill>
                <a:effectLst/>
                <a:latin typeface="Studio-Feixen-Sans"/>
              </a:rPr>
              <a:t>Task Flexibility</a:t>
            </a:r>
            <a:r>
              <a:rPr lang="en-US" sz="1800" dirty="0">
                <a:solidFill>
                  <a:srgbClr val="05192D"/>
                </a:solidFill>
                <a:effectLst/>
                <a:latin typeface="Studio-Feixen-Sans"/>
              </a:rPr>
              <a:t>: One foundational model can manage multiple tasks by simply changing soft prompts, reducing the requirement for different models.</a:t>
            </a:r>
          </a:p>
          <a:p>
            <a:pPr marL="283464" indent="-283464" algn="l" rtl="0" eaLnBrk="1" latinLnBrk="0" hangingPunct="1">
              <a:spcAft>
                <a:spcPts val="1050"/>
              </a:spcAft>
              <a:buFont typeface="Arial" panose="020B0604020202020204" pitchFamily="34" charset="0"/>
              <a:buChar char="•"/>
            </a:pPr>
            <a:r>
              <a:rPr lang="en-US" sz="1800" b="1" dirty="0">
                <a:solidFill>
                  <a:srgbClr val="05192D"/>
                </a:solidFill>
                <a:effectLst/>
                <a:latin typeface="Studio-Feixen-Sans"/>
              </a:rPr>
              <a:t>Reduced Human Involvement</a:t>
            </a:r>
            <a:r>
              <a:rPr lang="en-US" sz="1800" dirty="0">
                <a:solidFill>
                  <a:srgbClr val="05192D"/>
                </a:solidFill>
                <a:effectLst/>
                <a:latin typeface="Studio-Feixen-Sans"/>
              </a:rPr>
              <a:t>: Prompt tuning requires less human intervention than prompt engineering, automating soft prompt optimization and enhancing efficiency.</a:t>
            </a:r>
          </a:p>
          <a:p>
            <a:pPr marL="283464" indent="-283464" algn="l" rtl="0" eaLnBrk="1" latinLnBrk="0" hangingPunct="1">
              <a:spcAft>
                <a:spcPts val="1050"/>
              </a:spcAft>
              <a:buFont typeface="Arial" panose="020B0604020202020204" pitchFamily="34" charset="0"/>
              <a:buChar char="•"/>
            </a:pPr>
            <a:r>
              <a:rPr lang="en-US" sz="1800" b="1" dirty="0">
                <a:solidFill>
                  <a:srgbClr val="05192D"/>
                </a:solidFill>
                <a:effectLst/>
                <a:latin typeface="Studio-Feixen-Sans"/>
              </a:rPr>
              <a:t>Competitive Performance</a:t>
            </a:r>
            <a:r>
              <a:rPr lang="en-US" sz="1800" dirty="0">
                <a:solidFill>
                  <a:srgbClr val="05192D"/>
                </a:solidFill>
                <a:effectLst/>
                <a:latin typeface="Studio-Feixen-Sans"/>
              </a:rPr>
              <a:t>: Research</a:t>
            </a:r>
            <a:r>
              <a:rPr lang="en-US" sz="1800" baseline="30000" dirty="0">
                <a:solidFill>
                  <a:srgbClr val="05192D"/>
                </a:solidFill>
                <a:effectLst/>
                <a:latin typeface="Studio-Feixen-Sans"/>
              </a:rPr>
              <a:t>1</a:t>
            </a:r>
            <a:r>
              <a:rPr lang="en-US" sz="1800" dirty="0">
                <a:solidFill>
                  <a:srgbClr val="05192D"/>
                </a:solidFill>
                <a:effectLst/>
                <a:latin typeface="Studio-Feixen-Sans"/>
              </a:rPr>
              <a:t> shows that prompt tuning can achieve performance levels comparable to fine-tuning in large models, proving effective as model sizes grow.</a:t>
            </a:r>
            <a:endParaRPr lang="en-US" b="0" i="0" dirty="0">
              <a:solidFill>
                <a:srgbClr val="05192D"/>
              </a:solidFill>
              <a:effectLst/>
              <a:latin typeface="Studio-Feixen-Sans"/>
            </a:endParaRPr>
          </a:p>
        </p:txBody>
      </p:sp>
    </p:spTree>
    <p:extLst>
      <p:ext uri="{BB962C8B-B14F-4D97-AF65-F5344CB8AC3E}">
        <p14:creationId xmlns:p14="http://schemas.microsoft.com/office/powerpoint/2010/main" val="36923499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9734-AC66-8AB5-9548-E6E44E9DD1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E86DFE-71C5-DA8A-91F6-0A6BEC9EC15B}"/>
              </a:ext>
            </a:extLst>
          </p:cNvPr>
          <p:cNvSpPr txBox="1"/>
          <p:nvPr/>
        </p:nvSpPr>
        <p:spPr>
          <a:xfrm>
            <a:off x="2737049" y="170336"/>
            <a:ext cx="8189037" cy="707886"/>
          </a:xfrm>
          <a:prstGeom prst="rect">
            <a:avLst/>
          </a:prstGeom>
          <a:noFill/>
        </p:spPr>
        <p:txBody>
          <a:bodyPr wrap="none" rtlCol="0">
            <a:spAutoFit/>
          </a:bodyPr>
          <a:lstStyle/>
          <a:p>
            <a:r>
              <a:rPr lang="en-IN" sz="4000" b="1" dirty="0"/>
              <a:t>Best practices for Prompt Engineering</a:t>
            </a:r>
          </a:p>
        </p:txBody>
      </p:sp>
      <p:sp>
        <p:nvSpPr>
          <p:cNvPr id="2" name="TextBox 1">
            <a:extLst>
              <a:ext uri="{FF2B5EF4-FFF2-40B4-BE49-F238E27FC236}">
                <a16:creationId xmlns:a16="http://schemas.microsoft.com/office/drawing/2014/main" id="{E28441BE-B460-9627-855D-5AB02D8B55D0}"/>
              </a:ext>
            </a:extLst>
          </p:cNvPr>
          <p:cNvSpPr txBox="1"/>
          <p:nvPr/>
        </p:nvSpPr>
        <p:spPr>
          <a:xfrm>
            <a:off x="801513" y="1320801"/>
            <a:ext cx="11243732" cy="4031873"/>
          </a:xfrm>
          <a:prstGeom prst="rect">
            <a:avLst/>
          </a:prstGeom>
          <a:noFill/>
        </p:spPr>
        <p:txBody>
          <a:bodyPr wrap="square" rtlCol="0">
            <a:spAutoFit/>
          </a:bodyPr>
          <a:lstStyle/>
          <a:p>
            <a:pPr marL="457200" indent="-457200">
              <a:buFont typeface="Arial" panose="020B0604020202020204" pitchFamily="34" charset="0"/>
              <a:buChar char="•"/>
            </a:pPr>
            <a:r>
              <a:rPr lang="en-IN" sz="3200" dirty="0"/>
              <a:t>Use the latest model – Newer models may be easier to prompt engineer</a:t>
            </a:r>
          </a:p>
          <a:p>
            <a:pPr marL="457200" indent="-457200">
              <a:buFont typeface="Arial" panose="020B0604020202020204" pitchFamily="34" charset="0"/>
              <a:buChar char="•"/>
            </a:pPr>
            <a:endParaRPr lang="en-IN" sz="3200" dirty="0"/>
          </a:p>
          <a:p>
            <a:pPr marL="457200" indent="-457200">
              <a:buFont typeface="Arial" panose="020B0604020202020204" pitchFamily="34" charset="0"/>
              <a:buChar char="•"/>
            </a:pPr>
            <a:r>
              <a:rPr lang="en-US" sz="3200" dirty="0"/>
              <a:t>Put instructions at the beginning of the prompt and use ### or """ to separate the instruction and context </a:t>
            </a:r>
          </a:p>
          <a:p>
            <a:pPr marL="457200" indent="-457200">
              <a:buFont typeface="Arial" panose="020B0604020202020204" pitchFamily="34" charset="0"/>
              <a:buChar char="•"/>
            </a:pPr>
            <a:endParaRPr lang="en-US" sz="3200" dirty="0"/>
          </a:p>
          <a:p>
            <a:endParaRPr lang="en-IN" sz="3200" dirty="0"/>
          </a:p>
          <a:p>
            <a:pPr marL="457200" indent="-457200">
              <a:buFont typeface="Arial" panose="020B0604020202020204" pitchFamily="34" charset="0"/>
              <a:buChar char="•"/>
            </a:pPr>
            <a:endParaRPr lang="en-IN" sz="3200" dirty="0"/>
          </a:p>
        </p:txBody>
      </p:sp>
      <p:sp>
        <p:nvSpPr>
          <p:cNvPr id="9" name="TextBox 8">
            <a:extLst>
              <a:ext uri="{FF2B5EF4-FFF2-40B4-BE49-F238E27FC236}">
                <a16:creationId xmlns:a16="http://schemas.microsoft.com/office/drawing/2014/main" id="{6A4FFFCB-5166-7FA3-6280-A5080B5EF95D}"/>
              </a:ext>
            </a:extLst>
          </p:cNvPr>
          <p:cNvSpPr txBox="1"/>
          <p:nvPr/>
        </p:nvSpPr>
        <p:spPr>
          <a:xfrm>
            <a:off x="124177" y="6318332"/>
            <a:ext cx="7732889" cy="369332"/>
          </a:xfrm>
          <a:prstGeom prst="rect">
            <a:avLst/>
          </a:prstGeom>
          <a:noFill/>
        </p:spPr>
        <p:txBody>
          <a:bodyPr wrap="square">
            <a:spAutoFit/>
          </a:bodyPr>
          <a:lstStyle/>
          <a:p>
            <a:r>
              <a:rPr lang="en-US" dirty="0">
                <a:hlinkClick r:id="rId2"/>
              </a:rPr>
              <a:t>Best practices for prompt engineering with the OpenAI API | OpenAI Help Center</a:t>
            </a:r>
            <a:endParaRPr lang="en-IN" dirty="0"/>
          </a:p>
        </p:txBody>
      </p:sp>
      <p:sp>
        <p:nvSpPr>
          <p:cNvPr id="3" name="Rectangle 1">
            <a:extLst>
              <a:ext uri="{FF2B5EF4-FFF2-40B4-BE49-F238E27FC236}">
                <a16:creationId xmlns:a16="http://schemas.microsoft.com/office/drawing/2014/main" id="{96855D20-9833-0603-E3D6-38122F2C393B}"/>
              </a:ext>
            </a:extLst>
          </p:cNvPr>
          <p:cNvSpPr>
            <a:spLocks noChangeArrowheads="1"/>
          </p:cNvSpPr>
          <p:nvPr/>
        </p:nvSpPr>
        <p:spPr bwMode="auto">
          <a:xfrm>
            <a:off x="1394179" y="4107975"/>
            <a:ext cx="9697155" cy="1859382"/>
          </a:xfrm>
          <a:prstGeom prst="rect">
            <a:avLst/>
          </a:prstGeom>
          <a:noFill/>
          <a:ln>
            <a:noFill/>
          </a:ln>
          <a:effec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rgbClr val="333333"/>
                </a:solidFill>
                <a:effectLst/>
              </a:rPr>
              <a:t>Summarize the text below as a bullet point list of the most important points.</a:t>
            </a:r>
            <a:br>
              <a:rPr kumimoji="0" lang="en-US" altLang="en-US" sz="2000" b="0" i="1" u="none" strike="noStrike" cap="none" normalizeH="0" baseline="0" dirty="0">
                <a:ln>
                  <a:noFill/>
                </a:ln>
                <a:solidFill>
                  <a:srgbClr val="333333"/>
                </a:solidFill>
                <a:effectLst/>
              </a:rPr>
            </a:br>
            <a:br>
              <a:rPr kumimoji="0" lang="en-US" altLang="en-US" sz="2000" b="0" i="1" u="none" strike="noStrike" cap="none" normalizeH="0" baseline="0" dirty="0">
                <a:ln>
                  <a:noFill/>
                </a:ln>
                <a:solidFill>
                  <a:srgbClr val="333333"/>
                </a:solidFill>
                <a:effectLst/>
              </a:rPr>
            </a:br>
            <a:r>
              <a:rPr kumimoji="0" lang="en-US" altLang="en-US" sz="2000" b="0" i="1" u="none" strike="noStrike" cap="none" normalizeH="0" baseline="0" dirty="0">
                <a:ln>
                  <a:noFill/>
                </a:ln>
                <a:solidFill>
                  <a:srgbClr val="333333"/>
                </a:solidFill>
                <a:effectLst/>
              </a:rPr>
              <a:t>Text: """</a:t>
            </a:r>
            <a:br>
              <a:rPr kumimoji="0" lang="en-US" altLang="en-US" sz="2000" b="0" i="1" u="none" strike="noStrike" cap="none" normalizeH="0" baseline="0" dirty="0">
                <a:ln>
                  <a:noFill/>
                </a:ln>
                <a:solidFill>
                  <a:srgbClr val="333333"/>
                </a:solidFill>
                <a:effectLst/>
              </a:rPr>
            </a:br>
            <a:r>
              <a:rPr kumimoji="0" lang="en-US" altLang="en-US" sz="2000" b="0" i="1" u="none" strike="noStrike" cap="none" normalizeH="0" baseline="0" dirty="0">
                <a:ln>
                  <a:noFill/>
                </a:ln>
                <a:solidFill>
                  <a:srgbClr val="333333"/>
                </a:solidFill>
                <a:effectLst/>
              </a:rPr>
              <a:t>{text input here}</a:t>
            </a:r>
            <a:br>
              <a:rPr kumimoji="0" lang="en-US" altLang="en-US" sz="2000" b="0" i="1" u="none" strike="noStrike" cap="none" normalizeH="0" baseline="0" dirty="0">
                <a:ln>
                  <a:noFill/>
                </a:ln>
                <a:solidFill>
                  <a:srgbClr val="333333"/>
                </a:solidFill>
                <a:effectLst/>
              </a:rPr>
            </a:br>
            <a:r>
              <a:rPr kumimoji="0" lang="en-US" altLang="en-US" sz="2000" b="0" i="1" u="none" strike="noStrike" cap="none" normalizeH="0" baseline="0" dirty="0">
                <a:ln>
                  <a:noFill/>
                </a:ln>
                <a:solidFill>
                  <a:srgbClr val="333333"/>
                </a:solidFill>
                <a:effectLst/>
              </a:rPr>
              <a:t>"""</a:t>
            </a:r>
            <a:r>
              <a:rPr kumimoji="0" lang="en-US" altLang="en-US" b="0" i="1" u="none" strike="noStrike" cap="none" normalizeH="0" baseline="0" dirty="0">
                <a:ln>
                  <a:noFill/>
                </a:ln>
                <a:solidFill>
                  <a:schemeClr val="tx1"/>
                </a:solidFill>
                <a:effectLst/>
              </a:rPr>
              <a:t> </a:t>
            </a:r>
            <a:endParaRPr kumimoji="0" lang="en-US" altLang="en-US" sz="4800" b="0" i="1"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7221671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87653-67CD-B3F7-E7C2-D24ECACEF9D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7DEEEE-E494-A664-86FD-BCD4ED22E57B}"/>
              </a:ext>
            </a:extLst>
          </p:cNvPr>
          <p:cNvSpPr txBox="1"/>
          <p:nvPr/>
        </p:nvSpPr>
        <p:spPr>
          <a:xfrm>
            <a:off x="2737049" y="170336"/>
            <a:ext cx="8189037" cy="707886"/>
          </a:xfrm>
          <a:prstGeom prst="rect">
            <a:avLst/>
          </a:prstGeom>
          <a:noFill/>
        </p:spPr>
        <p:txBody>
          <a:bodyPr wrap="none" rtlCol="0">
            <a:spAutoFit/>
          </a:bodyPr>
          <a:lstStyle/>
          <a:p>
            <a:r>
              <a:rPr lang="en-IN" sz="4000" b="1" dirty="0"/>
              <a:t>Best practices for Prompt Engineering</a:t>
            </a:r>
          </a:p>
        </p:txBody>
      </p:sp>
      <p:sp>
        <p:nvSpPr>
          <p:cNvPr id="2" name="TextBox 1">
            <a:extLst>
              <a:ext uri="{FF2B5EF4-FFF2-40B4-BE49-F238E27FC236}">
                <a16:creationId xmlns:a16="http://schemas.microsoft.com/office/drawing/2014/main" id="{71B1949B-53AB-3E31-D3A2-515E599269C2}"/>
              </a:ext>
            </a:extLst>
          </p:cNvPr>
          <p:cNvSpPr txBox="1"/>
          <p:nvPr/>
        </p:nvSpPr>
        <p:spPr>
          <a:xfrm>
            <a:off x="654756" y="1800450"/>
            <a:ext cx="11243732"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Be specific, descriptive and as detailed as possible about the desired context, outcome, length, format, style, etc.</a:t>
            </a:r>
          </a:p>
        </p:txBody>
      </p:sp>
      <p:sp>
        <p:nvSpPr>
          <p:cNvPr id="9" name="TextBox 8">
            <a:extLst>
              <a:ext uri="{FF2B5EF4-FFF2-40B4-BE49-F238E27FC236}">
                <a16:creationId xmlns:a16="http://schemas.microsoft.com/office/drawing/2014/main" id="{0B957AFA-CFD0-FCD2-253D-2FD3155EE94A}"/>
              </a:ext>
            </a:extLst>
          </p:cNvPr>
          <p:cNvSpPr txBox="1"/>
          <p:nvPr/>
        </p:nvSpPr>
        <p:spPr>
          <a:xfrm>
            <a:off x="124177" y="6318332"/>
            <a:ext cx="7732889" cy="369332"/>
          </a:xfrm>
          <a:prstGeom prst="rect">
            <a:avLst/>
          </a:prstGeom>
          <a:noFill/>
        </p:spPr>
        <p:txBody>
          <a:bodyPr wrap="square">
            <a:spAutoFit/>
          </a:bodyPr>
          <a:lstStyle/>
          <a:p>
            <a:r>
              <a:rPr lang="en-US" dirty="0">
                <a:hlinkClick r:id="rId2"/>
              </a:rPr>
              <a:t>Best practices for prompt engineering with the OpenAI API | OpenAI Help Center</a:t>
            </a:r>
            <a:endParaRPr lang="en-IN" dirty="0"/>
          </a:p>
        </p:txBody>
      </p:sp>
      <p:sp>
        <p:nvSpPr>
          <p:cNvPr id="3" name="Rectangle 1">
            <a:extLst>
              <a:ext uri="{FF2B5EF4-FFF2-40B4-BE49-F238E27FC236}">
                <a16:creationId xmlns:a16="http://schemas.microsoft.com/office/drawing/2014/main" id="{1539C738-13B4-68F2-EBDD-53B85344BEA4}"/>
              </a:ext>
            </a:extLst>
          </p:cNvPr>
          <p:cNvSpPr>
            <a:spLocks noChangeArrowheads="1"/>
          </p:cNvSpPr>
          <p:nvPr/>
        </p:nvSpPr>
        <p:spPr bwMode="auto">
          <a:xfrm>
            <a:off x="1128889" y="3429000"/>
            <a:ext cx="9934222" cy="1428495"/>
          </a:xfrm>
          <a:prstGeom prst="rect">
            <a:avLst/>
          </a:prstGeom>
          <a:noFill/>
          <a:ln>
            <a:noFill/>
          </a:ln>
          <a:effec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333333"/>
                </a:solidFill>
                <a:effectLst/>
              </a:rPr>
              <a:t>Write a short inspiring poem about OpenAI, focusing on the recent DALL-E product launch (DALL-E is a text to image ML model) in the style of a {famous poet}</a:t>
            </a:r>
            <a:r>
              <a:rPr kumimoji="0" lang="en-US" altLang="en-US" sz="2000" b="0" i="1" u="none" strike="noStrike" cap="none" normalizeH="0" baseline="0" dirty="0">
                <a:ln>
                  <a:noFill/>
                </a:ln>
                <a:solidFill>
                  <a:schemeClr val="tx1"/>
                </a:solidFill>
                <a:effectLst/>
              </a:rPr>
              <a:t> </a:t>
            </a:r>
            <a:endParaRPr kumimoji="0" lang="en-US" altLang="en-US" sz="5400" b="0" i="1"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782937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67C40-C07E-CA6D-128B-80423D489D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557A65-9E90-9F62-A6B0-8243D31EAF39}"/>
              </a:ext>
            </a:extLst>
          </p:cNvPr>
          <p:cNvSpPr txBox="1"/>
          <p:nvPr/>
        </p:nvSpPr>
        <p:spPr>
          <a:xfrm>
            <a:off x="2737049" y="170336"/>
            <a:ext cx="8189037" cy="707886"/>
          </a:xfrm>
          <a:prstGeom prst="rect">
            <a:avLst/>
          </a:prstGeom>
          <a:noFill/>
        </p:spPr>
        <p:txBody>
          <a:bodyPr wrap="none" rtlCol="0">
            <a:spAutoFit/>
          </a:bodyPr>
          <a:lstStyle/>
          <a:p>
            <a:r>
              <a:rPr lang="en-IN" sz="4000" b="1" dirty="0"/>
              <a:t>Best practices for Prompt Engineering</a:t>
            </a:r>
          </a:p>
        </p:txBody>
      </p:sp>
      <p:sp>
        <p:nvSpPr>
          <p:cNvPr id="2" name="TextBox 1">
            <a:extLst>
              <a:ext uri="{FF2B5EF4-FFF2-40B4-BE49-F238E27FC236}">
                <a16:creationId xmlns:a16="http://schemas.microsoft.com/office/drawing/2014/main" id="{1FB08C9D-6434-6A88-9263-7B5FFDF59500}"/>
              </a:ext>
            </a:extLst>
          </p:cNvPr>
          <p:cNvSpPr txBox="1"/>
          <p:nvPr/>
        </p:nvSpPr>
        <p:spPr>
          <a:xfrm>
            <a:off x="643467" y="1409047"/>
            <a:ext cx="11243732"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t>Articulate the desired output format through examples</a:t>
            </a:r>
          </a:p>
        </p:txBody>
      </p:sp>
      <p:sp>
        <p:nvSpPr>
          <p:cNvPr id="9" name="TextBox 8">
            <a:extLst>
              <a:ext uri="{FF2B5EF4-FFF2-40B4-BE49-F238E27FC236}">
                <a16:creationId xmlns:a16="http://schemas.microsoft.com/office/drawing/2014/main" id="{31761749-D79F-8FAC-72BF-1DD8C4C1EFE0}"/>
              </a:ext>
            </a:extLst>
          </p:cNvPr>
          <p:cNvSpPr txBox="1"/>
          <p:nvPr/>
        </p:nvSpPr>
        <p:spPr>
          <a:xfrm>
            <a:off x="124177" y="6318332"/>
            <a:ext cx="7732889" cy="369332"/>
          </a:xfrm>
          <a:prstGeom prst="rect">
            <a:avLst/>
          </a:prstGeom>
          <a:noFill/>
        </p:spPr>
        <p:txBody>
          <a:bodyPr wrap="square">
            <a:spAutoFit/>
          </a:bodyPr>
          <a:lstStyle/>
          <a:p>
            <a:r>
              <a:rPr lang="en-US" dirty="0">
                <a:hlinkClick r:id="rId2"/>
              </a:rPr>
              <a:t>Best practices for prompt engineering with the OpenAI API | OpenAI Help Center</a:t>
            </a:r>
            <a:endParaRPr lang="en-IN" dirty="0"/>
          </a:p>
        </p:txBody>
      </p:sp>
      <p:sp>
        <p:nvSpPr>
          <p:cNvPr id="6" name="TextBox 5">
            <a:extLst>
              <a:ext uri="{FF2B5EF4-FFF2-40B4-BE49-F238E27FC236}">
                <a16:creationId xmlns:a16="http://schemas.microsoft.com/office/drawing/2014/main" id="{F9156A34-E2F4-8330-1E69-EBEA69B343CE}"/>
              </a:ext>
            </a:extLst>
          </p:cNvPr>
          <p:cNvSpPr txBox="1"/>
          <p:nvPr/>
        </p:nvSpPr>
        <p:spPr>
          <a:xfrm>
            <a:off x="887588" y="2163348"/>
            <a:ext cx="10755490" cy="4154984"/>
          </a:xfrm>
          <a:prstGeom prst="rect">
            <a:avLst/>
          </a:prstGeom>
          <a:noFill/>
        </p:spPr>
        <p:txBody>
          <a:bodyPr wrap="square">
            <a:spAutoFit/>
          </a:bodyPr>
          <a:lstStyle/>
          <a:p>
            <a:r>
              <a:rPr lang="en-US" sz="2400" i="1" dirty="0"/>
              <a:t>Extract the important entities mentioned in the text below. First extract all company names, then extract all people names, then extract specific topics which fit the content and finally extract general overarching themes</a:t>
            </a:r>
          </a:p>
          <a:p>
            <a:endParaRPr lang="en-US" sz="2400" i="1" dirty="0"/>
          </a:p>
          <a:p>
            <a:r>
              <a:rPr lang="en-US" sz="2400" i="1" dirty="0"/>
              <a:t>Desired format:</a:t>
            </a:r>
          </a:p>
          <a:p>
            <a:r>
              <a:rPr lang="en-US" sz="2400" i="1" dirty="0"/>
              <a:t>Company names: &lt;</a:t>
            </a:r>
            <a:r>
              <a:rPr lang="en-US" sz="2400" i="1" dirty="0" err="1"/>
              <a:t>comma_separated_list_of_company_names</a:t>
            </a:r>
            <a:r>
              <a:rPr lang="en-US" sz="2400" i="1" dirty="0"/>
              <a:t>&gt;</a:t>
            </a:r>
          </a:p>
          <a:p>
            <a:r>
              <a:rPr lang="en-US" sz="2400" i="1" dirty="0"/>
              <a:t>People names: -||-</a:t>
            </a:r>
          </a:p>
          <a:p>
            <a:r>
              <a:rPr lang="en-US" sz="2400" i="1" dirty="0"/>
              <a:t>Specific topics: -||-</a:t>
            </a:r>
          </a:p>
          <a:p>
            <a:r>
              <a:rPr lang="en-US" sz="2400" i="1" dirty="0"/>
              <a:t>General themes: -||-</a:t>
            </a:r>
          </a:p>
          <a:p>
            <a:endParaRPr lang="en-US" sz="2400" i="1" dirty="0"/>
          </a:p>
          <a:p>
            <a:r>
              <a:rPr lang="en-US" sz="2400" i="1" dirty="0"/>
              <a:t>Text: {text}</a:t>
            </a:r>
            <a:endParaRPr lang="en-IN" sz="2400" i="1" dirty="0"/>
          </a:p>
        </p:txBody>
      </p:sp>
    </p:spTree>
    <p:extLst>
      <p:ext uri="{BB962C8B-B14F-4D97-AF65-F5344CB8AC3E}">
        <p14:creationId xmlns:p14="http://schemas.microsoft.com/office/powerpoint/2010/main" val="41680283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2B7BB-18E2-A1D3-687A-2FFCB636CD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80ABCE-DA5D-8E37-C55F-0D31B249C3FE}"/>
              </a:ext>
            </a:extLst>
          </p:cNvPr>
          <p:cNvSpPr txBox="1"/>
          <p:nvPr/>
        </p:nvSpPr>
        <p:spPr>
          <a:xfrm>
            <a:off x="3030559" y="205030"/>
            <a:ext cx="7490897" cy="707886"/>
          </a:xfrm>
          <a:prstGeom prst="rect">
            <a:avLst/>
          </a:prstGeom>
          <a:noFill/>
        </p:spPr>
        <p:txBody>
          <a:bodyPr wrap="none" rtlCol="0">
            <a:spAutoFit/>
          </a:bodyPr>
          <a:lstStyle/>
          <a:p>
            <a:r>
              <a:rPr lang="en-IN" sz="4000" b="1" dirty="0"/>
              <a:t>Zero shot and Few shot prompting</a:t>
            </a:r>
          </a:p>
        </p:txBody>
      </p:sp>
      <p:sp>
        <p:nvSpPr>
          <p:cNvPr id="3" name="TextBox 2">
            <a:extLst>
              <a:ext uri="{FF2B5EF4-FFF2-40B4-BE49-F238E27FC236}">
                <a16:creationId xmlns:a16="http://schemas.microsoft.com/office/drawing/2014/main" id="{FEAC99AF-A205-61CE-F667-8A43B2CEDEFF}"/>
              </a:ext>
            </a:extLst>
          </p:cNvPr>
          <p:cNvSpPr txBox="1"/>
          <p:nvPr/>
        </p:nvSpPr>
        <p:spPr>
          <a:xfrm>
            <a:off x="232531" y="1997839"/>
            <a:ext cx="10657185" cy="923330"/>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latin typeface="NimbusRomNo9L-Regu"/>
              </a:rPr>
              <a:t>Model receives a task description in the prompt but lacks labeled data for training on specific input-output mappings. The model then leverages its pre-existing knowledge to generate predictions based on the given prompt for the new task.</a:t>
            </a:r>
            <a:endParaRPr lang="en-IN" dirty="0"/>
          </a:p>
        </p:txBody>
      </p:sp>
      <p:sp>
        <p:nvSpPr>
          <p:cNvPr id="5" name="TextBox 4">
            <a:extLst>
              <a:ext uri="{FF2B5EF4-FFF2-40B4-BE49-F238E27FC236}">
                <a16:creationId xmlns:a16="http://schemas.microsoft.com/office/drawing/2014/main" id="{CF380C0D-84FD-7EE0-F23E-C383329145C1}"/>
              </a:ext>
            </a:extLst>
          </p:cNvPr>
          <p:cNvSpPr txBox="1"/>
          <p:nvPr/>
        </p:nvSpPr>
        <p:spPr>
          <a:xfrm>
            <a:off x="60047" y="6002108"/>
            <a:ext cx="11912183" cy="738664"/>
          </a:xfrm>
          <a:prstGeom prst="rect">
            <a:avLst/>
          </a:prstGeom>
          <a:noFill/>
        </p:spPr>
        <p:txBody>
          <a:bodyPr wrap="square">
            <a:spAutoFit/>
          </a:bodyPr>
          <a:lstStyle/>
          <a:p>
            <a:pPr algn="l"/>
            <a:r>
              <a:rPr lang="en-IN" sz="1400" b="0" i="0" u="none" strike="noStrike" baseline="0" dirty="0">
                <a:latin typeface="NimbusRomNo9L-Regu"/>
              </a:rPr>
              <a:t>Alec Radford, Jeffrey Wu, Rewon Child, David Luan, Dario </a:t>
            </a:r>
            <a:r>
              <a:rPr lang="en-IN" sz="1400" b="0" i="0" u="none" strike="noStrike" baseline="0" dirty="0" err="1">
                <a:latin typeface="NimbusRomNo9L-Regu"/>
              </a:rPr>
              <a:t>Amodei</a:t>
            </a:r>
            <a:r>
              <a:rPr lang="en-IN" sz="1400" b="0" i="0" u="none" strike="noStrike" baseline="0" dirty="0">
                <a:latin typeface="NimbusRomNo9L-Regu"/>
              </a:rPr>
              <a:t>, Ilya </a:t>
            </a:r>
            <a:r>
              <a:rPr lang="en-IN" sz="1400" b="0" i="0" u="none" strike="noStrike" baseline="0" dirty="0" err="1">
                <a:latin typeface="NimbusRomNo9L-Regu"/>
              </a:rPr>
              <a:t>Sutskever</a:t>
            </a:r>
            <a:r>
              <a:rPr lang="en-IN" sz="1400" b="0" i="0" u="none" strike="noStrike" baseline="0" dirty="0">
                <a:latin typeface="NimbusRomNo9L-Regu"/>
              </a:rPr>
              <a:t>, et al. </a:t>
            </a:r>
            <a:r>
              <a:rPr lang="en-US" sz="1400" b="0" i="0" u="none" strike="noStrike" baseline="0" dirty="0">
                <a:latin typeface="NimbusRomNo9L-Regu"/>
              </a:rPr>
              <a:t>Language models are unsupervised multitask learners. </a:t>
            </a:r>
            <a:r>
              <a:rPr lang="en-US" sz="1400" b="0" i="0" u="none" strike="noStrike" baseline="0" dirty="0">
                <a:latin typeface="NimbusRomNo9L-ReguItal"/>
              </a:rPr>
              <a:t>OpenAI </a:t>
            </a:r>
            <a:r>
              <a:rPr lang="en-IN" sz="1400" b="0" i="0" u="none" strike="noStrike" baseline="0" dirty="0">
                <a:latin typeface="NimbusRomNo9L-ReguItal"/>
              </a:rPr>
              <a:t>blog</a:t>
            </a:r>
            <a:r>
              <a:rPr lang="en-IN" sz="1400" b="0" i="0" u="none" strike="noStrike" baseline="0" dirty="0">
                <a:latin typeface="NimbusRomNo9L-Regu"/>
              </a:rPr>
              <a:t>, 1(8):9, 2019.</a:t>
            </a:r>
          </a:p>
          <a:p>
            <a:pPr algn="l"/>
            <a:r>
              <a:rPr lang="en-IN" sz="1400" dirty="0">
                <a:latin typeface="NimbusRomNo9L-Regu"/>
              </a:rPr>
              <a:t>Brown et. al., </a:t>
            </a:r>
            <a:r>
              <a:rPr lang="en-US" sz="1400" dirty="0">
                <a:latin typeface="NimbusRomNo9L-Regu"/>
              </a:rPr>
              <a:t>Language models are few-shot learners, </a:t>
            </a:r>
            <a:r>
              <a:rPr lang="en-IN" sz="1400" dirty="0">
                <a:latin typeface="NimbusRomNo9L-Regu"/>
              </a:rPr>
              <a:t> arXiv:2005.14165v4  [cs.CL] 22 Jul 2020</a:t>
            </a:r>
            <a:endParaRPr lang="en-IN" sz="1400" dirty="0"/>
          </a:p>
        </p:txBody>
      </p:sp>
      <p:sp>
        <p:nvSpPr>
          <p:cNvPr id="7" name="TextBox 6">
            <a:extLst>
              <a:ext uri="{FF2B5EF4-FFF2-40B4-BE49-F238E27FC236}">
                <a16:creationId xmlns:a16="http://schemas.microsoft.com/office/drawing/2014/main" id="{95D38CB8-5328-E4F3-0718-CA59BEF161B8}"/>
              </a:ext>
            </a:extLst>
          </p:cNvPr>
          <p:cNvSpPr txBox="1"/>
          <p:nvPr/>
        </p:nvSpPr>
        <p:spPr>
          <a:xfrm>
            <a:off x="394273" y="1101381"/>
            <a:ext cx="10495443" cy="646331"/>
          </a:xfrm>
          <a:prstGeom prst="rect">
            <a:avLst/>
          </a:prstGeom>
          <a:noFill/>
        </p:spPr>
        <p:txBody>
          <a:bodyPr wrap="square" rtlCol="0">
            <a:spAutoFit/>
          </a:bodyPr>
          <a:lstStyle/>
          <a:p>
            <a:pPr algn="l"/>
            <a:r>
              <a:rPr lang="en-IN" dirty="0">
                <a:solidFill>
                  <a:srgbClr val="0070C0"/>
                </a:solidFill>
              </a:rPr>
              <a:t>Zero shot prompting - </a:t>
            </a:r>
            <a:r>
              <a:rPr lang="en-US" sz="1800" b="0" i="0" u="none" strike="noStrike" baseline="0" dirty="0">
                <a:solidFill>
                  <a:srgbClr val="0070C0"/>
                </a:solidFill>
                <a:latin typeface="NimbusRomNo9L-Regu"/>
              </a:rPr>
              <a:t>removes the need for extensive training data, instead relying on carefully crafted</a:t>
            </a:r>
          </a:p>
          <a:p>
            <a:pPr algn="l"/>
            <a:r>
              <a:rPr lang="en-US" sz="1800" b="0" i="0" u="none" strike="noStrike" baseline="0" dirty="0">
                <a:solidFill>
                  <a:srgbClr val="0070C0"/>
                </a:solidFill>
                <a:latin typeface="NimbusRomNo9L-Regu"/>
              </a:rPr>
              <a:t>prompts that guide the model toward novel tasks.</a:t>
            </a:r>
            <a:r>
              <a:rPr lang="en-IN" dirty="0">
                <a:solidFill>
                  <a:srgbClr val="0070C0"/>
                </a:solidFill>
              </a:rPr>
              <a:t>  </a:t>
            </a:r>
          </a:p>
        </p:txBody>
      </p:sp>
      <p:sp>
        <p:nvSpPr>
          <p:cNvPr id="8" name="TextBox 7">
            <a:extLst>
              <a:ext uri="{FF2B5EF4-FFF2-40B4-BE49-F238E27FC236}">
                <a16:creationId xmlns:a16="http://schemas.microsoft.com/office/drawing/2014/main" id="{B6EC4A03-D29E-3272-6807-6903B9FD2145}"/>
              </a:ext>
            </a:extLst>
          </p:cNvPr>
          <p:cNvSpPr txBox="1"/>
          <p:nvPr/>
        </p:nvSpPr>
        <p:spPr>
          <a:xfrm>
            <a:off x="355681" y="3241877"/>
            <a:ext cx="11712846" cy="369332"/>
          </a:xfrm>
          <a:prstGeom prst="rect">
            <a:avLst/>
          </a:prstGeom>
          <a:noFill/>
        </p:spPr>
        <p:txBody>
          <a:bodyPr wrap="square">
            <a:spAutoFit/>
          </a:bodyPr>
          <a:lstStyle/>
          <a:p>
            <a:pPr algn="l"/>
            <a:r>
              <a:rPr lang="en-US" sz="1800" i="0" u="none" strike="noStrike" baseline="0" dirty="0">
                <a:solidFill>
                  <a:srgbClr val="0070C0"/>
                </a:solidFill>
                <a:latin typeface="NimbusRomNo9L-Regu"/>
              </a:rPr>
              <a:t>Few-shot prompting provides models with a few input-output examples to induce an understanding of a given task</a:t>
            </a:r>
            <a:endParaRPr lang="en-IN" dirty="0">
              <a:solidFill>
                <a:srgbClr val="0070C0"/>
              </a:solidFill>
            </a:endParaRPr>
          </a:p>
        </p:txBody>
      </p:sp>
      <p:sp>
        <p:nvSpPr>
          <p:cNvPr id="10" name="TextBox 9">
            <a:extLst>
              <a:ext uri="{FF2B5EF4-FFF2-40B4-BE49-F238E27FC236}">
                <a16:creationId xmlns:a16="http://schemas.microsoft.com/office/drawing/2014/main" id="{3756D0E1-7365-BDF6-1DF1-7B5377903CA3}"/>
              </a:ext>
            </a:extLst>
          </p:cNvPr>
          <p:cNvSpPr txBox="1"/>
          <p:nvPr/>
        </p:nvSpPr>
        <p:spPr>
          <a:xfrm>
            <a:off x="232531" y="3705374"/>
            <a:ext cx="11237780" cy="1754326"/>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NimbusRomNo9L-Regu"/>
              </a:rPr>
              <a:t>E</a:t>
            </a:r>
            <a:r>
              <a:rPr lang="en-US" sz="1800" b="0" i="0" u="none" strike="noStrike" baseline="0" dirty="0">
                <a:latin typeface="NimbusRomNo9L-Regu"/>
              </a:rPr>
              <a:t>ven a few high-quality examples can improve model performance on complex tasks. However, it requires additional tokens to include the examples, which may become prohibitive for longer text inputs. </a:t>
            </a:r>
          </a:p>
          <a:p>
            <a:pPr marL="285750" indent="-285750" algn="l">
              <a:buFont typeface="Arial" panose="020B0604020202020204" pitchFamily="34" charset="0"/>
              <a:buChar char="•"/>
            </a:pPr>
            <a:endParaRPr lang="en-US" dirty="0">
              <a:latin typeface="NimbusRomNo9L-Regu"/>
            </a:endParaRPr>
          </a:p>
          <a:p>
            <a:pPr marL="285750" indent="-285750" algn="l">
              <a:buFont typeface="Arial" panose="020B0604020202020204" pitchFamily="34" charset="0"/>
              <a:buChar char="•"/>
            </a:pPr>
            <a:r>
              <a:rPr lang="en-US" dirty="0">
                <a:latin typeface="NimbusRomNo9L-Regu"/>
              </a:rPr>
              <a:t>S</a:t>
            </a:r>
            <a:r>
              <a:rPr lang="en-US" sz="1800" b="0" i="0" u="none" strike="noStrike" baseline="0" dirty="0">
                <a:latin typeface="NimbusRomNo9L-Regu"/>
              </a:rPr>
              <a:t>election and composition of prompt examples can significantly influence model behavior, and biases like favoring frequent words may still affect few-shot results. Careful prompt engineering is critical to achieve optimal performance and mitigate </a:t>
            </a:r>
            <a:r>
              <a:rPr lang="en-IN" sz="1800" b="0" i="0" u="none" strike="noStrike" baseline="0" dirty="0">
                <a:latin typeface="NimbusRomNo9L-Regu"/>
              </a:rPr>
              <a:t>unintended model biases.</a:t>
            </a:r>
            <a:endParaRPr lang="en-IN" dirty="0"/>
          </a:p>
        </p:txBody>
      </p:sp>
    </p:spTree>
    <p:extLst>
      <p:ext uri="{BB962C8B-B14F-4D97-AF65-F5344CB8AC3E}">
        <p14:creationId xmlns:p14="http://schemas.microsoft.com/office/powerpoint/2010/main" val="7115485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8CBAD-1D2B-E12A-264C-8B736341A2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D8F4063-D884-FCB2-A7A2-11F422C65ABD}"/>
              </a:ext>
            </a:extLst>
          </p:cNvPr>
          <p:cNvSpPr txBox="1"/>
          <p:nvPr/>
        </p:nvSpPr>
        <p:spPr>
          <a:xfrm>
            <a:off x="2737049" y="170336"/>
            <a:ext cx="8189037" cy="707886"/>
          </a:xfrm>
          <a:prstGeom prst="rect">
            <a:avLst/>
          </a:prstGeom>
          <a:noFill/>
        </p:spPr>
        <p:txBody>
          <a:bodyPr wrap="none" rtlCol="0">
            <a:spAutoFit/>
          </a:bodyPr>
          <a:lstStyle/>
          <a:p>
            <a:r>
              <a:rPr lang="en-IN" sz="4000" b="1" dirty="0"/>
              <a:t>Best practices for Prompt Engineering</a:t>
            </a:r>
          </a:p>
        </p:txBody>
      </p:sp>
      <p:sp>
        <p:nvSpPr>
          <p:cNvPr id="2" name="TextBox 1">
            <a:extLst>
              <a:ext uri="{FF2B5EF4-FFF2-40B4-BE49-F238E27FC236}">
                <a16:creationId xmlns:a16="http://schemas.microsoft.com/office/drawing/2014/main" id="{C1ED17EC-C1A5-545C-3B3A-03A95D1BAECB}"/>
              </a:ext>
            </a:extLst>
          </p:cNvPr>
          <p:cNvSpPr txBox="1"/>
          <p:nvPr/>
        </p:nvSpPr>
        <p:spPr>
          <a:xfrm>
            <a:off x="474134" y="1086130"/>
            <a:ext cx="11243732" cy="4524315"/>
          </a:xfrm>
          <a:prstGeom prst="rect">
            <a:avLst/>
          </a:prstGeom>
          <a:noFill/>
        </p:spPr>
        <p:txBody>
          <a:bodyPr wrap="square" rtlCol="0">
            <a:spAutoFit/>
          </a:bodyPr>
          <a:lstStyle/>
          <a:p>
            <a:pPr marL="457200" indent="-457200">
              <a:buFont typeface="Arial" panose="020B0604020202020204" pitchFamily="34" charset="0"/>
              <a:buChar char="•"/>
            </a:pPr>
            <a:r>
              <a:rPr lang="en-US" sz="3200" dirty="0"/>
              <a:t>Start with zero-shot, then few-shot, neither of them worked, then fine-tune</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Reduce “fluffy” and imprecise descriptions</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Instead of just saying what not to do, say what to do instead</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p:txBody>
      </p:sp>
      <p:sp>
        <p:nvSpPr>
          <p:cNvPr id="9" name="TextBox 8">
            <a:extLst>
              <a:ext uri="{FF2B5EF4-FFF2-40B4-BE49-F238E27FC236}">
                <a16:creationId xmlns:a16="http://schemas.microsoft.com/office/drawing/2014/main" id="{1C1A2AA9-157F-5B11-06BF-4BB60C22DF9A}"/>
              </a:ext>
            </a:extLst>
          </p:cNvPr>
          <p:cNvSpPr txBox="1"/>
          <p:nvPr/>
        </p:nvSpPr>
        <p:spPr>
          <a:xfrm>
            <a:off x="124177" y="6318332"/>
            <a:ext cx="7732889" cy="369332"/>
          </a:xfrm>
          <a:prstGeom prst="rect">
            <a:avLst/>
          </a:prstGeom>
          <a:noFill/>
        </p:spPr>
        <p:txBody>
          <a:bodyPr wrap="square">
            <a:spAutoFit/>
          </a:bodyPr>
          <a:lstStyle/>
          <a:p>
            <a:r>
              <a:rPr lang="en-US" dirty="0">
                <a:hlinkClick r:id="rId2"/>
              </a:rPr>
              <a:t>Best practices for prompt engineering with the OpenAI API | OpenAI Help Center</a:t>
            </a:r>
            <a:endParaRPr lang="en-IN" dirty="0"/>
          </a:p>
        </p:txBody>
      </p:sp>
      <p:sp>
        <p:nvSpPr>
          <p:cNvPr id="3" name="Rectangle 1">
            <a:extLst>
              <a:ext uri="{FF2B5EF4-FFF2-40B4-BE49-F238E27FC236}">
                <a16:creationId xmlns:a16="http://schemas.microsoft.com/office/drawing/2014/main" id="{E7ECE548-D108-ACED-630A-D87D3F6F2CE4}"/>
              </a:ext>
            </a:extLst>
          </p:cNvPr>
          <p:cNvSpPr>
            <a:spLocks noChangeArrowheads="1"/>
          </p:cNvSpPr>
          <p:nvPr/>
        </p:nvSpPr>
        <p:spPr bwMode="auto">
          <a:xfrm>
            <a:off x="1422400" y="3179277"/>
            <a:ext cx="7620000" cy="689831"/>
          </a:xfrm>
          <a:prstGeom prst="rect">
            <a:avLst/>
          </a:prstGeom>
          <a:noFill/>
          <a:ln>
            <a:noFill/>
          </a:ln>
          <a:effec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333333"/>
                </a:solidFill>
                <a:effectLst/>
              </a:rPr>
              <a:t>Use a 3 to 5 sentence paragraph to describe this product.</a:t>
            </a:r>
            <a:r>
              <a:rPr kumimoji="0" lang="en-US" altLang="en-US" sz="2000" b="0" i="1" u="none" strike="noStrike" cap="none" normalizeH="0" baseline="0" dirty="0">
                <a:ln>
                  <a:noFill/>
                </a:ln>
                <a:solidFill>
                  <a:schemeClr val="tx1"/>
                </a:solidFill>
                <a:effectLst/>
              </a:rPr>
              <a:t> </a:t>
            </a:r>
            <a:endParaRPr kumimoji="0" lang="en-US" altLang="en-US" sz="5400" b="0" i="1" u="none" strike="noStrike" cap="none" normalizeH="0" baseline="0" dirty="0">
              <a:ln>
                <a:noFill/>
              </a:ln>
              <a:solidFill>
                <a:schemeClr val="tx1"/>
              </a:solidFill>
              <a:effectLst/>
            </a:endParaRPr>
          </a:p>
        </p:txBody>
      </p:sp>
      <p:sp>
        <p:nvSpPr>
          <p:cNvPr id="5" name="Rectangle 2">
            <a:extLst>
              <a:ext uri="{FF2B5EF4-FFF2-40B4-BE49-F238E27FC236}">
                <a16:creationId xmlns:a16="http://schemas.microsoft.com/office/drawing/2014/main" id="{837701B6-70A3-E4E1-69E6-60C25C8F6C94}"/>
              </a:ext>
            </a:extLst>
          </p:cNvPr>
          <p:cNvSpPr>
            <a:spLocks noChangeArrowheads="1"/>
          </p:cNvSpPr>
          <p:nvPr/>
        </p:nvSpPr>
        <p:spPr bwMode="auto">
          <a:xfrm>
            <a:off x="957912" y="4576995"/>
            <a:ext cx="10276176" cy="1797827"/>
          </a:xfrm>
          <a:prstGeom prst="rect">
            <a:avLst/>
          </a:prstGeom>
          <a:noFill/>
          <a:ln>
            <a:noFill/>
          </a:ln>
          <a:effec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333333"/>
                </a:solidFill>
                <a:effectLst/>
              </a:rPr>
              <a:t>The following is a conversation between an Agent and a Customer. The agent will attempt to diagnose the problem and suggest a solution, whilst refraining from asking any questions related to PII. Instead of asking for PII, such as username or password, refer the user to the help article www.samplewebsite.com/help/faq</a:t>
            </a:r>
            <a:endParaRPr kumimoji="0" lang="en-US" altLang="en-US" sz="5400" b="0" i="1"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574711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63A26-78E1-FDBB-5C67-13A5E7E8D0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274A5F-B388-623C-8927-D505BF8A66A5}"/>
              </a:ext>
            </a:extLst>
          </p:cNvPr>
          <p:cNvSpPr txBox="1"/>
          <p:nvPr/>
        </p:nvSpPr>
        <p:spPr>
          <a:xfrm>
            <a:off x="2737049" y="170336"/>
            <a:ext cx="8189037" cy="707886"/>
          </a:xfrm>
          <a:prstGeom prst="rect">
            <a:avLst/>
          </a:prstGeom>
          <a:noFill/>
        </p:spPr>
        <p:txBody>
          <a:bodyPr wrap="none" rtlCol="0">
            <a:spAutoFit/>
          </a:bodyPr>
          <a:lstStyle/>
          <a:p>
            <a:r>
              <a:rPr lang="en-IN" sz="4000" b="1" dirty="0"/>
              <a:t>Best practices for Prompt Engineering</a:t>
            </a:r>
          </a:p>
        </p:txBody>
      </p:sp>
      <p:sp>
        <p:nvSpPr>
          <p:cNvPr id="2" name="TextBox 1">
            <a:extLst>
              <a:ext uri="{FF2B5EF4-FFF2-40B4-BE49-F238E27FC236}">
                <a16:creationId xmlns:a16="http://schemas.microsoft.com/office/drawing/2014/main" id="{8C850B9F-86AA-ACC6-573D-3EA055BF9775}"/>
              </a:ext>
            </a:extLst>
          </p:cNvPr>
          <p:cNvSpPr txBox="1"/>
          <p:nvPr/>
        </p:nvSpPr>
        <p:spPr>
          <a:xfrm>
            <a:off x="474134" y="1086130"/>
            <a:ext cx="11243732"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t>Code Generation Specific - Use “leading words” to nudge the model toward a particular pattern</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p:txBody>
      </p:sp>
      <p:sp>
        <p:nvSpPr>
          <p:cNvPr id="9" name="TextBox 8">
            <a:extLst>
              <a:ext uri="{FF2B5EF4-FFF2-40B4-BE49-F238E27FC236}">
                <a16:creationId xmlns:a16="http://schemas.microsoft.com/office/drawing/2014/main" id="{9DFB4A2B-44A9-07AA-646B-C16C5317FAC6}"/>
              </a:ext>
            </a:extLst>
          </p:cNvPr>
          <p:cNvSpPr txBox="1"/>
          <p:nvPr/>
        </p:nvSpPr>
        <p:spPr>
          <a:xfrm>
            <a:off x="124177" y="6318332"/>
            <a:ext cx="7732889" cy="369332"/>
          </a:xfrm>
          <a:prstGeom prst="rect">
            <a:avLst/>
          </a:prstGeom>
          <a:noFill/>
        </p:spPr>
        <p:txBody>
          <a:bodyPr wrap="square">
            <a:spAutoFit/>
          </a:bodyPr>
          <a:lstStyle/>
          <a:p>
            <a:r>
              <a:rPr lang="en-US" dirty="0">
                <a:hlinkClick r:id="rId2"/>
              </a:rPr>
              <a:t>Best practices for prompt engineering with the OpenAI API | OpenAI Help Center</a:t>
            </a:r>
            <a:endParaRPr lang="en-IN" dirty="0"/>
          </a:p>
        </p:txBody>
      </p:sp>
      <p:sp>
        <p:nvSpPr>
          <p:cNvPr id="6" name="Rectangle 1">
            <a:extLst>
              <a:ext uri="{FF2B5EF4-FFF2-40B4-BE49-F238E27FC236}">
                <a16:creationId xmlns:a16="http://schemas.microsoft.com/office/drawing/2014/main" id="{9AFEB161-0215-E352-8395-8D2386E54714}"/>
              </a:ext>
            </a:extLst>
          </p:cNvPr>
          <p:cNvSpPr>
            <a:spLocks noChangeArrowheads="1"/>
          </p:cNvSpPr>
          <p:nvPr/>
        </p:nvSpPr>
        <p:spPr bwMode="auto">
          <a:xfrm>
            <a:off x="1207909" y="2445452"/>
            <a:ext cx="8568267" cy="2167159"/>
          </a:xfrm>
          <a:prstGeom prst="rect">
            <a:avLst/>
          </a:prstGeom>
          <a:noFill/>
          <a:ln>
            <a:noFill/>
          </a:ln>
          <a:effectLst/>
        </p:spPr>
        <p:txBody>
          <a:bodyPr vert="horz" wrap="square" lIns="0" tIns="158700" rIns="0" bIns="158700" numCol="1" anchor="ctr" anchorCtr="0" compatLnSpc="1">
            <a:prstTxWarp prst="textNoShape">
              <a:avLst/>
            </a:prstTxWarp>
            <a:spAutoFit/>
          </a:bodyPr>
          <a:lstStyle/>
          <a:p>
            <a:pPr defTabSz="914400" eaLnBrk="0" fontAlgn="base" hangingPunct="0">
              <a:spcBef>
                <a:spcPct val="0"/>
              </a:spcBef>
              <a:spcAft>
                <a:spcPct val="0"/>
              </a:spcAft>
            </a:pPr>
            <a:r>
              <a:rPr lang="en-US" altLang="en-US" sz="2400" i="1" dirty="0">
                <a:solidFill>
                  <a:srgbClr val="333333"/>
                </a:solidFill>
              </a:rPr>
              <a:t># Write a simple python function that</a:t>
            </a:r>
            <a:br>
              <a:rPr lang="en-US" altLang="en-US" sz="2400" i="1" dirty="0">
                <a:solidFill>
                  <a:srgbClr val="333333"/>
                </a:solidFill>
              </a:rPr>
            </a:br>
            <a:r>
              <a:rPr lang="en-US" altLang="en-US" sz="2400" i="1" dirty="0">
                <a:solidFill>
                  <a:srgbClr val="333333"/>
                </a:solidFill>
              </a:rPr>
              <a:t># 1. Ask me for a number in mile</a:t>
            </a:r>
            <a:br>
              <a:rPr lang="en-US" altLang="en-US" sz="2400" i="1" dirty="0">
                <a:solidFill>
                  <a:srgbClr val="333333"/>
                </a:solidFill>
              </a:rPr>
            </a:br>
            <a:r>
              <a:rPr lang="en-US" altLang="en-US" sz="2400" i="1" dirty="0">
                <a:solidFill>
                  <a:srgbClr val="333333"/>
                </a:solidFill>
              </a:rPr>
              <a:t># 2. It converts miles to kilometers</a:t>
            </a:r>
            <a:br>
              <a:rPr lang="en-US" altLang="en-US" sz="2400" i="1" dirty="0">
                <a:solidFill>
                  <a:srgbClr val="333333"/>
                </a:solidFill>
              </a:rPr>
            </a:br>
            <a:br>
              <a:rPr lang="en-US" altLang="en-US" sz="2400" i="1" dirty="0">
                <a:solidFill>
                  <a:srgbClr val="333333"/>
                </a:solidFill>
              </a:rPr>
            </a:br>
            <a:r>
              <a:rPr lang="en-US" altLang="en-US" sz="2400" i="1" dirty="0">
                <a:solidFill>
                  <a:srgbClr val="333333"/>
                </a:solidFill>
              </a:rPr>
              <a:t>import </a:t>
            </a:r>
          </a:p>
        </p:txBody>
      </p:sp>
    </p:spTree>
    <p:extLst>
      <p:ext uri="{BB962C8B-B14F-4D97-AF65-F5344CB8AC3E}">
        <p14:creationId xmlns:p14="http://schemas.microsoft.com/office/powerpoint/2010/main" val="5237172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30F69-F5BC-140F-12F9-70D5E798DA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5DF9CB-AC5A-1E4F-929A-48602B22A998}"/>
              </a:ext>
            </a:extLst>
          </p:cNvPr>
          <p:cNvSpPr txBox="1"/>
          <p:nvPr/>
        </p:nvSpPr>
        <p:spPr>
          <a:xfrm>
            <a:off x="2788355" y="221947"/>
            <a:ext cx="8373133" cy="646331"/>
          </a:xfrm>
          <a:prstGeom prst="rect">
            <a:avLst/>
          </a:prstGeom>
          <a:noFill/>
        </p:spPr>
        <p:txBody>
          <a:bodyPr wrap="square" rtlCol="0">
            <a:spAutoFit/>
          </a:bodyPr>
          <a:lstStyle/>
          <a:p>
            <a:r>
              <a:rPr lang="en-IN" sz="3600" b="1" dirty="0"/>
              <a:t>Prompts for Enhancing Model Outputs</a:t>
            </a:r>
          </a:p>
        </p:txBody>
      </p:sp>
      <p:sp>
        <p:nvSpPr>
          <p:cNvPr id="5" name="Rectangle 2">
            <a:extLst>
              <a:ext uri="{FF2B5EF4-FFF2-40B4-BE49-F238E27FC236}">
                <a16:creationId xmlns:a16="http://schemas.microsoft.com/office/drawing/2014/main" id="{106C2625-EEE6-DF5E-26B5-7350FA993E4A}"/>
              </a:ext>
            </a:extLst>
          </p:cNvPr>
          <p:cNvSpPr>
            <a:spLocks noChangeArrowheads="1"/>
          </p:cNvSpPr>
          <p:nvPr/>
        </p:nvSpPr>
        <p:spPr bwMode="auto">
          <a:xfrm>
            <a:off x="325377" y="1373074"/>
            <a:ext cx="10590979"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Understand the Basics</a:t>
            </a:r>
            <a:r>
              <a:rPr kumimoji="0" lang="en-US" altLang="en-US" sz="2400" b="0" i="0" u="none" strike="noStrike" cap="none" normalizeH="0" baseline="0" dirty="0">
                <a:ln>
                  <a:noFill/>
                </a:ln>
                <a:solidFill>
                  <a:schemeClr val="tx1"/>
                </a:solidFill>
                <a:effectLst/>
              </a:rPr>
              <a:t>: Text prompts are the primary way users interact with generative models. Think of it as asking the model, "What comes to your mind when I say &lt;prompt&gt;?“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Identify Prompt Components</a:t>
            </a:r>
            <a:r>
              <a:rPr kumimoji="0" lang="en-US" altLang="en-US" sz="2400" b="0" i="0" u="none" strike="noStrike" cap="none" normalizeH="0" baseline="0" dirty="0">
                <a:ln>
                  <a:noFill/>
                </a:ln>
                <a:solidFill>
                  <a:schemeClr val="tx1"/>
                </a:solidFill>
                <a:effectLst/>
              </a:rPr>
              <a:t>: Break down your prompt into components like instructions, primary content, examples, cues, and supporting content. This helps the model understand what you're looking for.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dirty="0"/>
          </a:p>
          <a:p>
            <a:pPr marL="342900" indent="-342900" defTabSz="914400" eaLnBrk="0" fontAlgn="base" hangingPunct="0">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rPr>
              <a:t>Use Constraints</a:t>
            </a:r>
            <a:r>
              <a:rPr kumimoji="0" lang="en-US" altLang="en-US" sz="2400" b="0" i="0" u="none" strike="noStrike" cap="none" normalizeH="0" baseline="0" dirty="0">
                <a:ln>
                  <a:noFill/>
                </a:ln>
                <a:solidFill>
                  <a:schemeClr val="tx1"/>
                </a:solidFill>
                <a:effectLst/>
              </a:rPr>
              <a:t>: Limit the scope of the model's output to avoid irrelevant or inaccurate responses. For instance, specify the length or format of the response.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1"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79B0F613-ADB5-30FD-A242-A7B9F3F7708E}"/>
              </a:ext>
            </a:extLst>
          </p:cNvPr>
          <p:cNvSpPr txBox="1"/>
          <p:nvPr/>
        </p:nvSpPr>
        <p:spPr>
          <a:xfrm>
            <a:off x="325377" y="6266721"/>
            <a:ext cx="6096000" cy="369332"/>
          </a:xfrm>
          <a:prstGeom prst="rect">
            <a:avLst/>
          </a:prstGeom>
          <a:noFill/>
        </p:spPr>
        <p:txBody>
          <a:bodyPr wrap="square">
            <a:spAutoFit/>
          </a:bodyPr>
          <a:lstStyle/>
          <a:p>
            <a:r>
              <a:rPr lang="en-US" dirty="0">
                <a:hlinkClick r:id="rId2"/>
              </a:rPr>
              <a:t>15 Tips to Become a Better Prompt Engineer with Generative AI</a:t>
            </a:r>
            <a:endParaRPr lang="en-IN" dirty="0"/>
          </a:p>
        </p:txBody>
      </p:sp>
    </p:spTree>
    <p:extLst>
      <p:ext uri="{BB962C8B-B14F-4D97-AF65-F5344CB8AC3E}">
        <p14:creationId xmlns:p14="http://schemas.microsoft.com/office/powerpoint/2010/main" val="1291955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D608E-0503-465D-0335-9DC3964217F7}"/>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4AC2D923-3631-D16C-E6FF-DDA56EC21C0E}"/>
              </a:ext>
            </a:extLst>
          </p:cNvPr>
          <p:cNvSpPr>
            <a:spLocks noChangeArrowheads="1"/>
          </p:cNvSpPr>
          <p:nvPr/>
        </p:nvSpPr>
        <p:spPr bwMode="auto">
          <a:xfrm>
            <a:off x="530578" y="1475629"/>
            <a:ext cx="1073573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Break Down Complex Tasks</a:t>
            </a:r>
            <a:r>
              <a:rPr kumimoji="0" lang="en-US" altLang="en-US" sz="2400" b="0" i="0" u="none" strike="noStrike" cap="none" normalizeH="0" baseline="0" dirty="0">
                <a:ln>
                  <a:noFill/>
                </a:ln>
                <a:solidFill>
                  <a:schemeClr val="tx1"/>
                </a:solidFill>
                <a:effectLst/>
              </a:rPr>
              <a:t>: Simplify complex tasks into a sequence of simpler prompts. This makes it easier for the model to generate accurate results.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Evaluate and Check</a:t>
            </a:r>
            <a:r>
              <a:rPr kumimoji="0" lang="en-US" altLang="en-US" sz="2400" b="0" i="0" u="none" strike="noStrike" cap="none" normalizeH="0" baseline="0" dirty="0">
                <a:ln>
                  <a:noFill/>
                </a:ln>
                <a:solidFill>
                  <a:schemeClr val="tx1"/>
                </a:solidFill>
                <a:effectLst/>
              </a:rPr>
              <a:t>: Instruct the model to evaluate its own responses before producing them. For example, "Make sure to limit your response to 3 sentences".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Be Creative</a:t>
            </a:r>
            <a:r>
              <a:rPr kumimoji="0" lang="en-US" altLang="en-US" sz="2400" b="0" i="0" u="none" strike="noStrike" cap="none" normalizeH="0" baseline="0" dirty="0">
                <a:ln>
                  <a:noFill/>
                </a:ln>
                <a:solidFill>
                  <a:schemeClr val="tx1"/>
                </a:solidFill>
                <a:effectLst/>
              </a:rPr>
              <a:t>: Experiment with different prompt structures and formats. Creativity can lead to better results.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Iterate and Refine</a:t>
            </a:r>
            <a:r>
              <a:rPr kumimoji="0" lang="en-US" altLang="en-US" sz="2400" b="0" i="0" u="none" strike="noStrike" cap="none" normalizeH="0" baseline="0" dirty="0">
                <a:ln>
                  <a:noFill/>
                </a:ln>
                <a:solidFill>
                  <a:schemeClr val="tx1"/>
                </a:solidFill>
                <a:effectLst/>
              </a:rPr>
              <a:t>: Continuously refine your prompts based on the model's output and your specific needs.</a:t>
            </a:r>
          </a:p>
        </p:txBody>
      </p:sp>
      <p:sp>
        <p:nvSpPr>
          <p:cNvPr id="2" name="TextBox 1">
            <a:extLst>
              <a:ext uri="{FF2B5EF4-FFF2-40B4-BE49-F238E27FC236}">
                <a16:creationId xmlns:a16="http://schemas.microsoft.com/office/drawing/2014/main" id="{A6350A3E-A46E-2270-EFFD-1A0B7F5CFD9F}"/>
              </a:ext>
            </a:extLst>
          </p:cNvPr>
          <p:cNvSpPr txBox="1"/>
          <p:nvPr/>
        </p:nvSpPr>
        <p:spPr>
          <a:xfrm>
            <a:off x="325377" y="6266721"/>
            <a:ext cx="6096000" cy="369332"/>
          </a:xfrm>
          <a:prstGeom prst="rect">
            <a:avLst/>
          </a:prstGeom>
          <a:noFill/>
        </p:spPr>
        <p:txBody>
          <a:bodyPr wrap="square">
            <a:spAutoFit/>
          </a:bodyPr>
          <a:lstStyle/>
          <a:p>
            <a:r>
              <a:rPr lang="en-US" dirty="0">
                <a:hlinkClick r:id="rId2"/>
              </a:rPr>
              <a:t>15 Tips to Become a Better Prompt Engineer with Generative AI</a:t>
            </a:r>
            <a:endParaRPr lang="en-IN" dirty="0"/>
          </a:p>
        </p:txBody>
      </p:sp>
      <p:sp>
        <p:nvSpPr>
          <p:cNvPr id="3" name="TextBox 2">
            <a:extLst>
              <a:ext uri="{FF2B5EF4-FFF2-40B4-BE49-F238E27FC236}">
                <a16:creationId xmlns:a16="http://schemas.microsoft.com/office/drawing/2014/main" id="{6F6D3762-D1E1-455C-C408-56B1271AD543}"/>
              </a:ext>
            </a:extLst>
          </p:cNvPr>
          <p:cNvSpPr txBox="1"/>
          <p:nvPr/>
        </p:nvSpPr>
        <p:spPr>
          <a:xfrm>
            <a:off x="2893178" y="221947"/>
            <a:ext cx="8373133" cy="646331"/>
          </a:xfrm>
          <a:prstGeom prst="rect">
            <a:avLst/>
          </a:prstGeom>
          <a:noFill/>
        </p:spPr>
        <p:txBody>
          <a:bodyPr wrap="square" rtlCol="0">
            <a:spAutoFit/>
          </a:bodyPr>
          <a:lstStyle/>
          <a:p>
            <a:r>
              <a:rPr lang="en-IN" sz="3600" b="1" dirty="0"/>
              <a:t>Prompts for Enhancing Model Outputs</a:t>
            </a:r>
          </a:p>
        </p:txBody>
      </p:sp>
    </p:spTree>
    <p:extLst>
      <p:ext uri="{BB962C8B-B14F-4D97-AF65-F5344CB8AC3E}">
        <p14:creationId xmlns:p14="http://schemas.microsoft.com/office/powerpoint/2010/main" val="2720599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7B42B-C9EF-A38D-65F5-7161053C413D}"/>
            </a:ext>
          </a:extLst>
        </p:cNvPr>
        <p:cNvGrpSpPr/>
        <p:nvPr/>
      </p:nvGrpSpPr>
      <p:grpSpPr>
        <a:xfrm>
          <a:off x="0" y="0"/>
          <a:ext cx="0" cy="0"/>
          <a:chOff x="0" y="0"/>
          <a:chExt cx="0" cy="0"/>
        </a:xfrm>
      </p:grpSpPr>
      <p:sp>
        <p:nvSpPr>
          <p:cNvPr id="4" name="Google Shape;95;p1">
            <a:extLst>
              <a:ext uri="{FF2B5EF4-FFF2-40B4-BE49-F238E27FC236}">
                <a16:creationId xmlns:a16="http://schemas.microsoft.com/office/drawing/2014/main" id="{DBEE059B-9356-01F7-7A4D-2A1D101E6B4D}"/>
              </a:ext>
            </a:extLst>
          </p:cNvPr>
          <p:cNvSpPr txBox="1"/>
          <p:nvPr/>
        </p:nvSpPr>
        <p:spPr>
          <a:xfrm>
            <a:off x="801510" y="1609212"/>
            <a:ext cx="10600267" cy="4555045"/>
          </a:xfrm>
          <a:prstGeom prst="rect">
            <a:avLst/>
          </a:prstGeom>
          <a:noFill/>
          <a:ln>
            <a:noFill/>
          </a:ln>
        </p:spPr>
        <p:txBody>
          <a:bodyPr spcFirstLastPara="1" wrap="square" lIns="109710" tIns="54840" rIns="109710" bIns="5484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200" b="1" i="0" u="none" strike="noStrike" baseline="0" dirty="0">
                <a:solidFill>
                  <a:srgbClr val="000000"/>
                </a:solidFill>
                <a:latin typeface="Cambria" panose="02040503050406030204" pitchFamily="18" charset="0"/>
              </a:rPr>
              <a:t>Module – III</a:t>
            </a:r>
          </a:p>
          <a:p>
            <a:r>
              <a:rPr lang="en-IN" sz="3200" b="0" i="0" u="none" strike="noStrike" baseline="0" dirty="0">
                <a:solidFill>
                  <a:srgbClr val="000000"/>
                </a:solidFill>
                <a:latin typeface="Cambria" panose="02040503050406030204" pitchFamily="18" charset="0"/>
              </a:rPr>
              <a:t>		</a:t>
            </a:r>
          </a:p>
          <a:p>
            <a:r>
              <a:rPr lang="en-US" sz="3200" b="0" i="0" u="none" strike="noStrike" baseline="0" dirty="0">
                <a:solidFill>
                  <a:srgbClr val="000000"/>
                </a:solidFill>
                <a:latin typeface="Cambria" panose="02040503050406030204" pitchFamily="18" charset="0"/>
              </a:rPr>
              <a:t>Generative AI Concepts: Encoder/decoder architectures as basis for Generative AI, the role of the latent space, Transformer architectures and Attention, </a:t>
            </a:r>
            <a:r>
              <a:rPr lang="en-US" sz="3200" b="0" i="0" u="none" strike="noStrike" baseline="0" dirty="0">
                <a:solidFill>
                  <a:srgbClr val="000000"/>
                </a:solidFill>
                <a:latin typeface="Times New Roman" panose="02020603050405020304" pitchFamily="18" charset="0"/>
              </a:rPr>
              <a:t>Conditional Generative Models, </a:t>
            </a:r>
            <a:r>
              <a:rPr lang="en-US" sz="3200" b="0" i="0" u="none" strike="noStrike" baseline="0" dirty="0">
                <a:solidFill>
                  <a:srgbClr val="000000"/>
                </a:solidFill>
                <a:latin typeface="Cambria" panose="02040503050406030204" pitchFamily="18" charset="0"/>
              </a:rPr>
              <a:t>Introduction to GPT and its significance, Architecture and working of GPT models. </a:t>
            </a:r>
            <a:r>
              <a:rPr lang="en-US" b="0" i="0" u="none" strike="noStrike" baseline="0" dirty="0">
                <a:solidFill>
                  <a:srgbClr val="000000"/>
                </a:solidFill>
                <a:latin typeface="Cambria" panose="02040503050406030204" pitchFamily="18" charset="0"/>
              </a:rPr>
              <a:t>	</a:t>
            </a:r>
          </a:p>
          <a:p>
            <a:endParaRPr sz="2160" dirty="0"/>
          </a:p>
          <a:p>
            <a:pPr marL="891540" lvl="1" indent="-266700">
              <a:buClr>
                <a:schemeClr val="dk1"/>
              </a:buClr>
              <a:buSzPts val="1000"/>
            </a:pPr>
            <a:endParaRPr sz="432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0061412"/>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4278</TotalTime>
  <Words>6443</Words>
  <Application>Microsoft Office PowerPoint</Application>
  <PresentationFormat>Widescreen</PresentationFormat>
  <Paragraphs>563</Paragraphs>
  <Slides>59</Slides>
  <Notes>0</Notes>
  <HiddenSlides>1</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59</vt:i4>
      </vt:variant>
    </vt:vector>
  </HeadingPairs>
  <TitlesOfParts>
    <vt:vector size="77" baseType="lpstr">
      <vt:lpstr>-apple-system</vt:lpstr>
      <vt:lpstr>Aptos</vt:lpstr>
      <vt:lpstr>Arial</vt:lpstr>
      <vt:lpstr>Calibri</vt:lpstr>
      <vt:lpstr>Calibri Light</vt:lpstr>
      <vt:lpstr>Cambria</vt:lpstr>
      <vt:lpstr>Courier New</vt:lpstr>
      <vt:lpstr>Inter Variablefont</vt:lpstr>
      <vt:lpstr>Lucida Grande</vt:lpstr>
      <vt:lpstr>NimbusRomNo9L-Medi</vt:lpstr>
      <vt:lpstr>NimbusRomNo9L-Regu</vt:lpstr>
      <vt:lpstr>NimbusRomNo9L-ReguItal</vt:lpstr>
      <vt:lpstr>Segoe UI</vt:lpstr>
      <vt:lpstr>Studio-Feixen-Sans</vt:lpstr>
      <vt:lpstr>Times New Roman</vt:lpstr>
      <vt:lpstr>var(--artdeco-reset-typography-font-family-sans)</vt:lpstr>
      <vt:lpstr>var(--artdeco-typography-mono)</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Prompts and Deployment</dc:title>
  <dc:creator>Natarajan Venkateswaran</dc:creator>
  <cp:lastModifiedBy>Natarajan Venkateswaran</cp:lastModifiedBy>
  <cp:revision>400</cp:revision>
  <dcterms:created xsi:type="dcterms:W3CDTF">2024-07-30T03:48:36Z</dcterms:created>
  <dcterms:modified xsi:type="dcterms:W3CDTF">2025-02-28T05:09:18Z</dcterms:modified>
</cp:coreProperties>
</file>